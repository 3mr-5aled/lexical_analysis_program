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Corbel"/>
      <p:regular r:id="rId51"/>
      <p:bold r:id="rId52"/>
      <p:italic r:id="rId53"/>
      <p:boldItalic r:id="rId54"/>
    </p:embeddedFont>
    <p:embeddedFont>
      <p:font typeface="Alfa Slab One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g4elIWXhlxayH1WhQcuNGHoVv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337241-D947-4361-AA9E-6868FA6C6805}">
  <a:tblStyle styleId="{52337241-D947-4361-AA9E-6868FA6C68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130C77A-F4E2-4504-8277-BB393E698C8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4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4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roximaNova-bold.fntdata"/><Relationship Id="rId47" Type="http://schemas.openxmlformats.org/officeDocument/2006/relationships/font" Target="fonts/ProximaNova-regular.fntdata"/><Relationship Id="rId49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orbel-regular.fntdata"/><Relationship Id="rId50" Type="http://schemas.openxmlformats.org/officeDocument/2006/relationships/font" Target="fonts/ProximaNova-boldItalic.fntdata"/><Relationship Id="rId53" Type="http://schemas.openxmlformats.org/officeDocument/2006/relationships/font" Target="fonts/Corbel-italic.fntdata"/><Relationship Id="rId52" Type="http://schemas.openxmlformats.org/officeDocument/2006/relationships/font" Target="fonts/Corbel-bold.fntdata"/><Relationship Id="rId11" Type="http://schemas.openxmlformats.org/officeDocument/2006/relationships/slide" Target="slides/slide5.xml"/><Relationship Id="rId55" Type="http://schemas.openxmlformats.org/officeDocument/2006/relationships/font" Target="fonts/AlfaSlabOne-regular.fntdata"/><Relationship Id="rId10" Type="http://schemas.openxmlformats.org/officeDocument/2006/relationships/slide" Target="slides/slide4.xml"/><Relationship Id="rId54" Type="http://schemas.openxmlformats.org/officeDocument/2006/relationships/font" Target="fonts/Corbel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Notes: In Thompson construction: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/>
              <a:t>You have one end state.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/>
              <a:t>You cannot move back to the start state but start state can have transition to any state.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Template can be found at: </a:t>
            </a:r>
            <a:r>
              <a:rPr b="1" lang="en-US" sz="3200"/>
              <a:t>shorturl.at/ilnvz</a:t>
            </a:r>
            <a:endParaRPr/>
          </a:p>
        </p:txBody>
      </p:sp>
      <p:sp>
        <p:nvSpPr>
          <p:cNvPr id="363" name="Google Shape;36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4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4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4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4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4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4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2" name="Google Shape;22;p44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" name="Google Shape;23;p4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6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6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4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/>
          <p:nvPr/>
        </p:nvSpPr>
        <p:spPr>
          <a:xfrm>
            <a:off x="-5132" y="1544259"/>
            <a:ext cx="9146751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1"/>
          <p:cNvSpPr txBox="1"/>
          <p:nvPr>
            <p:ph type="title"/>
          </p:nvPr>
        </p:nvSpPr>
        <p:spPr>
          <a:xfrm>
            <a:off x="624893" y="1656659"/>
            <a:ext cx="78867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" type="body"/>
          </p:nvPr>
        </p:nvSpPr>
        <p:spPr>
          <a:xfrm>
            <a:off x="624893" y="3007753"/>
            <a:ext cx="7886700" cy="8809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rgbClr val="91AEF7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1AEF7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91AEF7"/>
                </a:solidFill>
              </a:defRPr>
            </a:lvl9pPr>
          </a:lstStyle>
          <a:p/>
        </p:txBody>
      </p:sp>
      <p:sp>
        <p:nvSpPr>
          <p:cNvPr id="53" name="Google Shape;53;p5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5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iler Design [GTU] - Last Moment Tuitions" id="60" name="Google Shape;60;p1"/>
          <p:cNvPicPr preferRelativeResize="0"/>
          <p:nvPr/>
        </p:nvPicPr>
        <p:blipFill rotWithShape="1">
          <a:blip r:embed="rId3">
            <a:alphaModFix amt="12000"/>
          </a:blip>
          <a:srcRect b="31084" l="0" r="0" t="0"/>
          <a:stretch/>
        </p:blipFill>
        <p:spPr>
          <a:xfrm>
            <a:off x="-14560" y="-1"/>
            <a:ext cx="915856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Compilers Theory</a:t>
            </a:r>
            <a:endParaRPr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Lab 3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ct val="92593"/>
              <a:buNone/>
            </a:pPr>
            <a:r>
              <a:rPr lang="en-US" sz="3600"/>
              <a:t>Agenda</a:t>
            </a:r>
            <a:endParaRPr sz="2400"/>
          </a:p>
        </p:txBody>
      </p:sp>
      <p:sp>
        <p:nvSpPr>
          <p:cNvPr id="68" name="Google Shape;68;p2"/>
          <p:cNvSpPr txBox="1"/>
          <p:nvPr>
            <p:ph idx="1" type="body"/>
          </p:nvPr>
        </p:nvSpPr>
        <p:spPr>
          <a:xfrm>
            <a:off x="311700" y="1152474"/>
            <a:ext cx="8520600" cy="37916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Thompson’s Construction – Review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Examples of NFAs Thompson’s Construction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Compiler Operation: Lexical Analysis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JASON Programming Language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Rynix Programming Language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Hands-on (JASON Scanner)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Quiz: </a:t>
            </a:r>
            <a:b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</a:b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Next </a:t>
            </a:r>
            <a:r>
              <a:rPr lang="en-US">
                <a:latin typeface="Alfa Slab One"/>
                <a:ea typeface="Alfa Slab One"/>
                <a:cs typeface="Alfa Slab One"/>
                <a:sym typeface="Alfa Slab One"/>
              </a:rPr>
              <a:t>W</a:t>
            </a: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eek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Thompson's Construction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Thompson’s Construction - Review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85750" lvl="0" marL="40005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Thompson Construction converts a regular expression into an NFA.</a:t>
            </a:r>
            <a:endParaRPr/>
          </a:p>
          <a:p>
            <a:pPr indent="-133350" lvl="0" marL="40005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85750" lvl="0" marL="40005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It uses ε-transitions to connect smaller NFAs.</a:t>
            </a:r>
            <a:endParaRPr/>
          </a:p>
        </p:txBody>
      </p:sp>
      <p:pic>
        <p:nvPicPr>
          <p:cNvPr descr="Diagram  Description automatically generated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04" y="3285227"/>
            <a:ext cx="4550084" cy="1656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  Description automatically generated"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2378" y="3278232"/>
            <a:ext cx="3880218" cy="1656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  Description automatically generated" id="88" name="Google Shape;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2166" y="2014922"/>
            <a:ext cx="5719667" cy="1050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5439"/>
              <a:buNone/>
            </a:pPr>
            <a:r>
              <a:rPr lang="en-US"/>
              <a:t>Examples Of NFAs </a:t>
            </a:r>
            <a:br>
              <a:rPr lang="en-US"/>
            </a:br>
            <a:r>
              <a:rPr lang="en-US"/>
              <a:t>Thompson's Construction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524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b="1" i="1" lang="en-US">
                <a:solidFill>
                  <a:srgbClr val="606060"/>
                </a:solidFill>
              </a:rPr>
              <a:t> </a:t>
            </a:r>
            <a:r>
              <a:rPr b="1" i="1" lang="en-US" sz="2100">
                <a:solidFill>
                  <a:srgbClr val="606060"/>
                </a:solidFill>
              </a:rPr>
              <a:t>Convert the following regular expression to an NFA using Thompson’s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606060"/>
                </a:solidFill>
              </a:rPr>
              <a:t>RE= </a:t>
            </a:r>
            <a:r>
              <a:rPr b="1" i="1" lang="en-US" sz="2100">
                <a:solidFill>
                  <a:srgbClr val="FF0000"/>
                </a:solidFill>
              </a:rPr>
              <a:t>(ab|c)*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i="1" lang="en-US" sz="2400"/>
              <a:t>Solution</a:t>
            </a:r>
            <a:r>
              <a:rPr b="1" i="1" lang="en-US" sz="2400">
                <a:solidFill>
                  <a:srgbClr val="606060"/>
                </a:solidFill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i="1" lang="en-US" sz="2400"/>
              <a:t>Step 1: construct NFA for r1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FF0000"/>
                </a:solidFill>
              </a:rPr>
              <a:t>   ( a b | c)*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b="1" i="1" sz="1725">
              <a:solidFill>
                <a:srgbClr val="FF0000"/>
              </a:solidFill>
            </a:endParaRPr>
          </a:p>
        </p:txBody>
      </p:sp>
      <p:pic>
        <p:nvPicPr>
          <p:cNvPr descr="Icon  Description automatically generated"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5317" y="3411652"/>
            <a:ext cx="4536829" cy="1251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/>
          <p:nvPr/>
        </p:nvSpPr>
        <p:spPr>
          <a:xfrm rot="9028842">
            <a:off x="714604" y="3581630"/>
            <a:ext cx="281753" cy="22693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02" name="Google Shape;102;p7"/>
          <p:cNvCxnSpPr/>
          <p:nvPr/>
        </p:nvCxnSpPr>
        <p:spPr>
          <a:xfrm>
            <a:off x="919177" y="3537498"/>
            <a:ext cx="0" cy="2396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" name="Google Shape;103;p7"/>
          <p:cNvCxnSpPr/>
          <p:nvPr/>
        </p:nvCxnSpPr>
        <p:spPr>
          <a:xfrm>
            <a:off x="719187" y="3526947"/>
            <a:ext cx="0" cy="2396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" name="Google Shape;104;p7"/>
          <p:cNvSpPr txBox="1"/>
          <p:nvPr/>
        </p:nvSpPr>
        <p:spPr>
          <a:xfrm>
            <a:off x="676984" y="3823690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1" lang="en-US" sz="2400"/>
              <a:t>Step 2: construct NFA for r2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606060"/>
                </a:solidFill>
              </a:rPr>
              <a:t>   RE= </a:t>
            </a:r>
            <a:r>
              <a:rPr b="1" i="1" lang="en-US" sz="2100">
                <a:solidFill>
                  <a:srgbClr val="FF0000"/>
                </a:solidFill>
              </a:rPr>
              <a:t>( a b  | c )*</a:t>
            </a:r>
            <a:endParaRPr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1" sz="2100">
              <a:solidFill>
                <a:srgbClr val="FF0000"/>
              </a:solidFill>
            </a:endParaRPr>
          </a:p>
        </p:txBody>
      </p:sp>
      <p:pic>
        <p:nvPicPr>
          <p:cNvPr descr="A close up of a clock  Description automatically generated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618" y="2571750"/>
            <a:ext cx="5824963" cy="1922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8"/>
          <p:cNvCxnSpPr/>
          <p:nvPr/>
        </p:nvCxnSpPr>
        <p:spPr>
          <a:xfrm>
            <a:off x="1630190" y="1930701"/>
            <a:ext cx="0" cy="2396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8"/>
          <p:cNvCxnSpPr/>
          <p:nvPr/>
        </p:nvCxnSpPr>
        <p:spPr>
          <a:xfrm>
            <a:off x="1465619" y="1930701"/>
            <a:ext cx="0" cy="2198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8"/>
          <p:cNvSpPr/>
          <p:nvPr/>
        </p:nvSpPr>
        <p:spPr>
          <a:xfrm rot="9028842">
            <a:off x="1432055" y="1956809"/>
            <a:ext cx="281753" cy="22693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8"/>
          <p:cNvSpPr/>
          <p:nvPr/>
        </p:nvSpPr>
        <p:spPr>
          <a:xfrm rot="9028842">
            <a:off x="1219281" y="1955049"/>
            <a:ext cx="281753" cy="226933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6" name="Google Shape;116;p8"/>
          <p:cNvCxnSpPr/>
          <p:nvPr/>
        </p:nvCxnSpPr>
        <p:spPr>
          <a:xfrm>
            <a:off x="1234415" y="1930701"/>
            <a:ext cx="0" cy="2198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7" name="Google Shape;117;p8"/>
          <p:cNvCxnSpPr/>
          <p:nvPr/>
        </p:nvCxnSpPr>
        <p:spPr>
          <a:xfrm>
            <a:off x="1415537" y="1921471"/>
            <a:ext cx="0" cy="2396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8" name="Google Shape;118;p8"/>
          <p:cNvSpPr txBox="1"/>
          <p:nvPr/>
        </p:nvSpPr>
        <p:spPr>
          <a:xfrm>
            <a:off x="1181660" y="2197584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427002" y="2197584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 b="1" cap="none"/>
          </a:p>
        </p:txBody>
      </p:sp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1" lang="en-US" sz="2400"/>
              <a:t>Step 3: construct NFA for r3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i="1" lang="en-US" sz="2400">
                <a:solidFill>
                  <a:srgbClr val="606060"/>
                </a:solidFill>
              </a:rPr>
              <a:t>    RE= </a:t>
            </a:r>
            <a:r>
              <a:rPr b="1" i="1" lang="en-US" sz="2400">
                <a:solidFill>
                  <a:srgbClr val="FF0000"/>
                </a:solidFill>
              </a:rPr>
              <a:t>( ab | c )*</a:t>
            </a:r>
            <a:endParaRPr/>
          </a:p>
          <a:p>
            <a:pPr indent="-3809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100"/>
          </a:p>
        </p:txBody>
      </p:sp>
      <p:cxnSp>
        <p:nvCxnSpPr>
          <p:cNvPr id="126" name="Google Shape;126;p9"/>
          <p:cNvCxnSpPr/>
          <p:nvPr/>
        </p:nvCxnSpPr>
        <p:spPr>
          <a:xfrm>
            <a:off x="1487659" y="2226215"/>
            <a:ext cx="281357" cy="0"/>
          </a:xfrm>
          <a:prstGeom prst="straightConnector1">
            <a:avLst/>
          </a:prstGeom>
          <a:noFill/>
          <a:ln cap="flat" cmpd="sng" w="25400">
            <a:solidFill>
              <a:srgbClr val="044D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</p:cxnSp>
      <p:cxnSp>
        <p:nvCxnSpPr>
          <p:cNvPr id="127" name="Google Shape;127;p9"/>
          <p:cNvCxnSpPr/>
          <p:nvPr/>
        </p:nvCxnSpPr>
        <p:spPr>
          <a:xfrm>
            <a:off x="1485902" y="1930795"/>
            <a:ext cx="0" cy="283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9"/>
          <p:cNvCxnSpPr/>
          <p:nvPr/>
        </p:nvCxnSpPr>
        <p:spPr>
          <a:xfrm>
            <a:off x="1769016" y="1930795"/>
            <a:ext cx="0" cy="2813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 txBox="1"/>
          <p:nvPr/>
        </p:nvSpPr>
        <p:spPr>
          <a:xfrm>
            <a:off x="1489405" y="2198776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r3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4604" y="2917285"/>
            <a:ext cx="6446846" cy="126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778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100"/>
              <a:t>Step 4: construct NFA for r4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606060"/>
                </a:solidFill>
              </a:rPr>
              <a:t>    RE= </a:t>
            </a:r>
            <a:r>
              <a:rPr b="1" i="1" lang="en-US" sz="2100">
                <a:solidFill>
                  <a:srgbClr val="FF0000"/>
                </a:solidFill>
              </a:rPr>
              <a:t>( ab | c )*</a:t>
            </a:r>
            <a:endParaRPr/>
          </a:p>
        </p:txBody>
      </p:sp>
      <p:pic>
        <p:nvPicPr>
          <p:cNvPr descr="A close up of a clock  Description automatically generated"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-58" t="58908"/>
          <a:stretch/>
        </p:blipFill>
        <p:spPr>
          <a:xfrm>
            <a:off x="1645922" y="3836194"/>
            <a:ext cx="5510799" cy="882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0"/>
          <p:cNvCxnSpPr/>
          <p:nvPr/>
        </p:nvCxnSpPr>
        <p:spPr>
          <a:xfrm>
            <a:off x="1413806" y="2184010"/>
            <a:ext cx="23211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</p:cxnSp>
      <p:cxnSp>
        <p:nvCxnSpPr>
          <p:cNvPr id="139" name="Google Shape;139;p10"/>
          <p:cNvCxnSpPr/>
          <p:nvPr/>
        </p:nvCxnSpPr>
        <p:spPr>
          <a:xfrm>
            <a:off x="1380395" y="1953651"/>
            <a:ext cx="0" cy="2198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p10"/>
          <p:cNvCxnSpPr/>
          <p:nvPr/>
        </p:nvCxnSpPr>
        <p:spPr>
          <a:xfrm>
            <a:off x="1827044" y="2184010"/>
            <a:ext cx="180686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</p:cxnSp>
      <p:cxnSp>
        <p:nvCxnSpPr>
          <p:cNvPr id="141" name="Google Shape;141;p10"/>
          <p:cNvCxnSpPr/>
          <p:nvPr/>
        </p:nvCxnSpPr>
        <p:spPr>
          <a:xfrm flipH="1">
            <a:off x="1976077" y="1915846"/>
            <a:ext cx="10550" cy="2373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10"/>
          <p:cNvCxnSpPr/>
          <p:nvPr/>
        </p:nvCxnSpPr>
        <p:spPr>
          <a:xfrm>
            <a:off x="1645922" y="1957169"/>
            <a:ext cx="0" cy="23739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10"/>
          <p:cNvCxnSpPr/>
          <p:nvPr/>
        </p:nvCxnSpPr>
        <p:spPr>
          <a:xfrm>
            <a:off x="1827044" y="191584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4" name="Google Shape;144;p10"/>
          <p:cNvSpPr txBox="1"/>
          <p:nvPr/>
        </p:nvSpPr>
        <p:spPr>
          <a:xfrm>
            <a:off x="1394449" y="2135470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r3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1762849" y="2135470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r4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2" y="2640333"/>
            <a:ext cx="5510799" cy="1180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100"/>
              <a:t>Step 5: construct NFA for r5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606060"/>
                </a:solidFill>
              </a:rPr>
              <a:t>      RE= </a:t>
            </a:r>
            <a:r>
              <a:rPr b="1" i="1" lang="en-US" sz="2100">
                <a:solidFill>
                  <a:srgbClr val="FF0000"/>
                </a:solidFill>
              </a:rPr>
              <a:t>(  ab|c  )*</a:t>
            </a:r>
            <a:endParaRPr/>
          </a:p>
        </p:txBody>
      </p:sp>
      <p:cxnSp>
        <p:nvCxnSpPr>
          <p:cNvPr id="153" name="Google Shape;153;p11"/>
          <p:cNvCxnSpPr/>
          <p:nvPr/>
        </p:nvCxnSpPr>
        <p:spPr>
          <a:xfrm>
            <a:off x="1501274" y="1918484"/>
            <a:ext cx="0" cy="27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" name="Google Shape;154;p11"/>
          <p:cNvCxnSpPr/>
          <p:nvPr/>
        </p:nvCxnSpPr>
        <p:spPr>
          <a:xfrm>
            <a:off x="2111477" y="1902658"/>
            <a:ext cx="0" cy="3024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p11"/>
          <p:cNvCxnSpPr/>
          <p:nvPr/>
        </p:nvCxnSpPr>
        <p:spPr>
          <a:xfrm>
            <a:off x="1501275" y="2226212"/>
            <a:ext cx="61020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</p:cxnSp>
      <p:sp>
        <p:nvSpPr>
          <p:cNvPr id="156" name="Google Shape;156;p11"/>
          <p:cNvSpPr txBox="1"/>
          <p:nvPr/>
        </p:nvSpPr>
        <p:spPr>
          <a:xfrm>
            <a:off x="1627879" y="2177554"/>
            <a:ext cx="356993" cy="3346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r5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190" y="2694844"/>
            <a:ext cx="6748766" cy="210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63" name="Google Shape;16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100"/>
              <a:t>Step 6: construct NFA for r5*.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i="1" lang="en-US" sz="2400">
                <a:solidFill>
                  <a:srgbClr val="606060"/>
                </a:solidFill>
              </a:rPr>
              <a:t>     RE=  </a:t>
            </a:r>
            <a:r>
              <a:rPr b="1" i="1" lang="en-US" sz="2400">
                <a:solidFill>
                  <a:srgbClr val="FF0000"/>
                </a:solidFill>
              </a:rPr>
              <a:t>(ab|c)*</a:t>
            </a:r>
            <a:endParaRPr/>
          </a:p>
        </p:txBody>
      </p:sp>
      <p:cxnSp>
        <p:nvCxnSpPr>
          <p:cNvPr id="164" name="Google Shape;164;p12"/>
          <p:cNvCxnSpPr/>
          <p:nvPr/>
        </p:nvCxnSpPr>
        <p:spPr>
          <a:xfrm>
            <a:off x="1383471" y="1878088"/>
            <a:ext cx="0" cy="3024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5" name="Google Shape;165;p12"/>
          <p:cNvCxnSpPr/>
          <p:nvPr/>
        </p:nvCxnSpPr>
        <p:spPr>
          <a:xfrm>
            <a:off x="2236325" y="1903102"/>
            <a:ext cx="0" cy="3024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6" name="Google Shape;166;p12"/>
          <p:cNvCxnSpPr/>
          <p:nvPr/>
        </p:nvCxnSpPr>
        <p:spPr>
          <a:xfrm>
            <a:off x="1383471" y="2215662"/>
            <a:ext cx="852854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5875">
              <a:srgbClr val="000000">
                <a:alpha val="67451"/>
              </a:srgbClr>
            </a:outerShdw>
          </a:effectLst>
        </p:spPr>
      </p:cxnSp>
      <p:sp>
        <p:nvSpPr>
          <p:cNvPr id="167" name="Google Shape;167;p12"/>
          <p:cNvSpPr txBox="1"/>
          <p:nvPr/>
        </p:nvSpPr>
        <p:spPr>
          <a:xfrm>
            <a:off x="1578647" y="2250785"/>
            <a:ext cx="552170" cy="3231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060"/>
                </a:solidFill>
                <a:latin typeface="Corbel"/>
                <a:ea typeface="Corbel"/>
                <a:cs typeface="Corbel"/>
                <a:sym typeface="Corbel"/>
              </a:rPr>
              <a:t>R5*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watch  Description automatically generated"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9193" y="1789514"/>
            <a:ext cx="6724808" cy="334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778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b="1" i="1" lang="en-US" sz="2100">
                <a:solidFill>
                  <a:srgbClr val="606060"/>
                </a:solidFill>
              </a:rPr>
              <a:t>Convert the following regular expression to an NFA using Thompson’s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606060"/>
                </a:solidFill>
              </a:rPr>
              <a:t>RE= </a:t>
            </a:r>
            <a:r>
              <a:rPr b="1" i="1" lang="en-US" sz="2100">
                <a:solidFill>
                  <a:srgbClr val="FF0000"/>
                </a:solidFill>
              </a:rPr>
              <a:t>(a|b)*a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 sz="2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i="1" lang="en-US" sz="2100"/>
              <a:t>Solution: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rPr b="1" i="1" lang="en-US" sz="2400">
                <a:solidFill>
                  <a:srgbClr val="044D6E"/>
                </a:solidFill>
              </a:rPr>
              <a:t>            N(r1)                                    N(r2)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i="1" sz="2400">
              <a:solidFill>
                <a:srgbClr val="044D6E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 sz="2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 sz="2100">
              <a:solidFill>
                <a:srgbClr val="FF0000"/>
              </a:solidFill>
            </a:endParaRPr>
          </a:p>
          <a:p>
            <a:pPr indent="0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i="1" sz="2400">
              <a:solidFill>
                <a:srgbClr val="FF0000"/>
              </a:solidFill>
            </a:endParaRPr>
          </a:p>
        </p:txBody>
      </p:sp>
      <p:graphicFrame>
        <p:nvGraphicFramePr>
          <p:cNvPr id="175" name="Google Shape;175;p13"/>
          <p:cNvGraphicFramePr/>
          <p:nvPr/>
        </p:nvGraphicFramePr>
        <p:xfrm>
          <a:off x="6637319" y="1926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{52337241-D947-4361-AA9E-6868FA6C6805}</a:tableStyleId>
              </a:tblPr>
              <a:tblGrid>
                <a:gridCol w="893450"/>
                <a:gridCol w="892700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r1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4D6E"/>
                        </a:buClr>
                        <a:buSzPts val="2400"/>
                        <a:buFont typeface="Corbe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 a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r2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b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r4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(a|b)*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r5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r6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(a|b)*a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pic>
        <p:nvPicPr>
          <p:cNvPr descr="A drawing of a cartoon character  Description automatically generated"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93" y="3920626"/>
            <a:ext cx="2523817" cy="1083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  Description automatically generated" id="177" name="Google Shape;1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704" y="3889654"/>
            <a:ext cx="2409038" cy="108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044D6E"/>
                </a:solidFill>
              </a:rPr>
              <a:t> Step 3: N(r3)= N((a|b))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 sz="2100">
              <a:solidFill>
                <a:srgbClr val="FF0000"/>
              </a:solidFill>
            </a:endParaRPr>
          </a:p>
        </p:txBody>
      </p:sp>
      <p:pic>
        <p:nvPicPr>
          <p:cNvPr descr="A close up of a clock  Description automatically generated"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05" y="2156181"/>
            <a:ext cx="5302587" cy="23858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14"/>
          <p:cNvGraphicFramePr/>
          <p:nvPr/>
        </p:nvGraphicFramePr>
        <p:xfrm>
          <a:off x="6637319" y="1926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{52337241-D947-4361-AA9E-6868FA6C6805}</a:tableStyleId>
              </a:tblPr>
              <a:tblGrid>
                <a:gridCol w="893450"/>
                <a:gridCol w="892700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r1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44D6E"/>
                        </a:buClr>
                        <a:buSzPts val="2400"/>
                        <a:buFont typeface="Corbe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 a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r2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b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r4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(a|b)*</a:t>
                      </a:r>
                      <a:endParaRPr b="1" i="1" sz="1800" u="none" cap="none" strike="noStrike">
                        <a:solidFill>
                          <a:srgbClr val="044D6E"/>
                        </a:solidFill>
                      </a:endParaRPr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r5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41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r6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044D6E"/>
                          </a:solidFill>
                        </a:rPr>
                        <a:t>(a|b)*a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044D6E"/>
                </a:solidFill>
              </a:rPr>
              <a:t> Step 4: N(r4)= N((a|b)*)</a:t>
            </a:r>
            <a:endParaRPr/>
          </a:p>
        </p:txBody>
      </p:sp>
      <p:pic>
        <p:nvPicPr>
          <p:cNvPr descr="Diagram  Description automatically generated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" y="1806282"/>
            <a:ext cx="6323812" cy="247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839" y="1648416"/>
            <a:ext cx="1810669" cy="276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044D6E"/>
                </a:solidFill>
              </a:rPr>
              <a:t>Step 5: N(r5)= N(a)</a:t>
            </a:r>
            <a:endParaRPr/>
          </a:p>
          <a:p>
            <a:pPr indent="-3809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/>
          </a:p>
        </p:txBody>
      </p:sp>
      <p:pic>
        <p:nvPicPr>
          <p:cNvPr descr="A picture containing drawing, clock  Description automatically generated" id="200" name="Google Shape;2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10" y="2371093"/>
            <a:ext cx="3669811" cy="13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155" y="1513504"/>
            <a:ext cx="1810669" cy="276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In-class Exercise (Cont.)</a:t>
            </a:r>
            <a:endParaRPr/>
          </a:p>
        </p:txBody>
      </p:sp>
      <p:sp>
        <p:nvSpPr>
          <p:cNvPr id="207" name="Google Shape;20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-US" sz="2100">
                <a:solidFill>
                  <a:srgbClr val="044D6E"/>
                </a:solidFill>
              </a:rPr>
              <a:t> Step 6: N(r6)= N(r4r5)= N((a|b)*a)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 sz="2100">
              <a:solidFill>
                <a:srgbClr val="044D6E"/>
              </a:solidFill>
            </a:endParaRPr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4516" y="1344702"/>
            <a:ext cx="1585637" cy="2362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  Description automatically generated"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763" y="1965298"/>
            <a:ext cx="6200818" cy="296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/>
          <p:nvPr/>
        </p:nvSpPr>
        <p:spPr>
          <a:xfrm>
            <a:off x="5986523" y="3075384"/>
            <a:ext cx="396479" cy="41791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8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1409" y="2936082"/>
            <a:ext cx="264378" cy="28841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/>
          <p:nvPr/>
        </p:nvSpPr>
        <p:spPr>
          <a:xfrm>
            <a:off x="6434732" y="1988302"/>
            <a:ext cx="1073205" cy="29420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13" name="Google Shape;213;p17"/>
          <p:cNvCxnSpPr>
            <a:endCxn id="214" idx="2"/>
          </p:cNvCxnSpPr>
          <p:nvPr/>
        </p:nvCxnSpPr>
        <p:spPr>
          <a:xfrm>
            <a:off x="6383034" y="3284339"/>
            <a:ext cx="56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7"/>
          <p:cNvSpPr/>
          <p:nvPr/>
        </p:nvSpPr>
        <p:spPr>
          <a:xfrm>
            <a:off x="6949134" y="3075384"/>
            <a:ext cx="466078" cy="41791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996366" y="3094216"/>
            <a:ext cx="371614" cy="389825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7259" y="2928941"/>
            <a:ext cx="217885" cy="23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</a:pPr>
            <a:r>
              <a:rPr lang="en-US" sz="3600" cap="none"/>
              <a:t>Self-Study Exercise</a:t>
            </a:r>
            <a:endParaRPr sz="3600"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542926" y="1428750"/>
            <a:ext cx="7697324" cy="35752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100"/>
              <a:t>Using Thompson construction, create the NFA of the following regular expressions. </a:t>
            </a:r>
            <a:endParaRPr/>
          </a:p>
          <a:p>
            <a:pPr indent="0" lvl="1" marL="1714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400"/>
              <a:buNone/>
            </a:pPr>
            <a:r>
              <a:rPr b="1" lang="en-US" sz="2550"/>
              <a:t>RE = a*b(a|b)*   </a:t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700"/>
          </a:p>
        </p:txBody>
      </p:sp>
      <p:pic>
        <p:nvPicPr>
          <p:cNvPr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1031" y="340242"/>
            <a:ext cx="5890437" cy="4803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Compiler Operation: Lexical Analysis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48148"/>
              <a:buNone/>
            </a:pPr>
            <a:r>
              <a:rPr lang="en-US"/>
              <a:t>COMPILER OPERATION: LEXICAL ANALYSIS</a:t>
            </a:r>
            <a:endParaRPr/>
          </a:p>
        </p:txBody>
      </p:sp>
      <p:sp>
        <p:nvSpPr>
          <p:cNvPr id="234" name="Google Shape;234;p20"/>
          <p:cNvSpPr txBox="1"/>
          <p:nvPr>
            <p:ph idx="1" type="body"/>
          </p:nvPr>
        </p:nvSpPr>
        <p:spPr>
          <a:xfrm>
            <a:off x="311700" y="1152475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In the Lexical Analysis Phase, the compiler reads the actual source program and collects sequences of characters into meaningful units called tokens.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>
                <a:latin typeface="Proxima Nova"/>
                <a:ea typeface="Proxima Nova"/>
                <a:cs typeface="Proxima Nova"/>
                <a:sym typeface="Proxima Nova"/>
              </a:rPr>
              <a:t>Basic Steps for building a scanner:</a:t>
            </a:r>
            <a:endParaRPr/>
          </a:p>
          <a:p>
            <a:pPr indent="-342900" lvl="1" marL="51435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Write down the RE for the input language</a:t>
            </a:r>
            <a:endParaRPr/>
          </a:p>
          <a:p>
            <a:pPr indent="-342900" lvl="1" marL="5143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Build an NFA for it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1" marL="5143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Build the DFA that simulates the same NFA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1" marL="5143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(Optional) Minimize the DFA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1" marL="5143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1800">
                <a:latin typeface="Proxima Nova"/>
                <a:ea typeface="Proxima Nova"/>
                <a:cs typeface="Proxima Nova"/>
                <a:sym typeface="Proxima Nova"/>
              </a:rPr>
              <a:t>Turn the DFA into code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35" name="Google Shape;235;p20"/>
          <p:cNvGrpSpPr/>
          <p:nvPr/>
        </p:nvGrpSpPr>
        <p:grpSpPr>
          <a:xfrm>
            <a:off x="2276036" y="1933084"/>
            <a:ext cx="4591929" cy="788231"/>
            <a:chOff x="0" y="0"/>
            <a:chExt cx="4693920" cy="716280"/>
          </a:xfrm>
        </p:grpSpPr>
        <p:sp>
          <p:nvSpPr>
            <p:cNvPr id="236" name="Google Shape;236;p20"/>
            <p:cNvSpPr/>
            <p:nvPr/>
          </p:nvSpPr>
          <p:spPr>
            <a:xfrm>
              <a:off x="1501140" y="114300"/>
              <a:ext cx="1463040" cy="4953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BA8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Scanner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0" y="0"/>
              <a:ext cx="914400" cy="7010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2C2C2C"/>
                  </a:solidFill>
                  <a:latin typeface="Corbel"/>
                  <a:ea typeface="Corbel"/>
                  <a:cs typeface="Corbel"/>
                  <a:sym typeface="Corbel"/>
                </a:rPr>
                <a:t>Source Code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" name="Google Shape;238;p20"/>
            <p:cNvCxnSpPr/>
            <p:nvPr/>
          </p:nvCxnSpPr>
          <p:spPr>
            <a:xfrm>
              <a:off x="891540" y="350520"/>
              <a:ext cx="59436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2971800" y="342900"/>
              <a:ext cx="617220" cy="1524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0" name="Google Shape;240;p20"/>
            <p:cNvSpPr/>
            <p:nvPr/>
          </p:nvSpPr>
          <p:spPr>
            <a:xfrm>
              <a:off x="3581400" y="15240"/>
              <a:ext cx="1112520" cy="70104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2C2C2C"/>
                  </a:solidFill>
                  <a:latin typeface="Corbel"/>
                  <a:ea typeface="Corbel"/>
                  <a:cs typeface="Corbel"/>
                  <a:sym typeface="Corbel"/>
                </a:rPr>
                <a:t>Stream of Tokens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JASON Programming Language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/>
              <a:t>JASON Programming Language</a:t>
            </a:r>
            <a:endParaRPr/>
          </a:p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JASON stands for </a:t>
            </a:r>
            <a:r>
              <a:rPr b="1" lang="en-US"/>
              <a:t>Just Another Simple Original Notion</a:t>
            </a:r>
            <a:r>
              <a:rPr lang="en-US"/>
              <a:t>.</a:t>
            </a:r>
            <a:endParaRPr/>
          </a:p>
          <a:p>
            <a:pPr indent="-1460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A limited purpose programming language designed to illustrate the principles of building compilers.</a:t>
            </a:r>
            <a:endParaRPr/>
          </a:p>
          <a:p>
            <a:pPr indent="-1460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u="sng"/>
          </a:p>
          <a:p>
            <a:pPr indent="-285750" lvl="0" marL="2857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b="1" lang="en-US" u="sng"/>
              <a:t>The basic syntax for a JASON program</a:t>
            </a:r>
            <a:endParaRPr/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856072" y="2226246"/>
            <a:ext cx="3554281" cy="2728525"/>
          </a:xfrm>
          <a:prstGeom prst="rect">
            <a:avLst/>
          </a:prstGeom>
          <a:solidFill>
            <a:srgbClr val="FFEDD8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PROGRAM programName;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Procedures, if any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DECLARE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DATATYPE IdList</a:t>
            </a:r>
            <a:endParaRPr b="0" i="0" sz="200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….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BEGIN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Statement(s)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END.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/>
              <a:t>JASON Programming Language cont.</a:t>
            </a:r>
            <a:endParaRPr/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000"/>
              <a:t>Procedures have the following syntax:</a:t>
            </a:r>
            <a:endParaRPr sz="2000"/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</p:txBody>
      </p:sp>
      <p:sp>
        <p:nvSpPr>
          <p:cNvPr id="260" name="Google Shape;260;p23"/>
          <p:cNvSpPr txBox="1"/>
          <p:nvPr/>
        </p:nvSpPr>
        <p:spPr>
          <a:xfrm>
            <a:off x="2691374" y="1557387"/>
            <a:ext cx="3429000" cy="3330927"/>
          </a:xfrm>
          <a:prstGeom prst="rect">
            <a:avLst/>
          </a:prstGeom>
          <a:solidFill>
            <a:srgbClr val="FFEDD8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PROCEDURE ProcName;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PARAMETERS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DataType Identifer;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…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Procedures, if any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DECLARE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Datatype IDList;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…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BEGIN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Statement(s)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END;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/>
              <a:t>JASON Programming Language </a:t>
            </a:r>
            <a:r>
              <a:rPr lang="en-US"/>
              <a:t>cont.</a:t>
            </a:r>
            <a:endParaRPr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100"/>
              <a:t>Language is </a:t>
            </a:r>
            <a:r>
              <a:rPr b="1" lang="en-US" sz="2100">
                <a:solidFill>
                  <a:schemeClr val="accent3"/>
                </a:solidFill>
              </a:rPr>
              <a:t>case-insensitive</a:t>
            </a:r>
            <a:endParaRPr b="1" sz="2100">
              <a:solidFill>
                <a:schemeClr val="accent3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 sz="2100"/>
              <a:t>All Keywords are reserved (Shown in </a:t>
            </a:r>
            <a:r>
              <a:rPr b="1" lang="en-US" sz="2100">
                <a:solidFill>
                  <a:schemeClr val="accent3"/>
                </a:solidFill>
              </a:rPr>
              <a:t>upper case </a:t>
            </a:r>
            <a:r>
              <a:rPr lang="en-US" sz="2100"/>
              <a:t>for emphasis)</a:t>
            </a:r>
            <a:endParaRPr sz="2100"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b="1" lang="en-US" sz="2100">
                <a:solidFill>
                  <a:schemeClr val="accent3"/>
                </a:solidFill>
              </a:rPr>
              <a:t>Parenthesis</a:t>
            </a:r>
            <a:r>
              <a:rPr lang="en-US" sz="2100"/>
              <a:t> are not used in a </a:t>
            </a:r>
            <a:r>
              <a:rPr b="1" lang="en-US" sz="2100">
                <a:solidFill>
                  <a:schemeClr val="accent3"/>
                </a:solidFill>
              </a:rPr>
              <a:t>CALL</a:t>
            </a:r>
            <a:r>
              <a:rPr lang="en-US" sz="2100"/>
              <a:t> statement if no parameters are being passed.</a:t>
            </a:r>
            <a:endParaRPr sz="2100"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 sz="2100"/>
              <a:t>JASON has 4 arithmetic operators (</a:t>
            </a:r>
            <a:r>
              <a:rPr b="1" lang="en-US" sz="2100">
                <a:solidFill>
                  <a:schemeClr val="accent3"/>
                </a:solidFill>
              </a:rPr>
              <a:t>+,-,* and /</a:t>
            </a:r>
            <a:r>
              <a:rPr lang="en-US" sz="2100"/>
              <a:t>) and 4 relational operators (</a:t>
            </a:r>
            <a:r>
              <a:rPr b="1" lang="en-US" sz="2100">
                <a:solidFill>
                  <a:schemeClr val="accent3"/>
                </a:solidFill>
              </a:rPr>
              <a:t>=,&gt;,&lt;,!</a:t>
            </a:r>
            <a:r>
              <a:rPr lang="en-US" sz="2100"/>
              <a:t>). The (!) is used to denote “is not equal to”</a:t>
            </a:r>
            <a:endParaRPr sz="2100"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 sz="2100"/>
              <a:t>The entire operator set consists of one-character operators</a:t>
            </a:r>
            <a:endParaRPr sz="2100"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lang="en-US" sz="2100"/>
              <a:t>Comments are enclosed in braces </a:t>
            </a:r>
            <a:r>
              <a:rPr b="1" lang="en-US" sz="2100">
                <a:solidFill>
                  <a:schemeClr val="accent3"/>
                </a:solidFill>
              </a:rPr>
              <a:t>{ }</a:t>
            </a:r>
            <a:endParaRPr b="1" sz="21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/>
              <a:t>JASON Programming Language </a:t>
            </a:r>
            <a:r>
              <a:rPr lang="en-US"/>
              <a:t>cont.</a:t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>
                <a:solidFill>
                  <a:schemeClr val="accent6"/>
                </a:solidFill>
              </a:rPr>
              <a:t> JASON has seven valid types of statements: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READ</a:t>
            </a:r>
            <a:r>
              <a:rPr i="1" lang="en-US" sz="1800"/>
              <a:t> Identifier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WRITE</a:t>
            </a:r>
            <a:r>
              <a:rPr i="1" lang="en-US" sz="1800"/>
              <a:t> Identifier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SET</a:t>
            </a:r>
            <a:r>
              <a:rPr i="1" lang="en-US" sz="1800"/>
              <a:t> Identifier </a:t>
            </a:r>
            <a:r>
              <a:rPr b="1" i="1" lang="en-US" sz="1800"/>
              <a:t>=</a:t>
            </a:r>
            <a:r>
              <a:rPr i="1" lang="en-US" sz="1800"/>
              <a:t> Expression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IF</a:t>
            </a:r>
            <a:r>
              <a:rPr i="1" lang="en-US" sz="1800"/>
              <a:t> Condition </a:t>
            </a:r>
            <a:r>
              <a:rPr b="1" i="1" lang="en-US" sz="1800"/>
              <a:t>THEN</a:t>
            </a:r>
            <a:r>
              <a:rPr i="1" lang="en-US" sz="1800"/>
              <a:t> Statement(s) </a:t>
            </a:r>
            <a:r>
              <a:rPr b="1" i="1" lang="en-US" sz="1800"/>
              <a:t>ELSE</a:t>
            </a:r>
            <a:r>
              <a:rPr i="1" lang="en-US" sz="1800"/>
              <a:t> Statement(s) </a:t>
            </a:r>
            <a:r>
              <a:rPr b="1" i="1" lang="en-US" sz="1800"/>
              <a:t>ENDIF</a:t>
            </a:r>
            <a:endParaRPr b="1"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WHILE</a:t>
            </a:r>
            <a:r>
              <a:rPr i="1" lang="en-US" sz="1800"/>
              <a:t> Condition </a:t>
            </a:r>
            <a:r>
              <a:rPr b="1" i="1" lang="en-US" sz="1800"/>
              <a:t>DO</a:t>
            </a:r>
            <a:r>
              <a:rPr i="1" lang="en-US" sz="1800"/>
              <a:t> Statement(s) </a:t>
            </a:r>
            <a:r>
              <a:rPr b="1" i="1" lang="en-US" sz="1800"/>
              <a:t>ENDWHILE</a:t>
            </a:r>
            <a:endParaRPr b="1"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UNTIL</a:t>
            </a:r>
            <a:r>
              <a:rPr i="1" lang="en-US" sz="1800"/>
              <a:t> Condition </a:t>
            </a:r>
            <a:r>
              <a:rPr b="1" i="1" lang="en-US" sz="1800"/>
              <a:t>DO</a:t>
            </a:r>
            <a:r>
              <a:rPr i="1" lang="en-US" sz="1800"/>
              <a:t> Statement(s) </a:t>
            </a:r>
            <a:r>
              <a:rPr b="1" i="1" lang="en-US" sz="1800"/>
              <a:t>ENDUNTIL</a:t>
            </a:r>
            <a:endParaRPr b="1" sz="1800"/>
          </a:p>
          <a:p>
            <a:pPr indent="-285750" lvl="1" marL="74295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i="1" lang="en-US" sz="1800"/>
              <a:t>CALL</a:t>
            </a:r>
            <a:r>
              <a:rPr i="1" lang="en-US" sz="1800"/>
              <a:t> Identifier</a:t>
            </a:r>
            <a:r>
              <a:rPr b="1" i="1" lang="en-US" sz="1800"/>
              <a:t>(</a:t>
            </a:r>
            <a:r>
              <a:rPr i="1" lang="en-US" sz="1800"/>
              <a:t> ArgList </a:t>
            </a:r>
            <a:r>
              <a:rPr b="1" i="1" lang="en-US" sz="1800"/>
              <a:t>)</a:t>
            </a:r>
            <a:endParaRPr b="1" sz="1800"/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/>
          </a:p>
          <a:p>
            <a:pPr indent="-146050" lvl="0" marL="390526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type="title"/>
          </p:nvPr>
        </p:nvSpPr>
        <p:spPr>
          <a:xfrm>
            <a:off x="311700" y="445025"/>
            <a:ext cx="5142802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/>
              <a:t>Code Sample From Jason</a:t>
            </a:r>
            <a:endParaRPr/>
          </a:p>
        </p:txBody>
      </p:sp>
      <p:sp>
        <p:nvSpPr>
          <p:cNvPr id="278" name="Google Shape;27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2384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308113" y="1367813"/>
            <a:ext cx="4035287" cy="372520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PROGRAM EvalFormula;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{Calculates the result of a basic formula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Illustrates the use of procedures in JASON}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DECLARE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INTEGER a;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REAL b;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{The procedure which evaluates the formula repeatedly}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PROCEDURE FindFormula;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PARAMETERS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INTEGER x;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REAL y;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5003526" y="339314"/>
            <a:ext cx="3867150" cy="47843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BEGIN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WHILE x ! 0 DO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   IF x &lt; 0 THEN SET y=10 – 4.5*x;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   ELSE SET y=4.5*x + 10;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   ENDIF;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   WRITE y;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          READ x;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ENDWHILE;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    END;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{ Main program }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BEGIN</a:t>
            </a:r>
            <a:r>
              <a:rPr b="1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READ a;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CALL FindFormula(a, b) 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WRITE b;</a:t>
            </a:r>
            <a:endParaRPr b="1" i="0" sz="15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END</a:t>
            </a:r>
            <a:r>
              <a:rPr b="1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/>
              <a:t>The Token Classes In Jason</a:t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1) Keyword (each keyword is a distinct token)</a:t>
            </a:r>
            <a:endParaRPr sz="2100"/>
          </a:p>
          <a:p>
            <a:pPr indent="-139700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▪"/>
            </a:pPr>
            <a:r>
              <a:rPr lang="en-US" sz="2100"/>
              <a:t>The keywords of Jason are:</a:t>
            </a:r>
            <a:endParaRPr sz="21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1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/>
          </a:p>
        </p:txBody>
      </p:sp>
      <p:graphicFrame>
        <p:nvGraphicFramePr>
          <p:cNvPr id="287" name="Google Shape;287;p27"/>
          <p:cNvGraphicFramePr/>
          <p:nvPr/>
        </p:nvGraphicFramePr>
        <p:xfrm>
          <a:off x="1111112" y="235267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{6130C77A-F4E2-4504-8277-BB393E698C82}</a:tableStyleId>
              </a:tblPr>
              <a:tblGrid>
                <a:gridCol w="1742000"/>
                <a:gridCol w="1742000"/>
                <a:gridCol w="1742725"/>
                <a:gridCol w="1742725"/>
              </a:tblGrid>
              <a:tr h="34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BEGIN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ENDIF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PARAMETERS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SET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CALL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ENDUNTIL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PROCEDURE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THEN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DECLARE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ENDWHILE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PROGRAM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UNTIL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DO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IF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READ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WHILE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ELSE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INTEGER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REAL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WRITE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END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 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 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51515"/>
                          </a:solidFill>
                        </a:rPr>
                        <a:t> </a:t>
                      </a:r>
                      <a:endParaRPr b="0" sz="1800" u="none" cap="none" strike="noStrike">
                        <a:solidFill>
                          <a:srgbClr val="15151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b="1" lang="en-US"/>
              <a:t>The Token Classes In JASON </a:t>
            </a:r>
            <a:r>
              <a:rPr lang="en-US"/>
              <a:t>cont.</a:t>
            </a:r>
            <a:endParaRPr/>
          </a:p>
        </p:txBody>
      </p:sp>
      <p:sp>
        <p:nvSpPr>
          <p:cNvPr id="293" name="Google Shape;293;p28"/>
          <p:cNvSpPr txBox="1"/>
          <p:nvPr>
            <p:ph idx="1" type="body"/>
          </p:nvPr>
        </p:nvSpPr>
        <p:spPr>
          <a:xfrm>
            <a:off x="311700" y="1152475"/>
            <a:ext cx="359044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2) Identifier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3) Constant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(numeric literal)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4) Operator (a single character):</a:t>
            </a:r>
            <a:endParaRPr/>
          </a:p>
          <a:p>
            <a:pPr indent="-317500" lvl="1" marL="8001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lang="en-US" sz="1700"/>
              <a:t>Operators have different types (DFA)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lang="en-US" sz="2100"/>
              <a:t>5) Delimiters</a:t>
            </a:r>
            <a:endParaRPr b="1" sz="2100"/>
          </a:p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/>
          </a:p>
        </p:txBody>
      </p:sp>
      <p:sp>
        <p:nvSpPr>
          <p:cNvPr id="294" name="Google Shape;294;p28"/>
          <p:cNvSpPr txBox="1"/>
          <p:nvPr/>
        </p:nvSpPr>
        <p:spPr>
          <a:xfrm>
            <a:off x="3710763" y="1282074"/>
            <a:ext cx="5252484" cy="37152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1714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Letter ::= [A-Z]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Digit ::= [0-9]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Identifier ::= Letter ( Letter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Digit )*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Constant ::= Digit</a:t>
            </a:r>
            <a:r>
              <a:rPr b="1" baseline="30000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 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\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Digit</a:t>
            </a:r>
            <a:r>
              <a:rPr b="1" baseline="30000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)?</a:t>
            </a:r>
            <a:endParaRPr/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Operators ::= &gt;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!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*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/</a:t>
            </a:r>
            <a:endParaRPr/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Delimiters::= .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;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b="1" i="0" lang="en-US" sz="2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r>
              <a:rPr b="1" i="0" lang="en-US" sz="2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i="0" lang="en-US" sz="2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{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000" u="none" cap="none" strike="noStrik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 } </a:t>
            </a:r>
            <a:endParaRPr/>
          </a:p>
          <a:p>
            <a:pPr indent="0" lvl="0" marL="17145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3200" cap="none">
                <a:latin typeface="Alfa Slab One"/>
                <a:ea typeface="Alfa Slab One"/>
                <a:cs typeface="Alfa Slab One"/>
                <a:sym typeface="Alfa Slab One"/>
              </a:rPr>
              <a:t>Rynix Programming Language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257175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lang="en-US"/>
              <a:t>Rynix Programming Language</a:t>
            </a:r>
            <a:endParaRPr/>
          </a:p>
        </p:txBody>
      </p:sp>
      <p:sp>
        <p:nvSpPr>
          <p:cNvPr id="305" name="Google Shape;30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700"/>
          </a:p>
          <a:p>
            <a:pPr indent="0" lvl="0" marL="0" rtl="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 sz="2700"/>
              <a:t>The first task is to define a set of suitable regular expressions for Rynix rules.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257175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lang="en-US"/>
              <a:t>Part(1): Rynix Programming Language</a:t>
            </a:r>
            <a:endParaRPr/>
          </a:p>
        </p:txBody>
      </p:sp>
      <p:sp>
        <p:nvSpPr>
          <p:cNvPr id="311" name="Google Shape;31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 sz="2200" u="sng">
                <a:solidFill>
                  <a:schemeClr val="dk2"/>
                </a:solidFill>
              </a:rPr>
              <a:t>Milestone 1 Deliverables: </a:t>
            </a:r>
            <a:endParaRPr/>
          </a:p>
          <a:p>
            <a:pPr indent="-342900" lvl="0" marL="4476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solidFill>
                  <a:schemeClr val="dk2"/>
                </a:solidFill>
              </a:rPr>
              <a:t>A document that consists of 3 sections:</a:t>
            </a:r>
            <a:endParaRPr/>
          </a:p>
          <a:p>
            <a:pPr indent="-342900" lvl="1" marL="7905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lang="en-US" sz="2200">
                <a:solidFill>
                  <a:schemeClr val="dk2"/>
                </a:solidFill>
              </a:rPr>
              <a:t>The Regular Expressions for Tokens only</a:t>
            </a:r>
            <a:endParaRPr/>
          </a:p>
          <a:p>
            <a:pPr indent="-342900" lvl="1" marL="7905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lang="en-US" sz="2200">
                <a:solidFill>
                  <a:schemeClr val="dk2"/>
                </a:solidFill>
              </a:rPr>
              <a:t>DFAs of Tokens only</a:t>
            </a:r>
            <a:endParaRPr/>
          </a:p>
          <a:p>
            <a:pPr indent="-342900" lvl="1" marL="7905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Char char="○"/>
            </a:pPr>
            <a:r>
              <a:rPr b="1" lang="en-US" sz="2200">
                <a:solidFill>
                  <a:schemeClr val="dk2"/>
                </a:solidFill>
              </a:rPr>
              <a:t>A copy of the implementation of the Scanner Code</a:t>
            </a:r>
            <a:endParaRPr/>
          </a:p>
          <a:p>
            <a:pPr indent="-333376" lvl="0" marL="3333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The implementation of  a fully scanner for the Rynix Language</a:t>
            </a:r>
            <a:endParaRPr b="1" sz="2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902189" y="21313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</a:pPr>
            <a:r>
              <a:rPr lang="en-US" cap="none"/>
              <a:t>Milestone (1) – Part 2: </a:t>
            </a:r>
            <a:br>
              <a:rPr lang="en-US" cap="none"/>
            </a:br>
            <a:r>
              <a:rPr lang="en-US" cap="none"/>
              <a:t>Implement full Scanner for Rynix</a:t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542926" y="1428750"/>
            <a:ext cx="7697324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1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r>
              <a:rPr b="1" lang="en-US" sz="2100" u="sng">
                <a:solidFill>
                  <a:srgbClr val="FF0000"/>
                </a:solidFill>
              </a:rPr>
              <a:t>  Build DFAs needed to construct a Scanner for  Rynix.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lang="en-US" sz="21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r>
              <a:rPr b="1" lang="en-US" sz="2100" u="sng">
                <a:solidFill>
                  <a:srgbClr val="FF0000"/>
                </a:solidFill>
              </a:rPr>
              <a:t>  Implement a Full Scanner for Rynix programming Language. </a:t>
            </a:r>
            <a:endParaRPr sz="2100"/>
          </a:p>
          <a:p>
            <a:pPr indent="-177800" lvl="0" marL="13716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100"/>
              <a:t>Your interface should show: </a:t>
            </a:r>
            <a:endParaRPr/>
          </a:p>
          <a:p>
            <a:pPr indent="-177800" lvl="1" marL="30861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100"/>
              <a:t>A Text area for typing in the Rynix code </a:t>
            </a:r>
            <a:endParaRPr/>
          </a:p>
          <a:p>
            <a:pPr indent="-1778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100"/>
              <a:t>The Errors List </a:t>
            </a:r>
            <a:endParaRPr/>
          </a:p>
          <a:p>
            <a:pPr indent="-1778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100"/>
              <a:t>Lexeme-to-Token Table.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cap="none">
                <a:latin typeface="Alfa Slab One"/>
                <a:ea typeface="Alfa Slab One"/>
                <a:cs typeface="Alfa Slab One"/>
                <a:sym typeface="Alfa Slab One"/>
              </a:rPr>
              <a:t>Hands-on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48148"/>
              <a:buNone/>
            </a:pPr>
            <a:r>
              <a:rPr lang="en-US" cap="none"/>
              <a:t>Hands on - part 1: </a:t>
            </a:r>
            <a:br>
              <a:rPr lang="en-US" cap="none"/>
            </a:br>
            <a:r>
              <a:rPr lang="en-US" cap="none"/>
              <a:t>Draw DFA for JASON (15 min)</a:t>
            </a:r>
            <a:endParaRPr/>
          </a:p>
        </p:txBody>
      </p:sp>
      <p:sp>
        <p:nvSpPr>
          <p:cNvPr id="328" name="Google Shape;328;p34"/>
          <p:cNvSpPr txBox="1"/>
          <p:nvPr>
            <p:ph idx="1" type="body"/>
          </p:nvPr>
        </p:nvSpPr>
        <p:spPr>
          <a:xfrm>
            <a:off x="311700" y="1152474"/>
            <a:ext cx="8520600" cy="3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032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rgbClr val="2C2C2C"/>
                </a:solidFill>
              </a:rPr>
              <a:t>Build the needed </a:t>
            </a:r>
            <a:r>
              <a:rPr b="1" lang="en-US" sz="2400">
                <a:solidFill>
                  <a:srgbClr val="2C2C2C"/>
                </a:solidFill>
              </a:rPr>
              <a:t>DFA</a:t>
            </a:r>
            <a:r>
              <a:rPr lang="en-US" sz="2400">
                <a:solidFill>
                  <a:srgbClr val="2C2C2C"/>
                </a:solidFill>
              </a:rPr>
              <a:t>(s) to construct a Scanner for JASON Programming Language.</a:t>
            </a:r>
            <a:endParaRPr/>
          </a:p>
          <a:p>
            <a:pPr indent="-203200" lvl="0" marL="13716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rgbClr val="2C2C2C"/>
                </a:solidFill>
              </a:rPr>
              <a:t>Hints:</a:t>
            </a:r>
            <a:endParaRPr/>
          </a:p>
          <a:p>
            <a:pPr indent="-203200" lvl="1" marL="30861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200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identifier.</a:t>
            </a:r>
            <a:endParaRPr sz="1200"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constants.</a:t>
            </a:r>
            <a:endParaRPr sz="1200"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operators.</a:t>
            </a:r>
            <a:endParaRPr sz="1200"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Delimiters.</a:t>
            </a:r>
            <a:endParaRPr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Braces.</a:t>
            </a:r>
            <a:endParaRPr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Comment. </a:t>
            </a:r>
            <a:endParaRPr/>
          </a:p>
          <a:p>
            <a:pPr indent="-2032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Char char="▪"/>
            </a:pPr>
            <a:r>
              <a:rPr lang="en-US" sz="2000">
                <a:solidFill>
                  <a:srgbClr val="2C2C2C"/>
                </a:solidFill>
              </a:rPr>
              <a:t>Build DFA for reserved keywords.</a:t>
            </a:r>
            <a:endParaRPr/>
          </a:p>
          <a:p>
            <a:pPr indent="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None/>
            </a:pPr>
            <a:r>
              <a:t/>
            </a:r>
            <a:endParaRPr sz="2000">
              <a:solidFill>
                <a:srgbClr val="2C2C2C"/>
              </a:solidFill>
            </a:endParaRPr>
          </a:p>
          <a:p>
            <a:pPr indent="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Font typeface="Proxima Nova"/>
              <a:buNone/>
            </a:pPr>
            <a:r>
              <a:t/>
            </a:r>
            <a:endParaRPr sz="2400">
              <a:solidFill>
                <a:srgbClr val="2C2C2C"/>
              </a:solidFill>
            </a:endParaRPr>
          </a:p>
          <a:p>
            <a:pPr indent="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>
              <a:solidFill>
                <a:srgbClr val="2C2C2C"/>
              </a:solidFill>
            </a:endParaRPr>
          </a:p>
          <a:p>
            <a:pPr indent="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5287738" y="2854841"/>
            <a:ext cx="2466755" cy="1233377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You must handle all sigma and trap states as mentioned in the following slide.</a:t>
            </a:r>
            <a:endParaRPr/>
          </a:p>
        </p:txBody>
      </p:sp>
      <p:sp>
        <p:nvSpPr>
          <p:cNvPr id="330" name="Google Shape;330;p34"/>
          <p:cNvSpPr/>
          <p:nvPr/>
        </p:nvSpPr>
        <p:spPr>
          <a:xfrm>
            <a:off x="467833" y="2424223"/>
            <a:ext cx="4819905" cy="2073349"/>
          </a:xfrm>
          <a:prstGeom prst="rightArrowCallout">
            <a:avLst>
              <a:gd fmla="val 7741" name="adj1"/>
              <a:gd fmla="val 10786" name="adj2"/>
              <a:gd fmla="val 23477" name="adj3"/>
              <a:gd fmla="val 63421" name="adj4"/>
            </a:avLst>
          </a:prstGeom>
          <a:noFill/>
          <a:ln cap="flat" cmpd="sng" w="12700">
            <a:solidFill>
              <a:srgbClr val="3241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5287738" y="4167188"/>
            <a:ext cx="2466755" cy="800758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It is not a mandatory to handle the entire sigma and the trap state</a:t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>
            <a:off x="467833" y="4540104"/>
            <a:ext cx="4819905" cy="388086"/>
          </a:xfrm>
          <a:prstGeom prst="rightArrowCallout">
            <a:avLst>
              <a:gd fmla="val 32531" name="adj1"/>
              <a:gd fmla="val 49142" name="adj2"/>
              <a:gd fmla="val 48135" name="adj3"/>
              <a:gd fmla="val 83936" name="adj4"/>
            </a:avLst>
          </a:prstGeom>
          <a:noFill/>
          <a:ln cap="flat" cmpd="sng" w="12700">
            <a:solidFill>
              <a:srgbClr val="3241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DFA Example for Identifier</a:t>
            </a:r>
            <a:endParaRPr/>
          </a:p>
        </p:txBody>
      </p:sp>
      <p:sp>
        <p:nvSpPr>
          <p:cNvPr id="338" name="Google Shape;338;p35"/>
          <p:cNvSpPr txBox="1"/>
          <p:nvPr>
            <p:ph idx="1" type="body"/>
          </p:nvPr>
        </p:nvSpPr>
        <p:spPr>
          <a:xfrm>
            <a:off x="311700" y="1152475"/>
            <a:ext cx="8520600" cy="37385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1714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∑ =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[A-Z]  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[0-9]</a:t>
            </a:r>
            <a:r>
              <a:rPr lang="en-US" sz="2400">
                <a:solidFill>
                  <a:srgbClr val="FF0000"/>
                </a:solidFill>
              </a:rPr>
              <a:t>   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    &lt;  !  =  +   -  *    /  .    ;    ,   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    }  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    )</a:t>
            </a:r>
            <a:endParaRPr/>
          </a:p>
          <a:p>
            <a:pPr indent="-57150" lvl="0" marL="1714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DFA for the identifier</a:t>
            </a:r>
            <a:endParaRPr/>
          </a:p>
          <a:p>
            <a:pPr indent="-317500" lvl="1" marL="6286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Letter  =  [A-Z]</a:t>
            </a:r>
            <a:endParaRPr/>
          </a:p>
          <a:p>
            <a:pPr indent="-317500" lvl="1" marL="6286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Digit    =   [0-9]</a:t>
            </a:r>
            <a:endParaRPr/>
          </a:p>
          <a:p>
            <a:pPr indent="-317500" lvl="1" marL="62865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Other  = 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    &lt;  !  =  +   -  *    /  .    ;    ,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{    }  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    )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39" name="Google Shape;3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7939" y="1717273"/>
            <a:ext cx="3054361" cy="298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257175" rtl="0" algn="l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SzPts val="2035"/>
              <a:buNone/>
            </a:pPr>
            <a:r>
              <a:rPr lang="en-US"/>
              <a:t>Task(1): Rynix Programming Language</a:t>
            </a:r>
            <a:endParaRPr/>
          </a:p>
        </p:txBody>
      </p:sp>
      <p:sp>
        <p:nvSpPr>
          <p:cNvPr id="345" name="Google Shape;34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32384" lvl="0" marL="13716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r>
              <a:rPr b="1" lang="en-US" sz="2200" u="sng">
                <a:solidFill>
                  <a:schemeClr val="dk2"/>
                </a:solidFill>
              </a:rPr>
              <a:t>Milestone 1 Deliverables: </a:t>
            </a:r>
            <a:endParaRPr/>
          </a:p>
          <a:p>
            <a:pPr indent="-457200" lvl="0" marL="5619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b="1" lang="en-US" sz="2200">
                <a:solidFill>
                  <a:schemeClr val="dk2"/>
                </a:solidFill>
              </a:rPr>
              <a:t>A document that consists of 3 sections:</a:t>
            </a:r>
            <a:endParaRPr/>
          </a:p>
          <a:p>
            <a:pPr indent="-457200" lvl="1" marL="9048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2"/>
                </a:solidFill>
              </a:rPr>
              <a:t>The Regular Expressions for Tokens only</a:t>
            </a:r>
            <a:endParaRPr/>
          </a:p>
          <a:p>
            <a:pPr indent="-457200" lvl="1" marL="9048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2"/>
                </a:solidFill>
              </a:rPr>
              <a:t>DFAs of Tokens only</a:t>
            </a:r>
            <a:endParaRPr/>
          </a:p>
          <a:p>
            <a:pPr indent="-457200" lvl="1" marL="9048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>
                <a:solidFill>
                  <a:schemeClr val="dk2"/>
                </a:solidFill>
              </a:rPr>
              <a:t>A copy of the implementation of the Scanner Code</a:t>
            </a:r>
            <a:endParaRPr/>
          </a:p>
          <a:p>
            <a:pPr indent="-447676" lvl="0" marL="447676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b="1" lang="en-US" sz="2200"/>
              <a:t>The implementation of  a fully scanner for the Rynix Language</a:t>
            </a:r>
            <a:endParaRPr b="1"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48148"/>
              <a:buNone/>
            </a:pPr>
            <a:r>
              <a:rPr lang="en-US" cap="none"/>
              <a:t>Hands on - part 2: </a:t>
            </a:r>
            <a:br>
              <a:rPr lang="en-US" cap="none"/>
            </a:br>
            <a:r>
              <a:rPr lang="en-US" cap="none"/>
              <a:t>Implement Scanner for JASON (40 mins)</a:t>
            </a:r>
            <a:endParaRPr/>
          </a:p>
        </p:txBody>
      </p:sp>
      <p:sp>
        <p:nvSpPr>
          <p:cNvPr id="352" name="Google Shape;35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</a:t>
            </a:r>
            <a:r>
              <a:rPr lang="en-US"/>
              <a:t>mplement a scanner for the JASON Language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48148"/>
              <a:buNone/>
            </a:pPr>
            <a:r>
              <a:rPr lang="en-US" cap="none"/>
              <a:t>Hands on - part 2: </a:t>
            </a:r>
            <a:br>
              <a:rPr lang="en-US" cap="none"/>
            </a:br>
            <a:r>
              <a:rPr b="1" lang="en-US" cap="none"/>
              <a:t>Implement Scanner for JASON   (40 min)</a:t>
            </a:r>
            <a:endParaRPr/>
          </a:p>
        </p:txBody>
      </p:sp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311700" y="1152475"/>
            <a:ext cx="4401864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524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b="1" lang="en-US"/>
              <a:t>User Interface:</a:t>
            </a:r>
            <a:endParaRPr/>
          </a:p>
          <a:p>
            <a:pPr indent="-152400" lvl="1" marL="30861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▪"/>
            </a:pPr>
            <a:r>
              <a:rPr lang="en-US" sz="1800"/>
              <a:t>Text Area for code editing.</a:t>
            </a:r>
            <a:endParaRPr/>
          </a:p>
          <a:p>
            <a:pPr indent="-1524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Char char="▪"/>
            </a:pPr>
            <a:r>
              <a:rPr lang="en-US" sz="1800"/>
              <a:t>A table that displays each Lexeme along with its Token Class.</a:t>
            </a:r>
            <a:endParaRPr/>
          </a:p>
          <a:p>
            <a:pPr indent="-1524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Char char="▪"/>
            </a:pPr>
            <a:r>
              <a:rPr lang="en-US" sz="1800"/>
              <a:t>Error List. </a:t>
            </a:r>
            <a:r>
              <a:rPr b="1" lang="en-US" sz="1800">
                <a:solidFill>
                  <a:srgbClr val="FF0000"/>
                </a:solidFill>
              </a:rPr>
              <a:t>For unknown chars, wrong constants with multi dot, unclosed string constant, unclosed comment.</a:t>
            </a:r>
            <a:endParaRPr/>
          </a:p>
          <a:p>
            <a:pPr indent="-152400" lvl="1" marL="30861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2400"/>
              <a:buChar char="▪"/>
            </a:pPr>
            <a:r>
              <a:rPr lang="en-US" sz="1800"/>
              <a:t>A button to Compile.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FF0000"/>
                </a:solidFill>
              </a:rPr>
              <a:t>Don’t forget to lowercase your JASON Code before scanning.</a:t>
            </a:r>
            <a:endParaRPr/>
          </a:p>
        </p:txBody>
      </p:sp>
      <p:pic>
        <p:nvPicPr>
          <p:cNvPr id="359" name="Google Shape;35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2121" y="1152476"/>
            <a:ext cx="4401864" cy="3991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48148"/>
              <a:buNone/>
            </a:pPr>
            <a:r>
              <a:rPr lang="en-US" cap="none"/>
              <a:t>Hands on - part 2: </a:t>
            </a:r>
            <a:br>
              <a:rPr lang="en-US" cap="none"/>
            </a:br>
            <a:r>
              <a:rPr b="1" lang="en-US" cap="none"/>
              <a:t>Implement Scanner for JASON</a:t>
            </a:r>
            <a:endParaRPr/>
          </a:p>
        </p:txBody>
      </p:sp>
      <p:sp>
        <p:nvSpPr>
          <p:cNvPr id="366" name="Google Shape;36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/>
          <a:p>
            <a:pPr indent="-17780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b="1" lang="en-US" sz="2100"/>
              <a:t>Sample Run: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rPr b="1" lang="en-US" sz="2100"/>
              <a:t>JASON Code: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100"/>
          </a:p>
        </p:txBody>
      </p:sp>
      <p:pic>
        <p:nvPicPr>
          <p:cNvPr id="367" name="Google Shape;3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2571" y="1508760"/>
            <a:ext cx="5612673" cy="352589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9"/>
          <p:cNvSpPr txBox="1"/>
          <p:nvPr/>
        </p:nvSpPr>
        <p:spPr>
          <a:xfrm>
            <a:off x="73853" y="2268417"/>
            <a:ext cx="3430266" cy="26083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PROGRAM EvalFormula;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DECLARE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INTEGER a;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REAL b;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BEGIN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C2C2C"/>
                </a:solidFill>
                <a:latin typeface="Corbel"/>
                <a:ea typeface="Corbel"/>
                <a:cs typeface="Corbel"/>
                <a:sym typeface="Corbel"/>
              </a:rPr>
              <a:t>END.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2C2C2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/>
          <p:nvPr>
            <p:ph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</a:pPr>
            <a:r>
              <a:rPr lang="en-US" sz="8000">
                <a:solidFill>
                  <a:schemeClr val="accent3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