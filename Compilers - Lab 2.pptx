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Proxima Nova"/>
      <p:regular r:id="rId41"/>
      <p:bold r:id="rId42"/>
      <p:italic r:id="rId43"/>
      <p:boldItalic r:id="rId44"/>
    </p:embeddedFont>
    <p:embeddedFont>
      <p:font typeface="Inter"/>
      <p:regular r:id="rId45"/>
      <p:bold r:id="rId46"/>
      <p:italic r:id="rId47"/>
      <p:boldItalic r:id="rId48"/>
    </p:embeddedFont>
    <p:embeddedFont>
      <p:font typeface="Corbel"/>
      <p:regular r:id="rId49"/>
      <p:bold r:id="rId50"/>
      <p:italic r:id="rId51"/>
      <p:boldItalic r:id="rId52"/>
    </p:embeddedFont>
    <p:embeddedFont>
      <p:font typeface="Quattrocento Sans"/>
      <p:regular r:id="rId53"/>
      <p:bold r:id="rId54"/>
      <p:italic r:id="rId55"/>
      <p:boldItalic r:id="rId56"/>
    </p:embeddedFont>
    <p:embeddedFont>
      <p:font typeface="Alfa Slab One"/>
      <p:regular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8" roundtripDataSignature="AMtx7mhuMWY2JH6bG9lhkuIxdZ4YyYEQ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BA6CC7-2782-4DEA-BEFF-3764EE007097}">
  <a:tblStyle styleId="{12BA6CC7-2782-4DEA-BEFF-3764EE0070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ProximaNova-bold.fntdata"/><Relationship Id="rId41" Type="http://schemas.openxmlformats.org/officeDocument/2006/relationships/font" Target="fonts/ProximaNova-regular.fntdata"/><Relationship Id="rId44" Type="http://schemas.openxmlformats.org/officeDocument/2006/relationships/font" Target="fonts/ProximaNova-boldItalic.fntdata"/><Relationship Id="rId43" Type="http://schemas.openxmlformats.org/officeDocument/2006/relationships/font" Target="fonts/ProximaNova-italic.fntdata"/><Relationship Id="rId46" Type="http://schemas.openxmlformats.org/officeDocument/2006/relationships/font" Target="fonts/Inter-bold.fntdata"/><Relationship Id="rId45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-boldItalic.fntdata"/><Relationship Id="rId47" Type="http://schemas.openxmlformats.org/officeDocument/2006/relationships/font" Target="fonts/Inter-italic.fntdata"/><Relationship Id="rId49" Type="http://schemas.openxmlformats.org/officeDocument/2006/relationships/font" Target="fonts/Corbel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orbel-italic.fntdata"/><Relationship Id="rId50" Type="http://schemas.openxmlformats.org/officeDocument/2006/relationships/font" Target="fonts/Corbel-bold.fntdata"/><Relationship Id="rId53" Type="http://schemas.openxmlformats.org/officeDocument/2006/relationships/font" Target="fonts/QuattrocentoSans-regular.fntdata"/><Relationship Id="rId52" Type="http://schemas.openxmlformats.org/officeDocument/2006/relationships/font" Target="fonts/Corbel-boldItalic.fntdata"/><Relationship Id="rId11" Type="http://schemas.openxmlformats.org/officeDocument/2006/relationships/slide" Target="slides/slide5.xml"/><Relationship Id="rId55" Type="http://schemas.openxmlformats.org/officeDocument/2006/relationships/font" Target="fonts/QuattrocentoSans-italic.fntdata"/><Relationship Id="rId10" Type="http://schemas.openxmlformats.org/officeDocument/2006/relationships/slide" Target="slides/slide4.xml"/><Relationship Id="rId54" Type="http://schemas.openxmlformats.org/officeDocument/2006/relationships/font" Target="fonts/QuattrocentoSans-bold.fntdata"/><Relationship Id="rId13" Type="http://schemas.openxmlformats.org/officeDocument/2006/relationships/slide" Target="slides/slide7.xml"/><Relationship Id="rId57" Type="http://schemas.openxmlformats.org/officeDocument/2006/relationships/font" Target="fonts/AlfaSlabOne-regular.fntdata"/><Relationship Id="rId12" Type="http://schemas.openxmlformats.org/officeDocument/2006/relationships/slide" Target="slides/slide6.xml"/><Relationship Id="rId56" Type="http://schemas.openxmlformats.org/officeDocument/2006/relationships/font" Target="fonts/Quattrocento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https://docs.microsoft.com/en-us/dotnet/standard/base-types/regular-expression-language-quick-reference</a:t>
            </a:r>
            <a:endParaRPr/>
          </a:p>
        </p:txBody>
      </p:sp>
      <p:sp>
        <p:nvSpPr>
          <p:cNvPr id="105" name="Google Shape;10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define the 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.even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regular expression. The 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RegexOptions.Compiled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option specifies that the regular expression is compiled to an assembly.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yields faster execution but increases startup time. The dot (.) metacharacter stands for any single character in the text.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Reference: https://docs.microsoft.com/en-us/dotnet/api/system.text.regularexpressions.regexoptions?view=net-5.0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-"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main purpose of compiler is to change the code written in one language without changing the meaning of the program.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/>
              <a:t>What is Finite State Machine (FSM)?</a:t>
            </a:r>
            <a:endParaRPr/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/>
              <a:t>FSM are used to represent any predetermined sequence of actions.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/>
              <a:t>How does it do that?</a:t>
            </a:r>
            <a:endParaRPr/>
          </a:p>
          <a:p>
            <a:pPr indent="-17145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/>
              <a:t>FSM consists of set of states and transitions that moves from state to state given a certain input.</a:t>
            </a:r>
            <a:endParaRPr b="0" i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-"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https://www.cs.rochester.edu/u/nelson/courses/csc_173/fa/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-"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main purpose of compiler is to change the code written in one language without changing the meaning of the program.</a:t>
            </a:r>
            <a:endParaRPr/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b12eb3140808bc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hb12eb3140808bc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b12eb3140808bc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hb12eb3140808bc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b12eb3140808bc7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hb12eb3140808bc7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3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3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3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3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5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2" name="Google Shape;22;p35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" name="Google Shape;23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37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0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40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1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3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 txBox="1"/>
          <p:nvPr>
            <p:ph type="title"/>
          </p:nvPr>
        </p:nvSpPr>
        <p:spPr>
          <a:xfrm>
            <a:off x="624893" y="1656659"/>
            <a:ext cx="78867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" name="Google Shape;55;p43"/>
          <p:cNvSpPr txBox="1"/>
          <p:nvPr>
            <p:ph idx="1" type="body"/>
          </p:nvPr>
        </p:nvSpPr>
        <p:spPr>
          <a:xfrm>
            <a:off x="624893" y="3007753"/>
            <a:ext cx="7886700" cy="8809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rgbClr val="91AEF7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1AEF7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9pPr>
          </a:lstStyle>
          <a:p/>
        </p:txBody>
      </p:sp>
      <p:sp>
        <p:nvSpPr>
          <p:cNvPr id="56" name="Google Shape;56;p4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4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hyperlink" Target="https://docs.microsoft.com/en-us/dotnet/api/system.text.regularexpressions.regex?view=net-5.0" TargetMode="External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piler Design [GTU] - Last Moment Tuitions" id="63" name="Google Shape;63;p1"/>
          <p:cNvPicPr preferRelativeResize="0"/>
          <p:nvPr/>
        </p:nvPicPr>
        <p:blipFill rotWithShape="1">
          <a:blip r:embed="rId3">
            <a:alphaModFix amt="12000"/>
          </a:blip>
          <a:srcRect b="31084" l="0" r="0" t="0"/>
          <a:stretch/>
        </p:blipFill>
        <p:spPr>
          <a:xfrm>
            <a:off x="-14560" y="-1"/>
            <a:ext cx="915856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Compilers Theory</a:t>
            </a:r>
            <a:endParaRPr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Lab 2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ct val="92593"/>
              <a:buNone/>
            </a:pPr>
            <a:r>
              <a:rPr lang="en-US" sz="3600"/>
              <a:t>Agenda</a:t>
            </a:r>
            <a:endParaRPr sz="2400"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311700" y="1152475"/>
            <a:ext cx="8520600" cy="3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Scanner Phase: Lexical Analysis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C# Regex Class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Finite State Automata – Review 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Examples on DFA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Examples on NFA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Hands-on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Appendix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Scanning Phase</a:t>
            </a:r>
            <a:b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</a:b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Lexical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sz="2700"/>
              <a:t>Scanning Phase: Lexical Analysis</a:t>
            </a:r>
            <a:endParaRPr/>
          </a:p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000"/>
              <a:t>In the Lexical Analysis Phase, the compiler reads the actual source program and collects sequences of characters into meaningful units called tokens. </a:t>
            </a:r>
            <a:endParaRPr sz="2000"/>
          </a:p>
        </p:txBody>
      </p:sp>
      <p:grpSp>
        <p:nvGrpSpPr>
          <p:cNvPr id="83" name="Google Shape;83;p4"/>
          <p:cNvGrpSpPr/>
          <p:nvPr/>
        </p:nvGrpSpPr>
        <p:grpSpPr>
          <a:xfrm>
            <a:off x="1606045" y="2770937"/>
            <a:ext cx="5930348" cy="897255"/>
            <a:chOff x="0" y="0"/>
            <a:chExt cx="4693920" cy="716280"/>
          </a:xfrm>
        </p:grpSpPr>
        <p:sp>
          <p:nvSpPr>
            <p:cNvPr id="84" name="Google Shape;84;p4"/>
            <p:cNvSpPr/>
            <p:nvPr/>
          </p:nvSpPr>
          <p:spPr>
            <a:xfrm>
              <a:off x="1501140" y="114300"/>
              <a:ext cx="1463040" cy="4953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BA8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Scanner</a:t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0" y="0"/>
              <a:ext cx="914400" cy="70104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dk2"/>
                  </a:solidFill>
                  <a:latin typeface="Corbel"/>
                  <a:ea typeface="Corbel"/>
                  <a:cs typeface="Corbel"/>
                  <a:sym typeface="Corbel"/>
                </a:rPr>
                <a:t>Source Code</a:t>
              </a:r>
              <a:endParaRPr b="1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" name="Google Shape;86;p4"/>
            <p:cNvCxnSpPr/>
            <p:nvPr/>
          </p:nvCxnSpPr>
          <p:spPr>
            <a:xfrm>
              <a:off x="891540" y="350520"/>
              <a:ext cx="59436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7" name="Google Shape;87;p4"/>
            <p:cNvCxnSpPr/>
            <p:nvPr/>
          </p:nvCxnSpPr>
          <p:spPr>
            <a:xfrm>
              <a:off x="2971800" y="342900"/>
              <a:ext cx="617220" cy="1524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8" name="Google Shape;88;p4"/>
            <p:cNvSpPr/>
            <p:nvPr/>
          </p:nvSpPr>
          <p:spPr>
            <a:xfrm>
              <a:off x="3581400" y="15240"/>
              <a:ext cx="1112520" cy="70104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dk2"/>
                  </a:solidFill>
                  <a:latin typeface="Corbel"/>
                  <a:ea typeface="Corbel"/>
                  <a:cs typeface="Corbel"/>
                  <a:sym typeface="Corbel"/>
                </a:rPr>
                <a:t>Stream of Tokens</a:t>
              </a:r>
              <a:endParaRPr b="1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sz="2700"/>
              <a:t>Basic Lexical Regular Expressions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Letter := [_|a-z|A-Z]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lang="en-US"/>
              <a:t>	Digit := [0-9]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An </a:t>
            </a:r>
            <a:r>
              <a:rPr b="1" lang="en-US" u="sng"/>
              <a:t>identifier</a:t>
            </a:r>
            <a:r>
              <a:rPr lang="en-US"/>
              <a:t> should start with a letter followed by any combination of letters and numbers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i="1" lang="en-US">
                <a:solidFill>
                  <a:srgbClr val="044D6E"/>
                </a:solidFill>
              </a:rPr>
              <a:t>	ID := Letter(Letter | Digit)*</a:t>
            </a:r>
            <a:endParaRPr>
              <a:solidFill>
                <a:srgbClr val="044D6E"/>
              </a:solidFill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An </a:t>
            </a:r>
            <a:r>
              <a:rPr b="1" lang="en-US" u="sng"/>
              <a:t>unsigned integer</a:t>
            </a:r>
            <a:r>
              <a:rPr lang="en-US"/>
              <a:t> is any combination of unsigned numbers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i="1" lang="en-US"/>
              <a:t>	</a:t>
            </a:r>
            <a:r>
              <a:rPr i="1" lang="en-US">
                <a:solidFill>
                  <a:srgbClr val="044D6E"/>
                </a:solidFill>
              </a:rPr>
              <a:t>Nunsigned := (digit)+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A </a:t>
            </a:r>
            <a:r>
              <a:rPr b="1" lang="en-US" u="sng"/>
              <a:t>signed integer</a:t>
            </a:r>
            <a:r>
              <a:rPr lang="en-US"/>
              <a:t> is an unsigned integer that can be preceded by an optional sign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i="1" lang="en-US"/>
              <a:t>	</a:t>
            </a:r>
            <a:r>
              <a:rPr i="1" lang="en-US">
                <a:solidFill>
                  <a:srgbClr val="044D6E"/>
                </a:solidFill>
              </a:rPr>
              <a:t>Nsigned := (+|-)? Nunsigned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sz="2700"/>
              <a:t>Basic Lexical Regular Expressions cont.</a:t>
            </a:r>
            <a:endParaRPr sz="2700"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-US"/>
              <a:t>A </a:t>
            </a:r>
            <a:r>
              <a:rPr b="1" lang="en-US" u="sng"/>
              <a:t>float Number</a:t>
            </a:r>
            <a:r>
              <a:rPr lang="en-US"/>
              <a:t> is a signed number followed by optional dot operator and unsigned number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i="1" lang="en-US">
                <a:solidFill>
                  <a:srgbClr val="044D6E"/>
                </a:solidFill>
              </a:rPr>
              <a:t>	NFloat := Nsigned( \. Nunsigned)?</a:t>
            </a:r>
            <a:endParaRPr>
              <a:solidFill>
                <a:srgbClr val="044D6E"/>
              </a:solidFill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035"/>
              <a:buChar char="●"/>
            </a:pPr>
            <a:r>
              <a:rPr lang="en-US"/>
              <a:t>A </a:t>
            </a:r>
            <a:r>
              <a:rPr b="1" lang="en-US" u="sng"/>
              <a:t>Float Number with exponent</a:t>
            </a:r>
            <a:r>
              <a:rPr lang="en-US"/>
              <a:t> is a float number followed by optional E and a signed number.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i="1" lang="en-US">
                <a:solidFill>
                  <a:srgbClr val="044D6E"/>
                </a:solidFill>
              </a:rPr>
              <a:t>	NFloatExp := NFloat (E NSigned)?</a:t>
            </a:r>
            <a:endParaRPr>
              <a:solidFill>
                <a:srgbClr val="044D6E"/>
              </a:solidFill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035"/>
              <a:buChar char="●"/>
            </a:pPr>
            <a:r>
              <a:rPr lang="en-US"/>
              <a:t>A </a:t>
            </a:r>
            <a:r>
              <a:rPr b="1" lang="en-US" u="sng"/>
              <a:t>Reserved word</a:t>
            </a:r>
            <a:r>
              <a:rPr lang="en-US"/>
              <a:t> can be one of the following keywords (if, while, int, for, float, char, else or endif)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i="1" lang="en-US">
                <a:solidFill>
                  <a:srgbClr val="044D6E"/>
                </a:solidFill>
              </a:rPr>
              <a:t>	RW := if | while | int | for | float | char | else | endif</a:t>
            </a:r>
            <a:endParaRPr>
              <a:solidFill>
                <a:srgbClr val="044D6E"/>
              </a:solidFill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035"/>
              <a:buChar char="●"/>
            </a:pPr>
            <a:r>
              <a:rPr lang="en-US"/>
              <a:t>An </a:t>
            </a:r>
            <a:r>
              <a:rPr b="1" lang="en-US" u="sng"/>
              <a:t>Operator</a:t>
            </a:r>
            <a:r>
              <a:rPr lang="en-US"/>
              <a:t> can be one of the following signs (+,-,*,/,%,&lt;,&gt;)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i="1" lang="en-US">
                <a:solidFill>
                  <a:srgbClr val="044D6E"/>
                </a:solidFill>
              </a:rPr>
              <a:t>	Op := + | - | * | / | % | &lt; | &gt;</a:t>
            </a:r>
            <a:endParaRPr/>
          </a:p>
          <a:p>
            <a:pPr indent="-156528" lvl="0" marL="382667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C# - Regex Class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</a:pPr>
            <a:r>
              <a:rPr lang="en-US"/>
              <a:t>C# - Regular Expressions</a:t>
            </a:r>
            <a:endParaRPr/>
          </a:p>
        </p:txBody>
      </p:sp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C# has built-in API for working with regular expressions; found in </a:t>
            </a:r>
            <a:r>
              <a:rPr b="1" lang="en-US"/>
              <a:t>System.Text.RegularExpressions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i="0"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following table shows a couple of regular expression strings.</a:t>
            </a:r>
            <a:endParaRPr i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03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graphicFrame>
        <p:nvGraphicFramePr>
          <p:cNvPr id="115" name="Google Shape;115;p8"/>
          <p:cNvGraphicFramePr/>
          <p:nvPr/>
        </p:nvGraphicFramePr>
        <p:xfrm>
          <a:off x="112890" y="2231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{12BA6CC7-2782-4DEA-BEFF-3764EE007097}</a:tableStyleId>
              </a:tblPr>
              <a:tblGrid>
                <a:gridCol w="733700"/>
                <a:gridCol w="4040075"/>
                <a:gridCol w="746500"/>
                <a:gridCol w="3409250"/>
              </a:tblGrid>
              <a:tr h="300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Regex</a:t>
                      </a:r>
                      <a:endParaRPr sz="14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Meaning</a:t>
                      </a:r>
                      <a:endParaRPr sz="14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Regex</a:t>
                      </a:r>
                      <a:endParaRPr sz="14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Meaning</a:t>
                      </a:r>
                      <a:endParaRPr sz="1400" u="none" cap="none" strike="noStrike"/>
                    </a:p>
                  </a:txBody>
                  <a:tcPr marT="34300" marB="34300" marR="68575" marL="68575"/>
                </a:tc>
              </a:tr>
              <a:tr h="25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any single character.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|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Alternation operator.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?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the preceding element once or not at all.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{}</a:t>
                      </a:r>
                      <a:endParaRPr sz="1400" u="none" cap="none" strike="noStrike"/>
                    </a:p>
                  </a:txBody>
                  <a:tcPr marT="57150" marB="57150" marR="57150" marL="5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repetition modifier.</a:t>
                      </a:r>
                      <a:endParaRPr sz="1400" u="none" cap="none" strike="noStrike"/>
                    </a:p>
                  </a:txBody>
                  <a:tcPr marT="57150" marB="57150" marR="57150" marL="57150"/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+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the preceding element once or more times.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[abc]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 or b, or c.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*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the preceding element zero or more times.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[a-c]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Range; matches a or b, or c.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^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the starting position within the string.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[^abc]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Negation, matches everything except a, or b, or c.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</a:tr>
              <a:tr h="459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$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the ending position within the string.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</a:t>
                      </a:r>
                      <a:endParaRPr sz="1400" u="none" cap="none" strike="noStrike"/>
                    </a:p>
                  </a:txBody>
                  <a:tcPr marT="35725" marB="35725" marR="35725" marL="3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quote or special. Used to remove the special meaning. Example: </a:t>
                      </a: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\.</a:t>
                      </a:r>
                      <a:endParaRPr b="0" sz="1200" u="none" cap="none" strike="noStrike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35725" marB="35725" marR="35725" marL="3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C# - Regular Expressions cont.</a:t>
            </a:r>
            <a:endParaRPr/>
          </a:p>
        </p:txBody>
      </p:sp>
      <p:graphicFrame>
        <p:nvGraphicFramePr>
          <p:cNvPr id="121" name="Google Shape;121;p9"/>
          <p:cNvGraphicFramePr/>
          <p:nvPr/>
        </p:nvGraphicFramePr>
        <p:xfrm>
          <a:off x="1327738" y="12381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{12BA6CC7-2782-4DEA-BEFF-3764EE007097}</a:tableStyleId>
              </a:tblPr>
              <a:tblGrid>
                <a:gridCol w="1058600"/>
                <a:gridCol w="5428375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Regex</a:t>
                      </a:r>
                      <a:endParaRPr sz="14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Meaning</a:t>
                      </a:r>
                      <a:endParaRPr sz="1400" u="none" cap="none" strike="noStrike"/>
                    </a:p>
                  </a:txBody>
                  <a:tcPr marT="34300" marB="34300" marR="68575" marL="68575"/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\b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 word boundary where a word character is [a-zA-Z0-9_]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\d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 digit, from 0 to 9 [0-9]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\s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 whitespace character, that is a space, tab, newline, carriage return. [\t\n\r]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\w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 word character (alphanumeric or _) [0-9a-zA-Z_]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\D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any non-digits [^0-9]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\S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any non-whitespace character [^\t\n\r]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\S+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several non-whitespace characters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\W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matches any non-word character [^0-9a-zA-Z_]</a:t>
                      </a:r>
                      <a:endParaRPr sz="1400" u="none" cap="none" strike="noStrike"/>
                    </a:p>
                  </a:txBody>
                  <a:tcPr marT="71450" marB="71450" marR="71450" marL="7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C# Regular Expression - Example</a:t>
            </a:r>
            <a:endParaRPr/>
          </a:p>
        </p:txBody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311700" y="1152475"/>
            <a:ext cx="243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en-US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C# regex isMatch</a:t>
            </a:r>
            <a:endParaRPr b="1" i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088" y="902277"/>
            <a:ext cx="6708913" cy="4241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 txBox="1"/>
          <p:nvPr/>
        </p:nvSpPr>
        <p:spPr>
          <a:xfrm>
            <a:off x="2435087" y="1138096"/>
            <a:ext cx="2872409" cy="253916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3573116" y="3122052"/>
            <a:ext cx="1853648" cy="253916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216181" y="2488380"/>
            <a:ext cx="2278542" cy="1677099"/>
          </a:xfrm>
          <a:prstGeom prst="cloudCallout">
            <a:avLst>
              <a:gd fmla="val 146900" name="adj1"/>
              <a:gd fmla="val -30867" name="adj2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We check which words match the </a:t>
            </a:r>
            <a:r>
              <a:rPr b="1" i="0" lang="en-US" sz="18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.even </a:t>
            </a:r>
            <a:r>
              <a:rPr b="0" i="0" lang="en-US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regular expression.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3405" y="3186783"/>
            <a:ext cx="3733231" cy="179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/>
          <p:nvPr/>
        </p:nvSpPr>
        <p:spPr>
          <a:xfrm>
            <a:off x="4780723" y="2507760"/>
            <a:ext cx="582621" cy="285749"/>
          </a:xfrm>
          <a:prstGeom prst="rect">
            <a:avLst/>
          </a:prstGeom>
          <a:noFill/>
          <a:ln cap="flat" cmpd="sng" w="25400">
            <a:solidFill>
              <a:srgbClr val="3241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506278" y="2512731"/>
            <a:ext cx="1713742" cy="285749"/>
          </a:xfrm>
          <a:prstGeom prst="rect">
            <a:avLst/>
          </a:prstGeom>
          <a:noFill/>
          <a:ln cap="flat" cmpd="sng" w="25400">
            <a:solidFill>
              <a:srgbClr val="3241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719861" y="503997"/>
            <a:ext cx="2278542" cy="1677099"/>
          </a:xfrm>
          <a:prstGeom prst="cloudCallout">
            <a:avLst>
              <a:gd fmla="val -49022" name="adj1"/>
              <a:gd fmla="val 72520" name="adj2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Specifies that the regular expression is compiled to an assembly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C# Regular Expression - Example</a:t>
            </a:r>
            <a:br>
              <a:rPr lang="en-US"/>
            </a:br>
            <a:endParaRPr/>
          </a:p>
        </p:txBody>
      </p:sp>
      <p:sp>
        <p:nvSpPr>
          <p:cNvPr id="142" name="Google Shape;142;p11"/>
          <p:cNvSpPr txBox="1"/>
          <p:nvPr>
            <p:ph idx="1" type="body"/>
          </p:nvPr>
        </p:nvSpPr>
        <p:spPr>
          <a:xfrm>
            <a:off x="311700" y="1152475"/>
            <a:ext cx="291416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en-US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example retrieves all HTML tags from a string.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5869" y="872189"/>
            <a:ext cx="5918131" cy="4273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7524" y="406655"/>
            <a:ext cx="2736475" cy="139981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/>
          <p:nvPr/>
        </p:nvSpPr>
        <p:spPr>
          <a:xfrm>
            <a:off x="5699114" y="4220247"/>
            <a:ext cx="3444886" cy="816996"/>
          </a:xfrm>
          <a:prstGeom prst="cloudCallout">
            <a:avLst>
              <a:gd fmla="val -58303" name="adj1"/>
              <a:gd fmla="val -101734" name="adj2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Represents the results from a single regular expression match.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4968" y="3305691"/>
            <a:ext cx="3444887" cy="25335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"/>
          <p:cNvSpPr/>
          <p:nvPr/>
        </p:nvSpPr>
        <p:spPr>
          <a:xfrm>
            <a:off x="275533" y="3247466"/>
            <a:ext cx="3444886" cy="816996"/>
          </a:xfrm>
          <a:prstGeom prst="cloudCallout">
            <a:avLst>
              <a:gd fmla="val 62587" name="adj1"/>
              <a:gd fmla="val -37257" name="adj2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explicit type is </a:t>
            </a: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MatchCollection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5785" y="1569864"/>
            <a:ext cx="5625548" cy="3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C# Regular Expression - Example</a:t>
            </a:r>
            <a:br>
              <a:rPr lang="en-US"/>
            </a:b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311701" y="1152475"/>
            <a:ext cx="3260036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en-US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example Replace all HTML tags from a string.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Learn more about Regex Class through the following link.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https://docs.microsoft.com/en-us/dotnet/api/system.text.regularexpressions.regex?view=net-5.0</a:t>
            </a: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/>
          </a:p>
        </p:txBody>
      </p:sp>
      <p:pic>
        <p:nvPicPr>
          <p:cNvPr id="155" name="Google Shape;15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4696" y="576469"/>
            <a:ext cx="3260035" cy="86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Introduction to </a:t>
            </a:r>
            <a:b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</a:b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Finite State Automata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Introduction to FSA or FSM</a:t>
            </a:r>
            <a:endParaRPr/>
          </a:p>
        </p:txBody>
      </p:sp>
      <p:sp>
        <p:nvSpPr>
          <p:cNvPr id="167" name="Google Shape;1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Finite automata is a state machine that takes a string of symbols as input and changes its state accordingly.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Finite automata is a recognizer for regular expressions.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2C2C2C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2C2C2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68" name="Google Shape;168;p14"/>
          <p:cNvGraphicFramePr/>
          <p:nvPr/>
        </p:nvGraphicFramePr>
        <p:xfrm>
          <a:off x="431261" y="23441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{12BA6CC7-2782-4DEA-BEFF-3764EE007097}</a:tableStyleId>
              </a:tblPr>
              <a:tblGrid>
                <a:gridCol w="4160450"/>
                <a:gridCol w="4160450"/>
              </a:tblGrid>
              <a:tr h="30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</a:rPr>
                        <a:t>DFA (deterministic finite automata)</a:t>
                      </a:r>
                      <a:endParaRPr b="1" sz="1400" u="none" cap="none" strike="noStrike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</a:rPr>
                        <a:t>NFA(non-deterministic finite automata)</a:t>
                      </a:r>
                      <a:endParaRPr b="1"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34300" marB="34300" marR="68575" marL="68575"/>
                </a:tc>
              </a:tr>
              <a:tr h="744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</a:rPr>
                        <a:t>The finite automata are called DFA if the machine reads an input string one symbol at a time.</a:t>
                      </a:r>
                      <a:endParaRPr b="0" sz="15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</a:rPr>
                        <a:t>The finite automata are called NFA when there exist many paths for specific input from the current state to the next state.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</a:tr>
              <a:tr h="171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  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pic>
        <p:nvPicPr>
          <p:cNvPr id="169" name="Google Shape;1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442" y="3432950"/>
            <a:ext cx="4037558" cy="1572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181" y="3444527"/>
            <a:ext cx="4037558" cy="157258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 txBox="1"/>
          <p:nvPr/>
        </p:nvSpPr>
        <p:spPr>
          <a:xfrm>
            <a:off x="1541721" y="2038688"/>
            <a:ext cx="606055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714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There are two types of finite state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C2C2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Introduction to DFA &amp; NFA</a:t>
            </a:r>
            <a:endParaRPr/>
          </a:p>
        </p:txBody>
      </p:sp>
      <p:sp>
        <p:nvSpPr>
          <p:cNvPr id="178" name="Google Shape;17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857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Example: Draw DFA and NFA with ∑ = {0, 1} accepts all strings ending with 01.</a:t>
            </a:r>
            <a:endParaRPr/>
          </a:p>
          <a:p>
            <a:pPr indent="0" lvl="0" marL="85725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DFA: </a:t>
            </a:r>
            <a:endParaRPr/>
          </a:p>
          <a:p>
            <a:pPr indent="0" lvl="0" marL="857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857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857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857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857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NFA: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1" sz="1800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C2C2C"/>
              </a:solidFill>
            </a:endParaRP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1846199" y="1920518"/>
            <a:ext cx="4166976" cy="1731946"/>
            <a:chOff x="2461598" y="2313251"/>
            <a:chExt cx="5555968" cy="2309262"/>
          </a:xfrm>
        </p:grpSpPr>
        <p:sp>
          <p:nvSpPr>
            <p:cNvPr id="180" name="Google Shape;180;p15"/>
            <p:cNvSpPr txBox="1"/>
            <p:nvPr/>
          </p:nvSpPr>
          <p:spPr>
            <a:xfrm>
              <a:off x="6312367" y="3802837"/>
              <a:ext cx="346677" cy="338555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1" name="Google Shape;181;p15"/>
            <p:cNvGrpSpPr/>
            <p:nvPr/>
          </p:nvGrpSpPr>
          <p:grpSpPr>
            <a:xfrm>
              <a:off x="2461598" y="2313251"/>
              <a:ext cx="5555968" cy="2309262"/>
              <a:chOff x="2461598" y="2313251"/>
              <a:chExt cx="5555968" cy="2309262"/>
            </a:xfrm>
          </p:grpSpPr>
          <p:sp>
            <p:nvSpPr>
              <p:cNvPr id="182" name="Google Shape;182;p15"/>
              <p:cNvSpPr/>
              <p:nvPr/>
            </p:nvSpPr>
            <p:spPr>
              <a:xfrm>
                <a:off x="7226014" y="2938069"/>
                <a:ext cx="791552" cy="65989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2C2C2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3" name="Google Shape;183;p15"/>
              <p:cNvGrpSpPr/>
              <p:nvPr/>
            </p:nvGrpSpPr>
            <p:grpSpPr>
              <a:xfrm>
                <a:off x="2461598" y="2313251"/>
                <a:ext cx="5489708" cy="2309262"/>
                <a:chOff x="2461598" y="2313251"/>
                <a:chExt cx="5489708" cy="2309262"/>
              </a:xfrm>
            </p:grpSpPr>
            <p:sp>
              <p:nvSpPr>
                <p:cNvPr id="184" name="Google Shape;184;p15"/>
                <p:cNvSpPr txBox="1"/>
                <p:nvPr/>
              </p:nvSpPr>
              <p:spPr>
                <a:xfrm>
                  <a:off x="5255245" y="2313251"/>
                  <a:ext cx="346677" cy="338555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5" name="Google Shape;185;p15"/>
                <p:cNvGrpSpPr/>
                <p:nvPr/>
              </p:nvGrpSpPr>
              <p:grpSpPr>
                <a:xfrm>
                  <a:off x="2461598" y="2344797"/>
                  <a:ext cx="5489708" cy="2277716"/>
                  <a:chOff x="2461598" y="2344797"/>
                  <a:chExt cx="5489708" cy="2277716"/>
                </a:xfrm>
              </p:grpSpPr>
              <p:sp>
                <p:nvSpPr>
                  <p:cNvPr id="186" name="Google Shape;186;p15"/>
                  <p:cNvSpPr/>
                  <p:nvPr/>
                </p:nvSpPr>
                <p:spPr>
                  <a:xfrm>
                    <a:off x="3140771" y="3033347"/>
                    <a:ext cx="649356" cy="5334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254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rPr b="0" i="0" lang="en-US" sz="1050" u="none" cap="none" strike="noStrike">
                        <a:solidFill>
                          <a:srgbClr val="2C2C2C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q0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" name="Google Shape;187;p15"/>
                  <p:cNvSpPr/>
                  <p:nvPr/>
                </p:nvSpPr>
                <p:spPr>
                  <a:xfrm>
                    <a:off x="5082210" y="2987020"/>
                    <a:ext cx="649356" cy="5334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254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rPr b="0" i="0" lang="en-US" sz="1050" u="none" cap="none" strike="noStrike">
                        <a:solidFill>
                          <a:srgbClr val="2C2C2C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q1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" name="Google Shape;188;p15"/>
                  <p:cNvSpPr/>
                  <p:nvPr/>
                </p:nvSpPr>
                <p:spPr>
                  <a:xfrm>
                    <a:off x="7301950" y="3018185"/>
                    <a:ext cx="649356" cy="5334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254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rPr b="0" i="0" lang="en-US" sz="1050" u="none" cap="none" strike="noStrike">
                        <a:solidFill>
                          <a:srgbClr val="2C2C2C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q3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89" name="Google Shape;189;p15"/>
                  <p:cNvCxnSpPr>
                    <a:stCxn id="187" idx="6"/>
                  </p:cNvCxnSpPr>
                  <p:nvPr/>
                </p:nvCxnSpPr>
                <p:spPr>
                  <a:xfrm>
                    <a:off x="5731566" y="3253720"/>
                    <a:ext cx="1479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190" name="Google Shape;190;p15"/>
                  <p:cNvCxnSpPr/>
                  <p:nvPr/>
                </p:nvCxnSpPr>
                <p:spPr>
                  <a:xfrm flipH="1" rot="10800000">
                    <a:off x="3790127" y="3268629"/>
                    <a:ext cx="1282410" cy="1220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191" name="Google Shape;191;p15"/>
                  <p:cNvCxnSpPr/>
                  <p:nvPr/>
                </p:nvCxnSpPr>
                <p:spPr>
                  <a:xfrm>
                    <a:off x="2461598" y="3315030"/>
                    <a:ext cx="6695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192" name="Google Shape;192;p15"/>
                  <p:cNvCxnSpPr>
                    <a:stCxn id="186" idx="1"/>
                    <a:endCxn id="186" idx="7"/>
                  </p:cNvCxnSpPr>
                  <p:nvPr/>
                </p:nvCxnSpPr>
                <p:spPr>
                  <a:xfrm flipH="1" rot="-5400000">
                    <a:off x="3465217" y="2882112"/>
                    <a:ext cx="600" cy="459300"/>
                  </a:xfrm>
                  <a:prstGeom prst="curvedConnector3">
                    <a:avLst>
                      <a:gd fmla="val 3562906" name="adj1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93" name="Google Shape;193;p15"/>
                  <p:cNvSpPr txBox="1"/>
                  <p:nvPr/>
                </p:nvSpPr>
                <p:spPr>
                  <a:xfrm>
                    <a:off x="3320155" y="2344797"/>
                    <a:ext cx="346677" cy="338555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rPr b="0" i="0" lang="en-US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15"/>
                  <p:cNvSpPr txBox="1"/>
                  <p:nvPr/>
                </p:nvSpPr>
                <p:spPr>
                  <a:xfrm>
                    <a:off x="4292335" y="2848681"/>
                    <a:ext cx="346677" cy="338555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rPr b="0" i="0" lang="en-US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0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95" name="Google Shape;195;p15"/>
                  <p:cNvCxnSpPr/>
                  <p:nvPr/>
                </p:nvCxnSpPr>
                <p:spPr>
                  <a:xfrm rot="-5400000">
                    <a:off x="5393325" y="2832951"/>
                    <a:ext cx="12700" cy="459164"/>
                  </a:xfrm>
                  <a:prstGeom prst="curvedConnector3">
                    <a:avLst>
                      <a:gd fmla="val 3562906" name="adj1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96" name="Google Shape;196;p15"/>
                  <p:cNvSpPr txBox="1"/>
                  <p:nvPr/>
                </p:nvSpPr>
                <p:spPr>
                  <a:xfrm>
                    <a:off x="6270961" y="2871432"/>
                    <a:ext cx="346677" cy="338555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rPr b="0" i="0" lang="en-US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97" name="Google Shape;197;p15"/>
                  <p:cNvCxnSpPr/>
                  <p:nvPr/>
                </p:nvCxnSpPr>
                <p:spPr>
                  <a:xfrm flipH="1" rot="5400000">
                    <a:off x="6438490" y="2427923"/>
                    <a:ext cx="51042" cy="2236037"/>
                  </a:xfrm>
                  <a:prstGeom prst="curvedConnector3">
                    <a:avLst>
                      <a:gd fmla="val -447866" name="adj1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98" name="Google Shape;198;p15"/>
                  <p:cNvSpPr txBox="1"/>
                  <p:nvPr/>
                </p:nvSpPr>
                <p:spPr>
                  <a:xfrm>
                    <a:off x="5340395" y="4283958"/>
                    <a:ext cx="346677" cy="338555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50"/>
                      <a:buFont typeface="Arial"/>
                      <a:buNone/>
                    </a:pPr>
                    <a:r>
                      <a:rPr b="0" i="0" lang="en-US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99" name="Google Shape;199;p15"/>
                  <p:cNvCxnSpPr>
                    <a:stCxn id="182" idx="4"/>
                    <a:endCxn id="186" idx="4"/>
                  </p:cNvCxnSpPr>
                  <p:nvPr/>
                </p:nvCxnSpPr>
                <p:spPr>
                  <a:xfrm flipH="1" rot="5400000">
                    <a:off x="5528090" y="1504266"/>
                    <a:ext cx="31200" cy="4156200"/>
                  </a:xfrm>
                  <a:prstGeom prst="curvedConnector3">
                    <a:avLst>
                      <a:gd fmla="val -2345312" name="adj1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</p:grpSp>
          </p:grpSp>
        </p:grpSp>
      </p:grpSp>
      <p:sp>
        <p:nvSpPr>
          <p:cNvPr id="200" name="Google Shape;200;p15"/>
          <p:cNvSpPr/>
          <p:nvPr/>
        </p:nvSpPr>
        <p:spPr>
          <a:xfrm>
            <a:off x="5419511" y="4237274"/>
            <a:ext cx="593664" cy="494923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15"/>
          <p:cNvGrpSpPr/>
          <p:nvPr/>
        </p:nvGrpSpPr>
        <p:grpSpPr>
          <a:xfrm>
            <a:off x="1846199" y="3791861"/>
            <a:ext cx="4117281" cy="916463"/>
            <a:chOff x="2468226" y="4750067"/>
            <a:chExt cx="5489708" cy="1221950"/>
          </a:xfrm>
        </p:grpSpPr>
        <p:sp>
          <p:nvSpPr>
            <p:cNvPr id="202" name="Google Shape;202;p15"/>
            <p:cNvSpPr/>
            <p:nvPr/>
          </p:nvSpPr>
          <p:spPr>
            <a:xfrm>
              <a:off x="3147399" y="5438617"/>
              <a:ext cx="649356" cy="5334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2C2C2C"/>
                  </a:solidFill>
                  <a:latin typeface="Arial"/>
                  <a:ea typeface="Arial"/>
                  <a:cs typeface="Arial"/>
                  <a:sym typeface="Arial"/>
                </a:rPr>
                <a:t>q0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5088838" y="5392290"/>
              <a:ext cx="649356" cy="5334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2C2C2C"/>
                  </a:solidFill>
                  <a:latin typeface="Arial"/>
                  <a:ea typeface="Arial"/>
                  <a:cs typeface="Arial"/>
                  <a:sym typeface="Arial"/>
                </a:rPr>
                <a:t>q1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7308578" y="5423455"/>
              <a:ext cx="649356" cy="5334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2C2C2C"/>
                  </a:solidFill>
                  <a:latin typeface="Arial"/>
                  <a:ea typeface="Arial"/>
                  <a:cs typeface="Arial"/>
                  <a:sym typeface="Arial"/>
                </a:rPr>
                <a:t>q3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15"/>
            <p:cNvCxnSpPr>
              <a:stCxn id="203" idx="6"/>
            </p:cNvCxnSpPr>
            <p:nvPr/>
          </p:nvCxnSpPr>
          <p:spPr>
            <a:xfrm>
              <a:off x="5738194" y="5658990"/>
              <a:ext cx="1479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6" name="Google Shape;206;p15"/>
            <p:cNvCxnSpPr/>
            <p:nvPr/>
          </p:nvCxnSpPr>
          <p:spPr>
            <a:xfrm flipH="1" rot="10800000">
              <a:off x="3796755" y="5673899"/>
              <a:ext cx="1282410" cy="12206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" name="Google Shape;207;p15"/>
            <p:cNvCxnSpPr/>
            <p:nvPr/>
          </p:nvCxnSpPr>
          <p:spPr>
            <a:xfrm>
              <a:off x="2468226" y="5720300"/>
              <a:ext cx="66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8" name="Google Shape;208;p15"/>
            <p:cNvCxnSpPr>
              <a:stCxn id="202" idx="1"/>
              <a:endCxn id="202" idx="7"/>
            </p:cNvCxnSpPr>
            <p:nvPr/>
          </p:nvCxnSpPr>
          <p:spPr>
            <a:xfrm flipH="1" rot="-5400000">
              <a:off x="3471845" y="5287382"/>
              <a:ext cx="600" cy="459300"/>
            </a:xfrm>
            <a:prstGeom prst="curvedConnector3">
              <a:avLst>
                <a:gd fmla="val 24574260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9" name="Google Shape;209;p15"/>
            <p:cNvSpPr txBox="1"/>
            <p:nvPr/>
          </p:nvSpPr>
          <p:spPr>
            <a:xfrm>
              <a:off x="3326783" y="4750067"/>
              <a:ext cx="496291" cy="338554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0,1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5"/>
            <p:cNvSpPr txBox="1"/>
            <p:nvPr/>
          </p:nvSpPr>
          <p:spPr>
            <a:xfrm>
              <a:off x="4298963" y="5253951"/>
              <a:ext cx="346677" cy="338554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5"/>
            <p:cNvSpPr txBox="1"/>
            <p:nvPr/>
          </p:nvSpPr>
          <p:spPr>
            <a:xfrm>
              <a:off x="6277589" y="5276701"/>
              <a:ext cx="346677" cy="338554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15"/>
          <p:cNvSpPr/>
          <p:nvPr/>
        </p:nvSpPr>
        <p:spPr>
          <a:xfrm>
            <a:off x="6088317" y="2011937"/>
            <a:ext cx="2996645" cy="1117189"/>
          </a:xfrm>
          <a:prstGeom prst="cloudCallout">
            <a:avLst>
              <a:gd fmla="val 18968" name="adj1"/>
              <a:gd fmla="val 76828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Do you remember the regular expression of this language?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(0|1)*01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g Questions Explained - Making Sense of English"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9714" y="3418120"/>
            <a:ext cx="2143125" cy="15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Examples on DFA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b="1" lang="en-US" cap="none"/>
              <a:t>Exercises on DFA</a:t>
            </a:r>
            <a:endParaRPr/>
          </a:p>
        </p:txBody>
      </p:sp>
      <p:sp>
        <p:nvSpPr>
          <p:cNvPr id="224" name="Google Shape;22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3716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2400"/>
              <a:t>All strings of lowercase letters that begin and end in a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rPr b="1" lang="en-US" sz="2400">
                <a:solidFill>
                  <a:srgbClr val="FF0000"/>
                </a:solidFill>
              </a:rPr>
              <a:t>RE: a[a-z]*a |a </a:t>
            </a:r>
            <a:endParaRPr/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4885" y="1915510"/>
            <a:ext cx="4086671" cy="275662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/>
          <p:nvPr/>
        </p:nvSpPr>
        <p:spPr>
          <a:xfrm>
            <a:off x="4716151" y="3765167"/>
            <a:ext cx="706492" cy="41148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17"/>
          <p:cNvCxnSpPr>
            <a:endCxn id="226" idx="0"/>
          </p:cNvCxnSpPr>
          <p:nvPr/>
        </p:nvCxnSpPr>
        <p:spPr>
          <a:xfrm>
            <a:off x="5069397" y="2860667"/>
            <a:ext cx="0" cy="904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17"/>
          <p:cNvSpPr txBox="1"/>
          <p:nvPr/>
        </p:nvSpPr>
        <p:spPr>
          <a:xfrm>
            <a:off x="4519246" y="3270739"/>
            <a:ext cx="55015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[b-z]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17"/>
          <p:cNvCxnSpPr>
            <a:stCxn id="226" idx="2"/>
            <a:endCxn id="226" idx="6"/>
          </p:cNvCxnSpPr>
          <p:nvPr/>
        </p:nvCxnSpPr>
        <p:spPr>
          <a:xfrm>
            <a:off x="4716151" y="3970907"/>
            <a:ext cx="706500" cy="600"/>
          </a:xfrm>
          <a:prstGeom prst="curvedConnector5">
            <a:avLst>
              <a:gd fmla="val -32357" name="adj1"/>
              <a:gd fmla="val 85670834" name="adj2"/>
              <a:gd fmla="val 132356" name="adj3"/>
            </a:avLst>
          </a:prstGeom>
          <a:noFill/>
          <a:ln cap="flat" cmpd="sng" w="9525">
            <a:solidFill>
              <a:srgbClr val="425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" name="Google Shape;230;p17"/>
          <p:cNvSpPr txBox="1"/>
          <p:nvPr/>
        </p:nvSpPr>
        <p:spPr>
          <a:xfrm>
            <a:off x="4296924" y="4398460"/>
            <a:ext cx="55015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[a-z]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b="1" lang="en-US" cap="none"/>
              <a:t>Exercises on DFA</a:t>
            </a:r>
            <a:r>
              <a:rPr lang="en-US" cap="none"/>
              <a:t> cont.</a:t>
            </a:r>
            <a:endParaRPr b="1" cap="none"/>
          </a:p>
        </p:txBody>
      </p:sp>
      <p:sp>
        <p:nvSpPr>
          <p:cNvPr id="236" name="Google Shape;23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3716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2400"/>
              <a:t>All strings of lowercase letters that either begin or end in a (or both)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rPr b="1" lang="en-US" sz="2400">
                <a:solidFill>
                  <a:srgbClr val="FF0000"/>
                </a:solidFill>
              </a:rPr>
              <a:t>RE: </a:t>
            </a:r>
            <a:r>
              <a:rPr b="1" i="1" lang="en-US" sz="2400">
                <a:solidFill>
                  <a:srgbClr val="FF0000"/>
                </a:solidFill>
              </a:rPr>
              <a:t>a[a-z]* | [a-z]*a </a:t>
            </a:r>
            <a:endParaRPr sz="2400"/>
          </a:p>
        </p:txBody>
      </p:sp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6625" y="1844016"/>
            <a:ext cx="5172424" cy="3234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Exercises on DFA cont.</a:t>
            </a:r>
            <a:endParaRPr/>
          </a:p>
        </p:txBody>
      </p:sp>
      <p:sp>
        <p:nvSpPr>
          <p:cNvPr id="243" name="Google Shape;24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3716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100"/>
              <a:t>All strings of a’s and b’s that contain no three consecutive b’s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lang="en-US" sz="2100">
                <a:solidFill>
                  <a:srgbClr val="FF0000"/>
                </a:solidFill>
              </a:rPr>
              <a:t>RE: </a:t>
            </a:r>
            <a:r>
              <a:rPr b="1" i="1" lang="en-US" sz="2100">
                <a:solidFill>
                  <a:srgbClr val="FF0000"/>
                </a:solidFill>
              </a:rPr>
              <a:t>(a|ba|bba)*(b|bb)?</a:t>
            </a:r>
            <a:endParaRPr sz="2100"/>
          </a:p>
        </p:txBody>
      </p:sp>
      <p:pic>
        <p:nvPicPr>
          <p:cNvPr id="244" name="Google Shape;2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1482" y="2230819"/>
            <a:ext cx="6153404" cy="27116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19"/>
          <p:cNvCxnSpPr/>
          <p:nvPr/>
        </p:nvCxnSpPr>
        <p:spPr>
          <a:xfrm>
            <a:off x="8343872" y="3371242"/>
            <a:ext cx="363900" cy="96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p19"/>
          <p:cNvSpPr txBox="1"/>
          <p:nvPr/>
        </p:nvSpPr>
        <p:spPr>
          <a:xfrm>
            <a:off x="8290075" y="3642254"/>
            <a:ext cx="518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Examples on NFA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b="1" lang="en-US" cap="none"/>
              <a:t>Exercises on NFA</a:t>
            </a:r>
            <a:endParaRPr/>
          </a:p>
        </p:txBody>
      </p:sp>
      <p:sp>
        <p:nvSpPr>
          <p:cNvPr id="257" name="Google Shape;25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2400">
                <a:solidFill>
                  <a:srgbClr val="FF0000"/>
                </a:solidFill>
              </a:rPr>
              <a:t>RE: </a:t>
            </a:r>
            <a:r>
              <a:rPr b="1" i="1" lang="en-US" sz="2400">
                <a:solidFill>
                  <a:srgbClr val="FF0000"/>
                </a:solidFill>
              </a:rPr>
              <a:t>(a|b)* ac</a:t>
            </a:r>
            <a:endParaRPr sz="2400"/>
          </a:p>
        </p:txBody>
      </p:sp>
      <p:grpSp>
        <p:nvGrpSpPr>
          <p:cNvPr id="258" name="Google Shape;258;p21"/>
          <p:cNvGrpSpPr/>
          <p:nvPr/>
        </p:nvGrpSpPr>
        <p:grpSpPr>
          <a:xfrm>
            <a:off x="2290370" y="2324306"/>
            <a:ext cx="4295948" cy="1019571"/>
            <a:chOff x="5209480" y="4106907"/>
            <a:chExt cx="5727930" cy="1359428"/>
          </a:xfrm>
        </p:grpSpPr>
        <p:sp>
          <p:nvSpPr>
            <p:cNvPr id="259" name="Google Shape;259;p21"/>
            <p:cNvSpPr/>
            <p:nvPr/>
          </p:nvSpPr>
          <p:spPr>
            <a:xfrm>
              <a:off x="5730880" y="4786613"/>
              <a:ext cx="662151" cy="6779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orbel"/>
                  <a:ea typeface="Corbel"/>
                  <a:cs typeface="Corbel"/>
                  <a:sym typeface="Corbel"/>
                </a:rPr>
                <a:t>q0</a:t>
              </a:r>
              <a:endPara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10275259" y="4788418"/>
              <a:ext cx="662151" cy="6779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8087326" y="4788418"/>
              <a:ext cx="662151" cy="6779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orbel"/>
                  <a:ea typeface="Corbel"/>
                  <a:cs typeface="Corbel"/>
                  <a:sym typeface="Corbel"/>
                </a:rPr>
                <a:t>q1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10326919" y="4841234"/>
              <a:ext cx="558831" cy="57228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orbel"/>
                  <a:ea typeface="Corbel"/>
                  <a:cs typeface="Corbel"/>
                  <a:sym typeface="Corbel"/>
                </a:rPr>
                <a:t>q2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21"/>
            <p:cNvCxnSpPr>
              <a:endCxn id="259" idx="2"/>
            </p:cNvCxnSpPr>
            <p:nvPr/>
          </p:nvCxnSpPr>
          <p:spPr>
            <a:xfrm>
              <a:off x="5209480" y="5125572"/>
              <a:ext cx="521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64" name="Google Shape;264;p21"/>
            <p:cNvSpPr txBox="1"/>
            <p:nvPr/>
          </p:nvSpPr>
          <p:spPr>
            <a:xfrm>
              <a:off x="7028526" y="4780271"/>
              <a:ext cx="298480" cy="369292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50" spcFirstLastPara="1" rIns="6855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chemeClr val="dk2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9358320" y="4780271"/>
              <a:ext cx="285656" cy="369292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50" spcFirstLastPara="1" rIns="6855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chemeClr val="dk2"/>
                  </a:solidFill>
                  <a:latin typeface="Corbel"/>
                  <a:ea typeface="Corbel"/>
                  <a:cs typeface="Corbel"/>
                  <a:sym typeface="Corbe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5974344" y="4106907"/>
              <a:ext cx="529312" cy="369292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50" spcFirstLastPara="1" rIns="6855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chemeClr val="dk2"/>
                  </a:solidFill>
                  <a:latin typeface="Corbel"/>
                  <a:ea typeface="Corbel"/>
                  <a:cs typeface="Corbel"/>
                  <a:sym typeface="Corbel"/>
                </a:rPr>
                <a:t>a, 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7" name="Google Shape;267;p21"/>
            <p:cNvCxnSpPr>
              <a:stCxn id="259" idx="6"/>
              <a:endCxn id="261" idx="2"/>
            </p:cNvCxnSpPr>
            <p:nvPr/>
          </p:nvCxnSpPr>
          <p:spPr>
            <a:xfrm>
              <a:off x="6393031" y="5125572"/>
              <a:ext cx="1694400" cy="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68" name="Google Shape;268;p21"/>
            <p:cNvCxnSpPr>
              <a:stCxn id="261" idx="6"/>
              <a:endCxn id="260" idx="2"/>
            </p:cNvCxnSpPr>
            <p:nvPr/>
          </p:nvCxnSpPr>
          <p:spPr>
            <a:xfrm>
              <a:off x="8749477" y="5127377"/>
              <a:ext cx="1525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69" name="Google Shape;269;p21"/>
            <p:cNvCxnSpPr>
              <a:stCxn id="259" idx="1"/>
              <a:endCxn id="259" idx="7"/>
            </p:cNvCxnSpPr>
            <p:nvPr/>
          </p:nvCxnSpPr>
          <p:spPr>
            <a:xfrm flipH="1" rot="-5400000">
              <a:off x="6061700" y="4652042"/>
              <a:ext cx="600" cy="468300"/>
            </a:xfrm>
            <a:prstGeom prst="curvedConnector3">
              <a:avLst>
                <a:gd fmla="val 41629860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270" name="Google Shape;270;p21"/>
          <p:cNvSpPr txBox="1"/>
          <p:nvPr/>
        </p:nvSpPr>
        <p:spPr>
          <a:xfrm>
            <a:off x="1466557" y="2571750"/>
            <a:ext cx="4028699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Exercises on NFA cont.</a:t>
            </a:r>
            <a:endParaRPr/>
          </a:p>
        </p:txBody>
      </p:sp>
      <p:sp>
        <p:nvSpPr>
          <p:cNvPr id="276" name="Google Shape;27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2400">
                <a:solidFill>
                  <a:srgbClr val="FF0000"/>
                </a:solidFill>
              </a:rPr>
              <a:t>RE: </a:t>
            </a:r>
            <a:r>
              <a:rPr b="1" i="1" lang="en-US" sz="2400">
                <a:solidFill>
                  <a:srgbClr val="FF0000"/>
                </a:solidFill>
              </a:rPr>
              <a:t>a(bab)* | a(ba)*</a:t>
            </a:r>
            <a:endParaRPr sz="2400"/>
          </a:p>
        </p:txBody>
      </p:sp>
      <p:sp>
        <p:nvSpPr>
          <p:cNvPr id="277" name="Google Shape;277;p22"/>
          <p:cNvSpPr/>
          <p:nvPr/>
        </p:nvSpPr>
        <p:spPr>
          <a:xfrm>
            <a:off x="3405352" y="3198429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713889" y="2571747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4713889" y="3974880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6286500" y="3974880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6020456" y="1761789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7327024" y="2571746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22"/>
          <p:cNvCxnSpPr>
            <a:stCxn id="277" idx="7"/>
            <a:endCxn id="278" idx="2"/>
          </p:cNvCxnSpPr>
          <p:nvPr/>
        </p:nvCxnSpPr>
        <p:spPr>
          <a:xfrm flipH="1" rot="10800000">
            <a:off x="3829238" y="2825888"/>
            <a:ext cx="884700" cy="44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4" name="Google Shape;284;p22"/>
          <p:cNvCxnSpPr>
            <a:stCxn id="277" idx="5"/>
            <a:endCxn id="279" idx="2"/>
          </p:cNvCxnSpPr>
          <p:nvPr/>
        </p:nvCxnSpPr>
        <p:spPr>
          <a:xfrm>
            <a:off x="3829238" y="3632408"/>
            <a:ext cx="884700" cy="5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5" name="Google Shape;285;p22"/>
          <p:cNvCxnSpPr>
            <a:stCxn id="278" idx="7"/>
            <a:endCxn id="281" idx="3"/>
          </p:cNvCxnSpPr>
          <p:nvPr/>
        </p:nvCxnSpPr>
        <p:spPr>
          <a:xfrm flipH="1" rot="10800000">
            <a:off x="5137775" y="2195906"/>
            <a:ext cx="955500" cy="4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6" name="Google Shape;286;p22"/>
          <p:cNvCxnSpPr>
            <a:stCxn id="281" idx="5"/>
            <a:endCxn id="282" idx="1"/>
          </p:cNvCxnSpPr>
          <p:nvPr/>
        </p:nvCxnSpPr>
        <p:spPr>
          <a:xfrm>
            <a:off x="6444342" y="2195768"/>
            <a:ext cx="955500" cy="4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7" name="Google Shape;287;p22"/>
          <p:cNvCxnSpPr>
            <a:stCxn id="282" idx="2"/>
            <a:endCxn id="278" idx="6"/>
          </p:cNvCxnSpPr>
          <p:nvPr/>
        </p:nvCxnSpPr>
        <p:spPr>
          <a:xfrm rot="10800000">
            <a:off x="5210524" y="2825965"/>
            <a:ext cx="211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8" name="Google Shape;288;p22"/>
          <p:cNvCxnSpPr>
            <a:stCxn id="279" idx="7"/>
            <a:endCxn id="280" idx="1"/>
          </p:cNvCxnSpPr>
          <p:nvPr/>
        </p:nvCxnSpPr>
        <p:spPr>
          <a:xfrm flipH="1" rot="-5400000">
            <a:off x="5748275" y="3438839"/>
            <a:ext cx="600" cy="1221600"/>
          </a:xfrm>
          <a:prstGeom prst="curvedConnector3">
            <a:avLst>
              <a:gd fmla="val -401911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9" name="Google Shape;289;p22"/>
          <p:cNvCxnSpPr>
            <a:stCxn id="280" idx="3"/>
            <a:endCxn id="279" idx="5"/>
          </p:cNvCxnSpPr>
          <p:nvPr/>
        </p:nvCxnSpPr>
        <p:spPr>
          <a:xfrm rot="5400000">
            <a:off x="5748127" y="3798359"/>
            <a:ext cx="600" cy="1221600"/>
          </a:xfrm>
          <a:prstGeom prst="curvedConnector3">
            <a:avLst>
              <a:gd fmla="val 4019105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0" name="Google Shape;290;p22"/>
          <p:cNvSpPr/>
          <p:nvPr/>
        </p:nvSpPr>
        <p:spPr>
          <a:xfrm>
            <a:off x="4752634" y="4012954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4752634" y="2611357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22"/>
          <p:cNvCxnSpPr>
            <a:endCxn id="277" idx="2"/>
          </p:cNvCxnSpPr>
          <p:nvPr/>
        </p:nvCxnSpPr>
        <p:spPr>
          <a:xfrm>
            <a:off x="3014452" y="3452648"/>
            <a:ext cx="39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3" name="Google Shape;293;p22"/>
          <p:cNvSpPr txBox="1"/>
          <p:nvPr/>
        </p:nvSpPr>
        <p:spPr>
          <a:xfrm>
            <a:off x="4194545" y="3040571"/>
            <a:ext cx="223860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4196915" y="3648649"/>
            <a:ext cx="223860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641334" y="4670011"/>
            <a:ext cx="223860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5641333" y="3510150"/>
            <a:ext cx="231074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6922046" y="2143987"/>
            <a:ext cx="223860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6170962" y="2825965"/>
            <a:ext cx="231074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5477578" y="2145946"/>
            <a:ext cx="231074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b="1" lang="en-US" cap="none"/>
              <a:t>Exercises on NFA</a:t>
            </a:r>
            <a:r>
              <a:rPr lang="en-US" cap="none"/>
              <a:t> cont.</a:t>
            </a:r>
            <a:endParaRPr/>
          </a:p>
        </p:txBody>
      </p:sp>
      <p:sp>
        <p:nvSpPr>
          <p:cNvPr id="305" name="Google Shape;30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2400">
                <a:solidFill>
                  <a:srgbClr val="FF0000"/>
                </a:solidFill>
              </a:rPr>
              <a:t>RE: </a:t>
            </a:r>
            <a:r>
              <a:rPr b="1" i="1" lang="en-US" sz="2400">
                <a:solidFill>
                  <a:srgbClr val="FF0000"/>
                </a:solidFill>
              </a:rPr>
              <a:t>== | !=</a:t>
            </a:r>
            <a:endParaRPr sz="2400"/>
          </a:p>
        </p:txBody>
      </p:sp>
      <p:sp>
        <p:nvSpPr>
          <p:cNvPr id="306" name="Google Shape;306;p23"/>
          <p:cNvSpPr/>
          <p:nvPr/>
        </p:nvSpPr>
        <p:spPr>
          <a:xfrm>
            <a:off x="2253997" y="3245355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7636138" y="2571747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7636138" y="3916144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4414354" y="3916144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4414354" y="2571744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5917196" y="2571754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7674882" y="3954217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7674882" y="2611357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23"/>
          <p:cNvCxnSpPr>
            <a:endCxn id="306" idx="2"/>
          </p:cNvCxnSpPr>
          <p:nvPr/>
        </p:nvCxnSpPr>
        <p:spPr>
          <a:xfrm>
            <a:off x="1862797" y="3499574"/>
            <a:ext cx="391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5" name="Google Shape;315;p23"/>
          <p:cNvSpPr/>
          <p:nvPr/>
        </p:nvSpPr>
        <p:spPr>
          <a:xfrm>
            <a:off x="5917196" y="3916144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23"/>
          <p:cNvCxnSpPr>
            <a:endCxn id="311" idx="2"/>
          </p:cNvCxnSpPr>
          <p:nvPr/>
        </p:nvCxnSpPr>
        <p:spPr>
          <a:xfrm>
            <a:off x="4910996" y="2825973"/>
            <a:ext cx="100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7" name="Google Shape;317;p23"/>
          <p:cNvCxnSpPr>
            <a:stCxn id="311" idx="6"/>
            <a:endCxn id="307" idx="2"/>
          </p:cNvCxnSpPr>
          <p:nvPr/>
        </p:nvCxnSpPr>
        <p:spPr>
          <a:xfrm>
            <a:off x="6413809" y="2825973"/>
            <a:ext cx="1222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8" name="Google Shape;318;p23"/>
          <p:cNvCxnSpPr>
            <a:stCxn id="309" idx="6"/>
            <a:endCxn id="315" idx="2"/>
          </p:cNvCxnSpPr>
          <p:nvPr/>
        </p:nvCxnSpPr>
        <p:spPr>
          <a:xfrm>
            <a:off x="4910967" y="4170363"/>
            <a:ext cx="100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9" name="Google Shape;319;p23"/>
          <p:cNvCxnSpPr>
            <a:stCxn id="315" idx="6"/>
            <a:endCxn id="308" idx="2"/>
          </p:cNvCxnSpPr>
          <p:nvPr/>
        </p:nvCxnSpPr>
        <p:spPr>
          <a:xfrm>
            <a:off x="6413809" y="4170363"/>
            <a:ext cx="1222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0" name="Google Shape;320;p23"/>
          <p:cNvCxnSpPr>
            <a:stCxn id="306" idx="7"/>
            <a:endCxn id="310" idx="2"/>
          </p:cNvCxnSpPr>
          <p:nvPr/>
        </p:nvCxnSpPr>
        <p:spPr>
          <a:xfrm flipH="1" rot="10800000">
            <a:off x="2677883" y="2826014"/>
            <a:ext cx="1736400" cy="493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1" name="Google Shape;321;p23"/>
          <p:cNvCxnSpPr>
            <a:stCxn id="306" idx="5"/>
            <a:endCxn id="309" idx="2"/>
          </p:cNvCxnSpPr>
          <p:nvPr/>
        </p:nvCxnSpPr>
        <p:spPr>
          <a:xfrm>
            <a:off x="2677883" y="3679334"/>
            <a:ext cx="1736400" cy="491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2" name="Google Shape;322;p23"/>
          <p:cNvSpPr txBox="1"/>
          <p:nvPr/>
        </p:nvSpPr>
        <p:spPr>
          <a:xfrm>
            <a:off x="5300348" y="2548974"/>
            <a:ext cx="227466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5300348" y="3888028"/>
            <a:ext cx="184185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6911240" y="2548963"/>
            <a:ext cx="227466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6911240" y="3891825"/>
            <a:ext cx="227466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3432385" y="2766165"/>
            <a:ext cx="235883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3432385" y="3611029"/>
            <a:ext cx="235883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Exercises on NFA cont.</a:t>
            </a:r>
            <a:endParaRPr/>
          </a:p>
        </p:txBody>
      </p:sp>
      <p:sp>
        <p:nvSpPr>
          <p:cNvPr id="333" name="Google Shape;3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2400">
                <a:solidFill>
                  <a:srgbClr val="FF0000"/>
                </a:solidFill>
              </a:rPr>
              <a:t>RE: </a:t>
            </a:r>
            <a:r>
              <a:rPr b="1" i="1" lang="en-US" sz="2400">
                <a:solidFill>
                  <a:srgbClr val="FF0000"/>
                </a:solidFill>
              </a:rPr>
              <a:t>a (b|c)*</a:t>
            </a:r>
            <a:endParaRPr sz="2400"/>
          </a:p>
        </p:txBody>
      </p:sp>
      <p:sp>
        <p:nvSpPr>
          <p:cNvPr id="334" name="Google Shape;334;p24"/>
          <p:cNvSpPr/>
          <p:nvPr/>
        </p:nvSpPr>
        <p:spPr>
          <a:xfrm>
            <a:off x="4571993" y="2594691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4571993" y="3874995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24"/>
          <p:cNvCxnSpPr>
            <a:stCxn id="337" idx="6"/>
          </p:cNvCxnSpPr>
          <p:nvPr/>
        </p:nvCxnSpPr>
        <p:spPr>
          <a:xfrm>
            <a:off x="1682469" y="3499574"/>
            <a:ext cx="57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8" name="Google Shape;338;p24"/>
          <p:cNvCxnSpPr>
            <a:stCxn id="334" idx="6"/>
            <a:endCxn id="339" idx="2"/>
          </p:cNvCxnSpPr>
          <p:nvPr/>
        </p:nvCxnSpPr>
        <p:spPr>
          <a:xfrm>
            <a:off x="5068606" y="2848910"/>
            <a:ext cx="100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0" name="Google Shape;340;p24"/>
          <p:cNvCxnSpPr>
            <a:stCxn id="341" idx="7"/>
            <a:endCxn id="334" idx="2"/>
          </p:cNvCxnSpPr>
          <p:nvPr/>
        </p:nvCxnSpPr>
        <p:spPr>
          <a:xfrm flipH="1" rot="10800000">
            <a:off x="2677884" y="2848815"/>
            <a:ext cx="1894200" cy="47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2" name="Google Shape;342;p24"/>
          <p:cNvCxnSpPr>
            <a:stCxn id="341" idx="5"/>
            <a:endCxn id="335" idx="2"/>
          </p:cNvCxnSpPr>
          <p:nvPr/>
        </p:nvCxnSpPr>
        <p:spPr>
          <a:xfrm>
            <a:off x="2677884" y="3679335"/>
            <a:ext cx="1894200" cy="45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3" name="Google Shape;343;p24"/>
          <p:cNvSpPr txBox="1"/>
          <p:nvPr/>
        </p:nvSpPr>
        <p:spPr>
          <a:xfrm>
            <a:off x="3432385" y="2786517"/>
            <a:ext cx="235883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 txBox="1"/>
          <p:nvPr/>
        </p:nvSpPr>
        <p:spPr>
          <a:xfrm>
            <a:off x="3432385" y="3611029"/>
            <a:ext cx="235883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6073064" y="2594691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6073064" y="2594691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q4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6111809" y="3874996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6111809" y="3874995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q5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24"/>
          <p:cNvCxnSpPr>
            <a:stCxn id="335" idx="6"/>
            <a:endCxn id="346" idx="2"/>
          </p:cNvCxnSpPr>
          <p:nvPr/>
        </p:nvCxnSpPr>
        <p:spPr>
          <a:xfrm>
            <a:off x="5068606" y="4129214"/>
            <a:ext cx="10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9" name="Google Shape;349;p24"/>
          <p:cNvCxnSpPr>
            <a:stCxn id="347" idx="3"/>
            <a:endCxn id="341" idx="4"/>
          </p:cNvCxnSpPr>
          <p:nvPr/>
        </p:nvCxnSpPr>
        <p:spPr>
          <a:xfrm flipH="1" rot="5400000">
            <a:off x="4065786" y="2190224"/>
            <a:ext cx="555300" cy="3682200"/>
          </a:xfrm>
          <a:prstGeom prst="curvedConnector3">
            <a:avLst>
              <a:gd fmla="val -442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0" name="Google Shape;350;p24"/>
          <p:cNvCxnSpPr>
            <a:stCxn id="339" idx="1"/>
            <a:endCxn id="341" idx="0"/>
          </p:cNvCxnSpPr>
          <p:nvPr/>
        </p:nvCxnSpPr>
        <p:spPr>
          <a:xfrm rot="5400000">
            <a:off x="4035891" y="1135550"/>
            <a:ext cx="576300" cy="3643500"/>
          </a:xfrm>
          <a:prstGeom prst="curvedConnector3">
            <a:avLst>
              <a:gd fmla="val -4267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7" name="Google Shape;337;p24"/>
          <p:cNvSpPr/>
          <p:nvPr/>
        </p:nvSpPr>
        <p:spPr>
          <a:xfrm>
            <a:off x="1185856" y="3245355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q0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24"/>
          <p:cNvCxnSpPr>
            <a:endCxn id="337" idx="2"/>
          </p:cNvCxnSpPr>
          <p:nvPr/>
        </p:nvCxnSpPr>
        <p:spPr>
          <a:xfrm>
            <a:off x="871456" y="3499574"/>
            <a:ext cx="31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2" name="Google Shape;352;p24"/>
          <p:cNvSpPr txBox="1"/>
          <p:nvPr/>
        </p:nvSpPr>
        <p:spPr>
          <a:xfrm>
            <a:off x="4206106" y="2141592"/>
            <a:ext cx="235883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4"/>
          <p:cNvSpPr txBox="1"/>
          <p:nvPr/>
        </p:nvSpPr>
        <p:spPr>
          <a:xfrm>
            <a:off x="4088165" y="4565560"/>
            <a:ext cx="235883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1856303" y="3231370"/>
            <a:ext cx="223860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5478277" y="2848910"/>
            <a:ext cx="231074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5458904" y="3853003"/>
            <a:ext cx="214242" cy="2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2253998" y="3245356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2292742" y="3284966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4610737" y="2634301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4610737" y="3915395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Extra Exercise on NFA</a:t>
            </a:r>
            <a:endParaRPr/>
          </a:p>
        </p:txBody>
      </p:sp>
      <p:sp>
        <p:nvSpPr>
          <p:cNvPr id="365" name="Google Shape;36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>
                <a:solidFill>
                  <a:srgbClr val="FF0000"/>
                </a:solidFill>
              </a:rPr>
              <a:t>RE: </a:t>
            </a:r>
            <a:r>
              <a:rPr b="1" i="1" lang="en-US">
                <a:solidFill>
                  <a:srgbClr val="FF0000"/>
                </a:solidFill>
              </a:rPr>
              <a:t>(0|1)* (00 | 11)</a:t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3413609" y="3290229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7327024" y="3290229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5344807" y="4415792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5370316" y="2030226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7365769" y="3328302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25"/>
          <p:cNvCxnSpPr>
            <a:endCxn id="366" idx="2"/>
          </p:cNvCxnSpPr>
          <p:nvPr/>
        </p:nvCxnSpPr>
        <p:spPr>
          <a:xfrm>
            <a:off x="3022709" y="3544448"/>
            <a:ext cx="390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2" name="Google Shape;372;p25"/>
          <p:cNvSpPr txBox="1"/>
          <p:nvPr/>
        </p:nvSpPr>
        <p:spPr>
          <a:xfrm>
            <a:off x="4194545" y="2637447"/>
            <a:ext cx="227466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/>
        </p:nvSpPr>
        <p:spPr>
          <a:xfrm>
            <a:off x="4289488" y="4107229"/>
            <a:ext cx="223860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25"/>
          <p:cNvCxnSpPr>
            <a:stCxn id="366" idx="7"/>
            <a:endCxn id="369" idx="3"/>
          </p:cNvCxnSpPr>
          <p:nvPr/>
        </p:nvCxnSpPr>
        <p:spPr>
          <a:xfrm flipH="1" rot="10800000">
            <a:off x="3837495" y="2464088"/>
            <a:ext cx="1605600" cy="90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5" name="Google Shape;375;p25"/>
          <p:cNvCxnSpPr>
            <a:stCxn id="366" idx="5"/>
            <a:endCxn id="368" idx="1"/>
          </p:cNvCxnSpPr>
          <p:nvPr/>
        </p:nvCxnSpPr>
        <p:spPr>
          <a:xfrm>
            <a:off x="3837495" y="3724208"/>
            <a:ext cx="1580100" cy="76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6" name="Google Shape;376;p25"/>
          <p:cNvCxnSpPr>
            <a:stCxn id="368" idx="7"/>
            <a:endCxn id="367" idx="3"/>
          </p:cNvCxnSpPr>
          <p:nvPr/>
        </p:nvCxnSpPr>
        <p:spPr>
          <a:xfrm flipH="1" rot="10800000">
            <a:off x="5768693" y="3724351"/>
            <a:ext cx="1631100" cy="76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7" name="Google Shape;377;p25"/>
          <p:cNvCxnSpPr>
            <a:stCxn id="369" idx="5"/>
            <a:endCxn id="367" idx="1"/>
          </p:cNvCxnSpPr>
          <p:nvPr/>
        </p:nvCxnSpPr>
        <p:spPr>
          <a:xfrm>
            <a:off x="5794202" y="2464205"/>
            <a:ext cx="1605600" cy="90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8" name="Google Shape;378;p25"/>
          <p:cNvSpPr txBox="1"/>
          <p:nvPr/>
        </p:nvSpPr>
        <p:spPr>
          <a:xfrm>
            <a:off x="6584222" y="4138792"/>
            <a:ext cx="223860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5"/>
          <p:cNvSpPr txBox="1"/>
          <p:nvPr/>
        </p:nvSpPr>
        <p:spPr>
          <a:xfrm>
            <a:off x="6743450" y="2613798"/>
            <a:ext cx="227466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25"/>
          <p:cNvCxnSpPr>
            <a:stCxn id="366" idx="1"/>
            <a:endCxn id="366" idx="7"/>
          </p:cNvCxnSpPr>
          <p:nvPr/>
        </p:nvCxnSpPr>
        <p:spPr>
          <a:xfrm flipH="1" rot="-5400000">
            <a:off x="3661686" y="3189338"/>
            <a:ext cx="600" cy="351300"/>
          </a:xfrm>
          <a:prstGeom prst="curvedConnector3">
            <a:avLst>
              <a:gd fmla="val -4019110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1" name="Google Shape;381;p25"/>
          <p:cNvSpPr txBox="1"/>
          <p:nvPr/>
        </p:nvSpPr>
        <p:spPr>
          <a:xfrm>
            <a:off x="3479624" y="2789537"/>
            <a:ext cx="386164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0, 1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hb12eb3140808bc7_0_4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/>
              <a:t>Hands-on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b12eb3140808bc7_0_0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r>
              <a:rPr b="1" lang="en-US"/>
              <a:t>Hands-on</a:t>
            </a:r>
            <a:endParaRPr/>
          </a:p>
        </p:txBody>
      </p:sp>
      <p:sp>
        <p:nvSpPr>
          <p:cNvPr id="392" name="Google Shape;392;hb12eb3140808bc7_0_0"/>
          <p:cNvSpPr txBox="1"/>
          <p:nvPr>
            <p:ph idx="1" type="body"/>
          </p:nvPr>
        </p:nvSpPr>
        <p:spPr>
          <a:xfrm>
            <a:off x="122224" y="1508760"/>
            <a:ext cx="30747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</a:pPr>
            <a:r>
              <a:rPr lang="en-US" sz="1800"/>
              <a:t>Create a windows form applications which has: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</a:pPr>
            <a:r>
              <a:rPr lang="en-US" sz="1800"/>
              <a:t>Text box.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</a:pPr>
            <a:r>
              <a:rPr lang="en-US" sz="1800"/>
              <a:t>Data grid view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</a:pPr>
            <a:r>
              <a:rPr lang="en-US" sz="1800"/>
              <a:t>Button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</a:pPr>
            <a:r>
              <a:rPr lang="en-US" sz="1800"/>
              <a:t>Create 2 regular expressions to identify: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</a:pPr>
            <a:r>
              <a:rPr lang="en-US" sz="1800"/>
              <a:t>Strings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</a:pPr>
            <a:r>
              <a:rPr lang="en-US" sz="1800"/>
              <a:t>Numbers/Integers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</a:pPr>
            <a:r>
              <a:rPr lang="en-US" sz="1800"/>
              <a:t>Display the output as shown in the figure</a:t>
            </a:r>
            <a:endParaRPr/>
          </a:p>
        </p:txBody>
      </p:sp>
      <p:pic>
        <p:nvPicPr>
          <p:cNvPr id="393" name="Google Shape;393;hb12eb3140808bc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9730" y="906120"/>
            <a:ext cx="5536097" cy="379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hb12eb3140808bc7_0_0"/>
          <p:cNvSpPr txBox="1"/>
          <p:nvPr/>
        </p:nvSpPr>
        <p:spPr>
          <a:xfrm>
            <a:off x="3309731" y="3798799"/>
            <a:ext cx="2888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 limit: 15 Mins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b12eb3140808bc7_0_7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r>
              <a:rPr b="1" lang="en-US"/>
              <a:t>Hands-on (Solution)</a:t>
            </a:r>
            <a:endParaRPr/>
          </a:p>
        </p:txBody>
      </p:sp>
      <p:sp>
        <p:nvSpPr>
          <p:cNvPr id="400" name="Google Shape;400;hb12eb3140808bc7_0_7"/>
          <p:cNvSpPr txBox="1"/>
          <p:nvPr>
            <p:ph idx="1" type="body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401" name="Google Shape;401;hb12eb3140808bc7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769" y="864349"/>
            <a:ext cx="7543799" cy="3577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/>
          <p:nvPr>
            <p:ph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</a:pPr>
            <a:r>
              <a:rPr lang="en-US" sz="8000">
                <a:solidFill>
                  <a:schemeClr val="accent3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Appendix</a:t>
            </a:r>
            <a:b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</a:b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Self-study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Extra Exercise on DFA</a:t>
            </a:r>
            <a:endParaRPr/>
          </a:p>
        </p:txBody>
      </p:sp>
      <p:sp>
        <p:nvSpPr>
          <p:cNvPr id="417" name="Google Shape;41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3716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All strings of digits that contain no leading zeros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>
                <a:solidFill>
                  <a:srgbClr val="FF0000"/>
                </a:solidFill>
              </a:rPr>
              <a:t>RE: </a:t>
            </a:r>
            <a:r>
              <a:rPr b="1" i="1" lang="en-US">
                <a:solidFill>
                  <a:srgbClr val="FF0000"/>
                </a:solidFill>
              </a:rPr>
              <a:t>[1-9][0-9]* </a:t>
            </a:r>
            <a:endParaRPr/>
          </a:p>
        </p:txBody>
      </p:sp>
      <p:pic>
        <p:nvPicPr>
          <p:cNvPr id="418" name="Google Shape;4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9036" y="2973156"/>
            <a:ext cx="5105158" cy="157913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8"/>
          <p:cNvSpPr/>
          <p:nvPr/>
        </p:nvSpPr>
        <p:spPr>
          <a:xfrm>
            <a:off x="4398035" y="2611217"/>
            <a:ext cx="732582" cy="450682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28"/>
          <p:cNvCxnSpPr>
            <a:endCxn id="419" idx="4"/>
          </p:cNvCxnSpPr>
          <p:nvPr/>
        </p:nvCxnSpPr>
        <p:spPr>
          <a:xfrm rot="10800000">
            <a:off x="4764326" y="3061899"/>
            <a:ext cx="0" cy="712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1" name="Google Shape;421;p28"/>
          <p:cNvSpPr txBox="1"/>
          <p:nvPr/>
        </p:nvSpPr>
        <p:spPr>
          <a:xfrm>
            <a:off x="4483480" y="3259717"/>
            <a:ext cx="28084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28"/>
          <p:cNvCxnSpPr>
            <a:stCxn id="419" idx="2"/>
            <a:endCxn id="419" idx="6"/>
          </p:cNvCxnSpPr>
          <p:nvPr/>
        </p:nvCxnSpPr>
        <p:spPr>
          <a:xfrm>
            <a:off x="4398035" y="2836558"/>
            <a:ext cx="732600" cy="600"/>
          </a:xfrm>
          <a:prstGeom prst="curvedConnector5">
            <a:avLst>
              <a:gd fmla="val -31204" name="adj1"/>
              <a:gd fmla="val -73540175" name="adj2"/>
              <a:gd fmla="val 131202" name="adj3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3" name="Google Shape;423;p28"/>
          <p:cNvSpPr txBox="1"/>
          <p:nvPr/>
        </p:nvSpPr>
        <p:spPr>
          <a:xfrm>
            <a:off x="4514808" y="1957146"/>
            <a:ext cx="55015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[0-9]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Extra Exercise on DFA</a:t>
            </a:r>
            <a:endParaRPr/>
          </a:p>
        </p:txBody>
      </p:sp>
      <p:sp>
        <p:nvSpPr>
          <p:cNvPr id="429" name="Google Shape;42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3716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All strings of digits that represent even numbers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>
                <a:solidFill>
                  <a:srgbClr val="FF0000"/>
                </a:solidFill>
              </a:rPr>
              <a:t>RE: </a:t>
            </a:r>
            <a:r>
              <a:rPr b="1" i="1" lang="en-US">
                <a:solidFill>
                  <a:srgbClr val="FF0000"/>
                </a:solidFill>
              </a:rPr>
              <a:t>[0-9]*[0|2|4|6|8] </a:t>
            </a:r>
            <a:endParaRPr/>
          </a:p>
        </p:txBody>
      </p:sp>
      <p:pic>
        <p:nvPicPr>
          <p:cNvPr id="430" name="Google Shape;4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6444" y="2571747"/>
            <a:ext cx="5336129" cy="212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Extra Exercise on DFA</a:t>
            </a:r>
            <a:endParaRPr/>
          </a:p>
        </p:txBody>
      </p:sp>
      <p:sp>
        <p:nvSpPr>
          <p:cNvPr id="436" name="Google Shape;43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3716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All strings of a’s and b’s that contain an odd number of a’s or an odd number of b’s </a:t>
            </a:r>
            <a:br>
              <a:rPr lang="en-US"/>
            </a:br>
            <a:r>
              <a:rPr lang="en-US"/>
              <a:t>(or both)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>
                <a:solidFill>
                  <a:srgbClr val="FF0000"/>
                </a:solidFill>
              </a:rPr>
              <a:t>RE: </a:t>
            </a:r>
            <a:r>
              <a:rPr b="1" i="1" lang="en-US">
                <a:solidFill>
                  <a:srgbClr val="FF0000"/>
                </a:solidFill>
              </a:rPr>
              <a:t>b*ab*(ab*ab*)* | a*ba*(ba*ba*)*</a:t>
            </a:r>
            <a:endParaRPr/>
          </a:p>
        </p:txBody>
      </p:sp>
      <p:pic>
        <p:nvPicPr>
          <p:cNvPr id="437" name="Google Shape;4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6427" y="2296688"/>
            <a:ext cx="5100130" cy="2834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Extra Exercise on NFA</a:t>
            </a:r>
            <a:endParaRPr/>
          </a:p>
        </p:txBody>
      </p:sp>
      <p:sp>
        <p:nvSpPr>
          <p:cNvPr id="443" name="Google Shape;44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>
                <a:solidFill>
                  <a:srgbClr val="FF0000"/>
                </a:solidFill>
              </a:rPr>
              <a:t>RE: </a:t>
            </a:r>
            <a:r>
              <a:rPr b="1" i="1" lang="en-US">
                <a:solidFill>
                  <a:srgbClr val="FF0000"/>
                </a:solidFill>
              </a:rPr>
              <a:t>[a-z]* this [a-z]*</a:t>
            </a:r>
            <a:endParaRPr/>
          </a:p>
        </p:txBody>
      </p:sp>
      <p:sp>
        <p:nvSpPr>
          <p:cNvPr id="444" name="Google Shape;444;p31"/>
          <p:cNvSpPr/>
          <p:nvPr/>
        </p:nvSpPr>
        <p:spPr>
          <a:xfrm>
            <a:off x="1075997" y="3087030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7593701" y="3087030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7632445" y="3125103"/>
            <a:ext cx="419123" cy="429215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31"/>
          <p:cNvCxnSpPr>
            <a:endCxn id="444" idx="2"/>
          </p:cNvCxnSpPr>
          <p:nvPr/>
        </p:nvCxnSpPr>
        <p:spPr>
          <a:xfrm>
            <a:off x="684797" y="3341249"/>
            <a:ext cx="391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8" name="Google Shape;448;p31"/>
          <p:cNvSpPr/>
          <p:nvPr/>
        </p:nvSpPr>
        <p:spPr>
          <a:xfrm>
            <a:off x="2500393" y="3087030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4128175" y="3086683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1"/>
          <p:cNvSpPr/>
          <p:nvPr/>
        </p:nvSpPr>
        <p:spPr>
          <a:xfrm>
            <a:off x="5712770" y="3086682"/>
            <a:ext cx="496613" cy="50843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q5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31"/>
          <p:cNvCxnSpPr>
            <a:stCxn id="444" idx="6"/>
            <a:endCxn id="448" idx="2"/>
          </p:cNvCxnSpPr>
          <p:nvPr/>
        </p:nvCxnSpPr>
        <p:spPr>
          <a:xfrm>
            <a:off x="1572610" y="3341249"/>
            <a:ext cx="92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2" name="Google Shape;452;p31"/>
          <p:cNvCxnSpPr>
            <a:stCxn id="448" idx="6"/>
            <a:endCxn id="449" idx="2"/>
          </p:cNvCxnSpPr>
          <p:nvPr/>
        </p:nvCxnSpPr>
        <p:spPr>
          <a:xfrm flipH="1" rot="10800000">
            <a:off x="2997006" y="3340949"/>
            <a:ext cx="1131300" cy="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3" name="Google Shape;453;p31"/>
          <p:cNvCxnSpPr>
            <a:stCxn id="449" idx="6"/>
            <a:endCxn id="450" idx="2"/>
          </p:cNvCxnSpPr>
          <p:nvPr/>
        </p:nvCxnSpPr>
        <p:spPr>
          <a:xfrm>
            <a:off x="4624788" y="3340902"/>
            <a:ext cx="108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4" name="Google Shape;454;p31"/>
          <p:cNvCxnSpPr>
            <a:stCxn id="450" idx="6"/>
            <a:endCxn id="445" idx="2"/>
          </p:cNvCxnSpPr>
          <p:nvPr/>
        </p:nvCxnSpPr>
        <p:spPr>
          <a:xfrm>
            <a:off x="6209383" y="3340901"/>
            <a:ext cx="1384200" cy="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55" name="Google Shape;455;p31"/>
          <p:cNvSpPr txBox="1"/>
          <p:nvPr/>
        </p:nvSpPr>
        <p:spPr>
          <a:xfrm>
            <a:off x="1937195" y="3039368"/>
            <a:ext cx="198612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1"/>
          <p:cNvSpPr txBox="1"/>
          <p:nvPr/>
        </p:nvSpPr>
        <p:spPr>
          <a:xfrm>
            <a:off x="3463284" y="3044164"/>
            <a:ext cx="231074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1"/>
          <p:cNvSpPr txBox="1"/>
          <p:nvPr/>
        </p:nvSpPr>
        <p:spPr>
          <a:xfrm>
            <a:off x="5053242" y="3039368"/>
            <a:ext cx="178175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6812454" y="3050018"/>
            <a:ext cx="208230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31"/>
          <p:cNvCxnSpPr>
            <a:stCxn id="444" idx="1"/>
            <a:endCxn id="444" idx="7"/>
          </p:cNvCxnSpPr>
          <p:nvPr/>
        </p:nvCxnSpPr>
        <p:spPr>
          <a:xfrm flipH="1" rot="-5400000">
            <a:off x="1324074" y="2986139"/>
            <a:ext cx="600" cy="351300"/>
          </a:xfrm>
          <a:prstGeom prst="curvedConnector3">
            <a:avLst>
              <a:gd fmla="val -4019110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0" name="Google Shape;460;p31"/>
          <p:cNvCxnSpPr>
            <a:stCxn id="445" idx="1"/>
            <a:endCxn id="445" idx="7"/>
          </p:cNvCxnSpPr>
          <p:nvPr/>
        </p:nvCxnSpPr>
        <p:spPr>
          <a:xfrm flipH="1" rot="-5400000">
            <a:off x="7841778" y="2986139"/>
            <a:ext cx="600" cy="351300"/>
          </a:xfrm>
          <a:prstGeom prst="curvedConnector3">
            <a:avLst>
              <a:gd fmla="val -4019110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1" name="Google Shape;461;p31"/>
          <p:cNvSpPr txBox="1"/>
          <p:nvPr/>
        </p:nvSpPr>
        <p:spPr>
          <a:xfrm>
            <a:off x="1161839" y="2629912"/>
            <a:ext cx="358512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a-z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1"/>
          <p:cNvSpPr txBox="1"/>
          <p:nvPr/>
        </p:nvSpPr>
        <p:spPr>
          <a:xfrm>
            <a:off x="7662751" y="2620343"/>
            <a:ext cx="358512" cy="2769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a-z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