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embeddedFontLst>
    <p:embeddedFont>
      <p:font typeface="Proxima Nova"/>
      <p:regular r:id="rId32"/>
      <p:bold r:id="rId33"/>
      <p:italic r:id="rId34"/>
      <p:boldItalic r:id="rId35"/>
    </p:embeddedFont>
    <p:embeddedFont>
      <p:font typeface="Google Sans"/>
      <p:regular r:id="rId36"/>
      <p:bold r:id="rId37"/>
      <p:italic r:id="rId38"/>
      <p:boldItalic r:id="rId39"/>
    </p:embeddedFont>
    <p:embeddedFont>
      <p:font typeface="Corbel"/>
      <p:regular r:id="rId40"/>
      <p:bold r:id="rId41"/>
      <p:italic r:id="rId42"/>
      <p:boldItalic r:id="rId43"/>
    </p:embeddedFont>
    <p:embeddedFont>
      <p:font typeface="Alfa Slab One"/>
      <p:regular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5" roundtripDataSignature="AMtx7mgjDU6g1gw60CN/OWdp10Rz+ek1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orbel-regular.fntdata"/><Relationship Id="rId20" Type="http://schemas.openxmlformats.org/officeDocument/2006/relationships/slide" Target="slides/slide15.xml"/><Relationship Id="rId42" Type="http://schemas.openxmlformats.org/officeDocument/2006/relationships/font" Target="fonts/Corbel-italic.fntdata"/><Relationship Id="rId41" Type="http://schemas.openxmlformats.org/officeDocument/2006/relationships/font" Target="fonts/Corbel-bold.fntdata"/><Relationship Id="rId22" Type="http://schemas.openxmlformats.org/officeDocument/2006/relationships/slide" Target="slides/slide17.xml"/><Relationship Id="rId44" Type="http://schemas.openxmlformats.org/officeDocument/2006/relationships/font" Target="fonts/AlfaSlabOne-regular.fntdata"/><Relationship Id="rId21" Type="http://schemas.openxmlformats.org/officeDocument/2006/relationships/slide" Target="slides/slide16.xml"/><Relationship Id="rId43" Type="http://schemas.openxmlformats.org/officeDocument/2006/relationships/font" Target="fonts/Corbel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ProximaNova-bold.fntdata"/><Relationship Id="rId10" Type="http://schemas.openxmlformats.org/officeDocument/2006/relationships/slide" Target="slides/slide5.xml"/><Relationship Id="rId32" Type="http://schemas.openxmlformats.org/officeDocument/2006/relationships/font" Target="fonts/ProximaNova-regular.fntdata"/><Relationship Id="rId13" Type="http://schemas.openxmlformats.org/officeDocument/2006/relationships/slide" Target="slides/slide8.xml"/><Relationship Id="rId35" Type="http://schemas.openxmlformats.org/officeDocument/2006/relationships/font" Target="fonts/ProximaNova-boldItalic.fntdata"/><Relationship Id="rId12" Type="http://schemas.openxmlformats.org/officeDocument/2006/relationships/slide" Target="slides/slide7.xml"/><Relationship Id="rId34" Type="http://schemas.openxmlformats.org/officeDocument/2006/relationships/font" Target="fonts/ProximaNova-italic.fntdata"/><Relationship Id="rId15" Type="http://schemas.openxmlformats.org/officeDocument/2006/relationships/slide" Target="slides/slide10.xml"/><Relationship Id="rId37" Type="http://schemas.openxmlformats.org/officeDocument/2006/relationships/font" Target="fonts/GoogleSans-bold.fntdata"/><Relationship Id="rId14" Type="http://schemas.openxmlformats.org/officeDocument/2006/relationships/slide" Target="slides/slide9.xml"/><Relationship Id="rId36" Type="http://schemas.openxmlformats.org/officeDocument/2006/relationships/font" Target="fonts/GoogleSans-regular.fntdata"/><Relationship Id="rId17" Type="http://schemas.openxmlformats.org/officeDocument/2006/relationships/slide" Target="slides/slide12.xml"/><Relationship Id="rId39" Type="http://schemas.openxmlformats.org/officeDocument/2006/relationships/font" Target="fonts/GoogleSans-boldItalic.fntdata"/><Relationship Id="rId16" Type="http://schemas.openxmlformats.org/officeDocument/2006/relationships/slide" Target="slides/slide11.xml"/><Relationship Id="rId38" Type="http://schemas.openxmlformats.org/officeDocument/2006/relationships/font" Target="fonts/GoogleSans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Crack for a program with license code.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Opposite: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/>
              <a:t>Program that translates machine language to assembly is called a </a:t>
            </a:r>
            <a:r>
              <a:rPr b="1" i="0" lang="en-US">
                <a:solidFill>
                  <a:srgbClr val="E3E3E3"/>
                </a:solidFill>
                <a:latin typeface="Google Sans"/>
                <a:ea typeface="Google Sans"/>
                <a:cs typeface="Google Sans"/>
                <a:sym typeface="Google Sans"/>
              </a:rPr>
              <a:t>Disassembler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b="0" i="0" lang="en-US">
                <a:solidFill>
                  <a:srgbClr val="E3E3E3"/>
                </a:solidFill>
                <a:latin typeface="Google Sans"/>
                <a:ea typeface="Google Sans"/>
                <a:cs typeface="Google Sans"/>
                <a:sym typeface="Google Sans"/>
              </a:rPr>
              <a:t>Program that </a:t>
            </a:r>
            <a:r>
              <a:rPr b="0" i="0" lang="en-US">
                <a:solidFill>
                  <a:srgbClr val="E2EEFF"/>
                </a:solidFill>
                <a:latin typeface="Google Sans"/>
                <a:ea typeface="Google Sans"/>
                <a:cs typeface="Google Sans"/>
                <a:sym typeface="Google Sans"/>
              </a:rPr>
              <a:t>translates an executable file to high-level source code is called a </a:t>
            </a:r>
            <a:r>
              <a:rPr b="1" i="0" lang="en-US">
                <a:solidFill>
                  <a:srgbClr val="E2EEFF"/>
                </a:solidFill>
                <a:latin typeface="Google Sans"/>
                <a:ea typeface="Google Sans"/>
                <a:cs typeface="Google Sans"/>
                <a:sym typeface="Google Sans"/>
              </a:rPr>
              <a:t>Decompiler</a:t>
            </a:r>
            <a:r>
              <a:rPr b="0" i="0" lang="en-US">
                <a:solidFill>
                  <a:srgbClr val="E2EEFF"/>
                </a:solidFill>
                <a:latin typeface="Google Sans"/>
                <a:ea typeface="Google Sans"/>
                <a:cs typeface="Google Sans"/>
                <a:sym typeface="Google Sans"/>
              </a:rPr>
              <a:t>.</a:t>
            </a:r>
            <a:endParaRPr b="0"/>
          </a:p>
        </p:txBody>
      </p:sp>
      <p:sp>
        <p:nvSpPr>
          <p:cNvPr id="91" name="Google Shape;91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rbel"/>
              <a:buChar char="-"/>
            </a:pPr>
            <a:r>
              <a:rPr b="0" i="0" lang="en-US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The main purpose of compiler is to change the code written in one language without changing the meaning of the program.</a:t>
            </a:r>
            <a:endParaRPr/>
          </a:p>
          <a:p>
            <a:pPr indent="-1016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4" name="Google Shape;104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In the Lexical Analysis Phase, the compiler reads the actual source program and collects sequences of characters into meaningful units called tokens</a:t>
            </a:r>
            <a:endParaRPr/>
          </a:p>
        </p:txBody>
      </p:sp>
      <p:sp>
        <p:nvSpPr>
          <p:cNvPr id="116" name="Google Shape;116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Kleene’s Regular Expressions at: http://www.cs.columbia.edu/~aho/cs3261/Lectures/L3-Regular_Expressions.html#:~:text=Kleene%20regular%20expressions.-,Kleene%20regular%20expressions,-We%20can%20specify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POSIX Regular Expressions at : http://www.cs.columbia.edu/~aho/cs3261/Lectures/L3-Regular_Expressions.html#:~:text=4.-,POSIX%20Regular%20Expressions,-The%20IEEE%20standards</a:t>
            </a:r>
            <a:endParaRPr/>
          </a:p>
        </p:txBody>
      </p:sp>
      <p:sp>
        <p:nvSpPr>
          <p:cNvPr id="124" name="Google Shape;124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Remember in the Lexical Analysis Phase, the compiler reads the actual source program and collects sequences of characters into meaningful units called tokens. Which is essentially a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pattern matching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step.</a:t>
            </a:r>
            <a:endParaRPr/>
          </a:p>
        </p:txBody>
      </p:sp>
      <p:sp>
        <p:nvSpPr>
          <p:cNvPr id="130" name="Google Shape;130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1- Steps: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a			b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a(aa)*			b(bb)*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b*a(aa)*			a*ba*(bb)*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Answer:	b*ab*(ab*ab*)*	|	a*b(ba*ba*)*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2- Examples: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aa b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aa bb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aa a a bb a bb a a a bb bb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aa b aa aa b b b b a bb a bb bb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8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8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8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" name="Google Shape;16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0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" name="Google Shape;20;p3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30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22" name="Google Shape;22;p30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3" name="Google Shape;23;p30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" name="Google Shape;27;p3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" name="Google Shape;28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2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" name="Google Shape;31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" name="Google Shape;34;p3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3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4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34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5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3" name="Google Shape;43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 showMasterSp="0">
  <p:cSld name="1_Section Header"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7"/>
          <p:cNvSpPr/>
          <p:nvPr/>
        </p:nvSpPr>
        <p:spPr>
          <a:xfrm>
            <a:off x="-5132" y="1544259"/>
            <a:ext cx="9146751" cy="13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7"/>
          <p:cNvSpPr txBox="1"/>
          <p:nvPr>
            <p:ph type="title"/>
          </p:nvPr>
        </p:nvSpPr>
        <p:spPr>
          <a:xfrm>
            <a:off x="624893" y="1656659"/>
            <a:ext cx="78867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9" name="Google Shape;49;p37"/>
          <p:cNvSpPr txBox="1"/>
          <p:nvPr>
            <p:ph idx="1" type="body"/>
          </p:nvPr>
        </p:nvSpPr>
        <p:spPr>
          <a:xfrm>
            <a:off x="624893" y="3007753"/>
            <a:ext cx="7886700" cy="88097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>
                <a:solidFill>
                  <a:srgbClr val="91AEF7"/>
                </a:solidFill>
              </a:defRPr>
            </a:lvl2pPr>
            <a:lvl3pPr indent="-228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91AEF7"/>
                </a:solidFill>
              </a:defRPr>
            </a:lvl3pPr>
            <a:lvl4pPr indent="-228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rgbClr val="91AEF7"/>
                </a:solidFill>
              </a:defRPr>
            </a:lvl4pPr>
            <a:lvl5pPr indent="-228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rgbClr val="91AEF7"/>
                </a:solidFill>
              </a:defRPr>
            </a:lvl5pPr>
            <a:lvl6pPr indent="-2286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rgbClr val="91AEF7"/>
                </a:solidFill>
              </a:defRPr>
            </a:lvl6pPr>
            <a:lvl7pPr indent="-2286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rgbClr val="91AEF7"/>
                </a:solidFill>
              </a:defRPr>
            </a:lvl7pPr>
            <a:lvl8pPr indent="-2286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rgbClr val="91AEF7"/>
                </a:solidFill>
              </a:defRPr>
            </a:lvl8pPr>
            <a:lvl9pPr indent="-2286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rgbClr val="91AEF7"/>
                </a:solidFill>
              </a:defRPr>
            </a:lvl9pPr>
          </a:lstStyle>
          <a:p/>
        </p:txBody>
      </p:sp>
      <p:sp>
        <p:nvSpPr>
          <p:cNvPr id="50" name="Google Shape;50;p37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37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b="0" i="0" sz="18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forms.gle/Mv1Pkb9YkJGggYtS7" TargetMode="External"/><Relationship Id="rId4" Type="http://schemas.openxmlformats.org/officeDocument/2006/relationships/hyperlink" Target="https://forms.gle/bW9rTjAU9DGBjSGZ6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mailto:aya.saad@cis.asu.edu.eg" TargetMode="External"/><Relationship Id="rId4" Type="http://schemas.openxmlformats.org/officeDocument/2006/relationships/hyperlink" Target="mailto:menna.elkholy@cis.asu.edu.eg" TargetMode="External"/><Relationship Id="rId5" Type="http://schemas.openxmlformats.org/officeDocument/2006/relationships/hyperlink" Target="mailto:Martina.alkesAngelos@cis.asu.edu.eg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mpiler Design [GTU] - Last Moment Tuitions" id="57" name="Google Shape;57;p1"/>
          <p:cNvPicPr preferRelativeResize="0"/>
          <p:nvPr/>
        </p:nvPicPr>
        <p:blipFill rotWithShape="1">
          <a:blip r:embed="rId3">
            <a:alphaModFix amt="12000"/>
          </a:blip>
          <a:srcRect b="31084" l="0" r="0" t="0"/>
          <a:stretch/>
        </p:blipFill>
        <p:spPr>
          <a:xfrm>
            <a:off x="-14560" y="-1"/>
            <a:ext cx="915856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-US"/>
              <a:t>Compilers Theory</a:t>
            </a:r>
            <a:endParaRPr/>
          </a:p>
        </p:txBody>
      </p:sp>
      <p:sp>
        <p:nvSpPr>
          <p:cNvPr id="59" name="Google Shape;59;p1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Lab 1</a:t>
            </a:r>
            <a:endParaRPr b="1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ct val="92593"/>
              <a:buNone/>
            </a:pPr>
            <a:r>
              <a:rPr lang="en-US" sz="3600"/>
              <a:t>Agenda</a:t>
            </a:r>
            <a:endParaRPr sz="2400"/>
          </a:p>
        </p:txBody>
      </p:sp>
      <p:sp>
        <p:nvSpPr>
          <p:cNvPr id="65" name="Google Shape;65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Course Orientation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Introduction to Compilers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Regular Expressions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Appendix (Self-Study)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lang="en-US"/>
              <a:t>Course Orientation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ct val="92593"/>
              <a:buNone/>
            </a:pPr>
            <a:r>
              <a:rPr lang="en-US" sz="3600"/>
              <a:t>Course Orientation</a:t>
            </a:r>
            <a:endParaRPr sz="2400"/>
          </a:p>
        </p:txBody>
      </p:sp>
      <p:sp>
        <p:nvSpPr>
          <p:cNvPr id="76" name="Google Shape;76;p4"/>
          <p:cNvSpPr txBox="1"/>
          <p:nvPr>
            <p:ph idx="1" type="body"/>
          </p:nvPr>
        </p:nvSpPr>
        <p:spPr>
          <a:xfrm>
            <a:off x="311700" y="1152474"/>
            <a:ext cx="8520600" cy="39910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u="sng"/>
              <a:t>Prepare a team of 6 members for the project</a:t>
            </a:r>
            <a:endParaRPr b="1" u="sng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Registration Form: </a:t>
            </a:r>
            <a:endParaRPr b="1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US"/>
              <a:t>Deadline: </a:t>
            </a:r>
            <a:r>
              <a:rPr lang="en-US"/>
              <a:t>Saturday, October 3, 2026, at 8 PM.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 </a:t>
            </a:r>
            <a:r>
              <a:rPr b="1" lang="en-US"/>
              <a:t>Link:</a:t>
            </a:r>
            <a:r>
              <a:rPr lang="en-US"/>
              <a:t>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https://forms.gle/Mv1Pkb9YkJGggYtS7</a:t>
            </a:r>
            <a:r>
              <a:rPr lang="en-US"/>
              <a:t> 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Registration Form for Unregistered Students:  </a:t>
            </a:r>
            <a:endParaRPr b="1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This form will be opened on Saturday,</a:t>
            </a:r>
            <a:r>
              <a:rPr lang="en-US"/>
              <a:t> October 3, 2026, at 8 PM.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US"/>
              <a:t>Deadline: </a:t>
            </a:r>
            <a:r>
              <a:rPr lang="en-US"/>
              <a:t> Monday, October 5, 2026, at 8 PM.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US"/>
              <a:t>Link:</a:t>
            </a:r>
            <a:r>
              <a:rPr lang="en-US"/>
              <a:t>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https://forms.gle/bW9rTjAU9DGBjSGZ6</a:t>
            </a:r>
            <a:r>
              <a:rPr lang="en-US"/>
              <a:t> 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2 </a:t>
            </a:r>
            <a:r>
              <a:rPr b="1" lang="en-US"/>
              <a:t>Quizzes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Project</a:t>
            </a:r>
            <a:r>
              <a:rPr lang="en-US"/>
              <a:t> will be delivered in 3 Milestones.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ct val="92593"/>
              <a:buNone/>
            </a:pPr>
            <a:r>
              <a:rPr lang="en-US" sz="3600"/>
              <a:t>Course Orientation</a:t>
            </a:r>
            <a:endParaRPr sz="2400"/>
          </a:p>
        </p:txBody>
      </p:sp>
      <p:sp>
        <p:nvSpPr>
          <p:cNvPr id="82" name="Google Shape;82;p5"/>
          <p:cNvSpPr txBox="1"/>
          <p:nvPr>
            <p:ph idx="1" type="body"/>
          </p:nvPr>
        </p:nvSpPr>
        <p:spPr>
          <a:xfrm>
            <a:off x="311700" y="1152474"/>
            <a:ext cx="8520600" cy="39910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Having an issue? Feel free to contact me</a:t>
            </a:r>
            <a:endParaRPr b="1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AL. </a:t>
            </a:r>
            <a:r>
              <a:rPr b="1" lang="en-US"/>
              <a:t>Aya Saad: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aya.saad@cis.asu.edu.eg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Mena Elkholy</a:t>
            </a:r>
            <a:r>
              <a:rPr lang="en-US"/>
              <a:t>: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menna.elkholy@cis.asu.edu.eg</a:t>
            </a:r>
            <a:r>
              <a:rPr lang="en-US"/>
              <a:t> 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TA. Martina Elkes</a:t>
            </a:r>
            <a:r>
              <a:rPr lang="en-US"/>
              <a:t>: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Martina.alkesAngelos@cis.asu.edu.eg</a:t>
            </a:r>
            <a:r>
              <a:rPr lang="en-US"/>
              <a:t> 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lang="en-US"/>
              <a:t>Introduction to compilers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cap="none"/>
              <a:t>Introduction to Compilers</a:t>
            </a:r>
            <a:endParaRPr/>
          </a:p>
        </p:txBody>
      </p:sp>
      <p:sp>
        <p:nvSpPr>
          <p:cNvPr id="94" name="Google Shape;94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descr="Image result" id="95" name="Google Shape;95;p7"/>
          <p:cNvPicPr preferRelativeResize="0"/>
          <p:nvPr>
            <p:ph idx="4294967295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6888" y="1128713"/>
            <a:ext cx="6858000" cy="40147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6" name="Google Shape;96;p7"/>
          <p:cNvCxnSpPr/>
          <p:nvPr/>
        </p:nvCxnSpPr>
        <p:spPr>
          <a:xfrm>
            <a:off x="6398597" y="2565844"/>
            <a:ext cx="0" cy="462536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</p:cxnSp>
      <p:sp>
        <p:nvSpPr>
          <p:cNvPr id="97" name="Google Shape;97;p7"/>
          <p:cNvSpPr txBox="1"/>
          <p:nvPr/>
        </p:nvSpPr>
        <p:spPr>
          <a:xfrm>
            <a:off x="6614621" y="2542327"/>
            <a:ext cx="1026114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Compiler</a:t>
            </a:r>
            <a:endParaRPr/>
          </a:p>
        </p:txBody>
      </p:sp>
      <p:sp>
        <p:nvSpPr>
          <p:cNvPr id="98" name="Google Shape;98;p7"/>
          <p:cNvSpPr txBox="1"/>
          <p:nvPr/>
        </p:nvSpPr>
        <p:spPr>
          <a:xfrm>
            <a:off x="6776639" y="3129424"/>
            <a:ext cx="1204752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Assembler</a:t>
            </a:r>
            <a:endParaRPr/>
          </a:p>
        </p:txBody>
      </p:sp>
      <p:cxnSp>
        <p:nvCxnSpPr>
          <p:cNvPr id="99" name="Google Shape;99;p7"/>
          <p:cNvCxnSpPr/>
          <p:nvPr/>
        </p:nvCxnSpPr>
        <p:spPr>
          <a:xfrm>
            <a:off x="6614621" y="3136393"/>
            <a:ext cx="0" cy="462536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</p:cxnSp>
      <p:sp>
        <p:nvSpPr>
          <p:cNvPr id="100" name="Google Shape;100;p7"/>
          <p:cNvSpPr txBox="1"/>
          <p:nvPr/>
        </p:nvSpPr>
        <p:spPr>
          <a:xfrm>
            <a:off x="5763235" y="3549400"/>
            <a:ext cx="972108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0’s &amp; 1’s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cap="none"/>
              <a:t>Introduction to Compilers</a:t>
            </a:r>
            <a:endParaRPr/>
          </a:p>
        </p:txBody>
      </p:sp>
      <p:sp>
        <p:nvSpPr>
          <p:cNvPr id="107" name="Google Shape;107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>
                <a:solidFill>
                  <a:srgbClr val="2C2C2C"/>
                </a:solidFill>
              </a:rPr>
              <a:t>Compilers are computer programs that translate from language to another. (translates high-level language program into low-level machine language.)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2C2C2C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2C2C2C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2C2C2C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2C2C2C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>
                <a:solidFill>
                  <a:srgbClr val="2C2C2C"/>
                </a:solidFill>
              </a:rPr>
              <a:t>Why are Compilers important?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US">
                <a:solidFill>
                  <a:srgbClr val="2C2C2C"/>
                </a:solidFill>
              </a:rPr>
              <a:t>Much easier for the programmer to write high-level language and focus on solving problems.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US">
                <a:solidFill>
                  <a:srgbClr val="2C2C2C"/>
                </a:solidFill>
              </a:rPr>
              <a:t>Compilers can spot programming mistakes.</a:t>
            </a:r>
            <a:endParaRPr/>
          </a:p>
        </p:txBody>
      </p:sp>
      <p:sp>
        <p:nvSpPr>
          <p:cNvPr id="108" name="Google Shape;108;p8"/>
          <p:cNvSpPr/>
          <p:nvPr/>
        </p:nvSpPr>
        <p:spPr>
          <a:xfrm>
            <a:off x="3948742" y="2293549"/>
            <a:ext cx="1358660" cy="517585"/>
          </a:xfrm>
          <a:prstGeom prst="rect">
            <a:avLst/>
          </a:prstGeom>
          <a:solidFill>
            <a:srgbClr val="2C2C2C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Compiler</a:t>
            </a:r>
            <a:endParaRPr/>
          </a:p>
        </p:txBody>
      </p:sp>
      <p:cxnSp>
        <p:nvCxnSpPr>
          <p:cNvPr id="109" name="Google Shape;109;p8"/>
          <p:cNvCxnSpPr/>
          <p:nvPr/>
        </p:nvCxnSpPr>
        <p:spPr>
          <a:xfrm>
            <a:off x="2578625" y="2530101"/>
            <a:ext cx="1365131" cy="6470"/>
          </a:xfrm>
          <a:prstGeom prst="straightConnector1">
            <a:avLst/>
          </a:prstGeom>
          <a:noFill/>
          <a:ln cap="flat" cmpd="sng" w="9525">
            <a:solidFill>
              <a:srgbClr val="3B7FF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0" name="Google Shape;110;p8"/>
          <p:cNvCxnSpPr/>
          <p:nvPr/>
        </p:nvCxnSpPr>
        <p:spPr>
          <a:xfrm>
            <a:off x="5275054" y="2519992"/>
            <a:ext cx="1375913" cy="6470"/>
          </a:xfrm>
          <a:prstGeom prst="straightConnector1">
            <a:avLst/>
          </a:prstGeom>
          <a:noFill/>
          <a:ln cap="flat" cmpd="sng" w="9525">
            <a:solidFill>
              <a:srgbClr val="3B7FF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1" name="Google Shape;111;p8"/>
          <p:cNvSpPr txBox="1"/>
          <p:nvPr/>
        </p:nvSpPr>
        <p:spPr>
          <a:xfrm>
            <a:off x="1677164" y="2291796"/>
            <a:ext cx="914400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Source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</a:t>
            </a:r>
            <a:endParaRPr/>
          </a:p>
        </p:txBody>
      </p:sp>
      <p:sp>
        <p:nvSpPr>
          <p:cNvPr id="112" name="Google Shape;112;p8"/>
          <p:cNvSpPr txBox="1"/>
          <p:nvPr/>
        </p:nvSpPr>
        <p:spPr>
          <a:xfrm>
            <a:off x="6819990" y="2291122"/>
            <a:ext cx="849702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Target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cap="none"/>
              <a:t>Compiler Phases</a:t>
            </a:r>
            <a:endParaRPr/>
          </a:p>
        </p:txBody>
      </p:sp>
      <p:sp>
        <p:nvSpPr>
          <p:cNvPr id="119" name="Google Shape;119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   </a:t>
            </a:r>
            <a:endParaRPr/>
          </a:p>
        </p:txBody>
      </p:sp>
      <p:pic>
        <p:nvPicPr>
          <p:cNvPr descr="Graphical user interface, application, Teams&#10;&#10;Description automatically generated" id="120" name="Google Shape;12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9139" y="1017725"/>
            <a:ext cx="4745722" cy="3912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cap="none">
                <a:latin typeface="Alfa Slab One"/>
                <a:ea typeface="Alfa Slab One"/>
                <a:cs typeface="Alfa Slab One"/>
                <a:sym typeface="Alfa Slab One"/>
              </a:rPr>
              <a:t>Introduction to Regular Expressions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cap="none"/>
              <a:t>Regular Expressions (RE)</a:t>
            </a:r>
            <a:endParaRPr/>
          </a:p>
        </p:txBody>
      </p:sp>
      <p:sp>
        <p:nvSpPr>
          <p:cNvPr id="133" name="Google Shape;133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42900" lvl="0" marL="482600" rtl="0" algn="l">
              <a:lnSpc>
                <a:spcPct val="100000"/>
              </a:lnSpc>
              <a:spcBef>
                <a:spcPts val="0"/>
              </a:spcBef>
              <a:spcAft>
                <a:spcPts val="1350"/>
              </a:spcAft>
              <a:buSzPts val="1800"/>
              <a:buChar char="●"/>
            </a:pPr>
            <a:r>
              <a:rPr lang="en-US">
                <a:solidFill>
                  <a:srgbClr val="2C2C2C"/>
                </a:solidFill>
                <a:latin typeface="Proxima Nova"/>
                <a:ea typeface="Proxima Nova"/>
                <a:cs typeface="Proxima Nova"/>
                <a:sym typeface="Proxima Nova"/>
              </a:rPr>
              <a:t>RE is a notation for </a:t>
            </a:r>
            <a:r>
              <a:rPr b="1" lang="en-US">
                <a:solidFill>
                  <a:srgbClr val="2C2C2C"/>
                </a:solidFill>
                <a:latin typeface="Proxima Nova"/>
                <a:ea typeface="Proxima Nova"/>
                <a:cs typeface="Proxima Nova"/>
                <a:sym typeface="Proxima Nova"/>
              </a:rPr>
              <a:t>specifying patterns </a:t>
            </a:r>
            <a:r>
              <a:rPr lang="en-US">
                <a:solidFill>
                  <a:srgbClr val="2C2C2C"/>
                </a:solidFill>
                <a:latin typeface="Proxima Nova"/>
                <a:ea typeface="Proxima Nova"/>
                <a:cs typeface="Proxima Nova"/>
                <a:sym typeface="Proxima Nova"/>
              </a:rPr>
              <a:t>and to represent the language for </a:t>
            </a:r>
            <a:r>
              <a:rPr b="1" lang="en-US">
                <a:solidFill>
                  <a:srgbClr val="2C2C2C"/>
                </a:solidFill>
                <a:latin typeface="Proxima Nova"/>
                <a:ea typeface="Proxima Nova"/>
                <a:cs typeface="Proxima Nova"/>
                <a:sym typeface="Proxima Nova"/>
              </a:rPr>
              <a:t>lexical analyzer</a:t>
            </a:r>
            <a:r>
              <a:rPr lang="en-US">
                <a:solidFill>
                  <a:srgbClr val="2C2C2C"/>
                </a:solidFill>
                <a:latin typeface="Proxima Nova"/>
                <a:ea typeface="Proxima Nova"/>
                <a:cs typeface="Proxima Nova"/>
                <a:sym typeface="Proxima Nova"/>
              </a:rPr>
              <a:t>. </a:t>
            </a:r>
            <a:endParaRPr/>
          </a:p>
        </p:txBody>
      </p:sp>
      <p:pic>
        <p:nvPicPr>
          <p:cNvPr id="134" name="Google Shape;13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266" y="1727100"/>
            <a:ext cx="8849467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cap="none"/>
              <a:t>Examples on Regular Expressions</a:t>
            </a:r>
            <a:endParaRPr/>
          </a:p>
        </p:txBody>
      </p:sp>
      <p:sp>
        <p:nvSpPr>
          <p:cNvPr id="141" name="Google Shape;141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>
                <a:latin typeface="Proxima Nova"/>
                <a:ea typeface="Proxima Nova"/>
                <a:cs typeface="Proxima Nova"/>
                <a:sym typeface="Proxima Nova"/>
              </a:rPr>
              <a:t>Write a regular expression for a language which accepts string 01 and all strings which starts with 1 and ends with at least one occurrence of 1, over the following  alphabet ∑ = {0, 1}.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Solution: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>
                <a:latin typeface="Proxima Nova"/>
                <a:ea typeface="Proxima Nova"/>
                <a:cs typeface="Proxima Nova"/>
                <a:sym typeface="Proxima Nova"/>
              </a:rPr>
              <a:t>		L = {01, 1, 11,10101,100001,….}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>
                <a:solidFill>
                  <a:srgbClr val="2C2C2C"/>
                </a:solidFill>
                <a:latin typeface="Proxima Nova"/>
                <a:ea typeface="Proxima Nova"/>
                <a:cs typeface="Proxima Nova"/>
                <a:sym typeface="Proxima Nova"/>
              </a:rPr>
              <a:t>		R = (01) | 1(0|1)* 1|(1)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cap="none"/>
              <a:t>Examples on Regular Expressions </a:t>
            </a:r>
            <a:r>
              <a:rPr lang="en-US" sz="2400"/>
              <a:t>cont.</a:t>
            </a:r>
            <a:endParaRPr/>
          </a:p>
        </p:txBody>
      </p:sp>
      <p:sp>
        <p:nvSpPr>
          <p:cNvPr id="148" name="Google Shape;148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>
                <a:latin typeface="Proxima Nova"/>
                <a:ea typeface="Proxima Nova"/>
                <a:cs typeface="Proxima Nova"/>
                <a:sym typeface="Proxima Nova"/>
              </a:rPr>
              <a:t>Write the regular expression for the language accepting all the string which are  starting with 01 or ending with 01, over alphabet ∑ = {0, 1}.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Solution: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>
                <a:latin typeface="Proxima Nova"/>
                <a:ea typeface="Proxima Nova"/>
                <a:cs typeface="Proxima Nova"/>
                <a:sym typeface="Proxima Nova"/>
              </a:rPr>
              <a:t>	L = {</a:t>
            </a:r>
            <a:r>
              <a:rPr b="1" lang="en-US" u="sng">
                <a:latin typeface="Proxima Nova"/>
                <a:ea typeface="Proxima Nova"/>
                <a:cs typeface="Proxima Nova"/>
                <a:sym typeface="Proxima Nova"/>
              </a:rPr>
              <a:t>01</a:t>
            </a:r>
            <a:r>
              <a:rPr b="1" lang="en-US">
                <a:latin typeface="Proxima Nova"/>
                <a:ea typeface="Proxima Nova"/>
                <a:cs typeface="Proxima Nova"/>
                <a:sym typeface="Proxima Nova"/>
              </a:rPr>
              <a:t>, </a:t>
            </a:r>
            <a:r>
              <a:rPr b="1" lang="en-US" u="sng">
                <a:latin typeface="Proxima Nova"/>
                <a:ea typeface="Proxima Nova"/>
                <a:cs typeface="Proxima Nova"/>
                <a:sym typeface="Proxima Nova"/>
              </a:rPr>
              <a:t>01</a:t>
            </a:r>
            <a:r>
              <a:rPr b="1" lang="en-US">
                <a:latin typeface="Proxima Nova"/>
                <a:ea typeface="Proxima Nova"/>
                <a:cs typeface="Proxima Nova"/>
                <a:sym typeface="Proxima Nova"/>
              </a:rPr>
              <a:t>01, </a:t>
            </a:r>
            <a:r>
              <a:rPr b="1" lang="en-US" u="sng">
                <a:latin typeface="Proxima Nova"/>
                <a:ea typeface="Proxima Nova"/>
                <a:cs typeface="Proxima Nova"/>
                <a:sym typeface="Proxima Nova"/>
              </a:rPr>
              <a:t>01</a:t>
            </a:r>
            <a:r>
              <a:rPr b="1" lang="en-US">
                <a:latin typeface="Proxima Nova"/>
                <a:ea typeface="Proxima Nova"/>
                <a:cs typeface="Proxima Nova"/>
                <a:sym typeface="Proxima Nova"/>
              </a:rPr>
              <a:t>00, </a:t>
            </a:r>
            <a:r>
              <a:rPr b="1" lang="en-US" u="sng">
                <a:latin typeface="Proxima Nova"/>
                <a:ea typeface="Proxima Nova"/>
                <a:cs typeface="Proxima Nova"/>
                <a:sym typeface="Proxima Nova"/>
              </a:rPr>
              <a:t>01</a:t>
            </a:r>
            <a:r>
              <a:rPr b="1" lang="en-US">
                <a:latin typeface="Proxima Nova"/>
                <a:ea typeface="Proxima Nova"/>
                <a:cs typeface="Proxima Nova"/>
                <a:sym typeface="Proxima Nova"/>
              </a:rPr>
              <a:t>11, 00111</a:t>
            </a:r>
            <a:r>
              <a:rPr b="1" lang="en-US" u="sng">
                <a:latin typeface="Proxima Nova"/>
                <a:ea typeface="Proxima Nova"/>
                <a:cs typeface="Proxima Nova"/>
                <a:sym typeface="Proxima Nova"/>
              </a:rPr>
              <a:t>01</a:t>
            </a:r>
            <a:r>
              <a:rPr b="1" lang="en-US">
                <a:latin typeface="Proxima Nova"/>
                <a:ea typeface="Proxima Nova"/>
                <a:cs typeface="Proxima Nova"/>
                <a:sym typeface="Proxima Nova"/>
              </a:rPr>
              <a:t>, 01000101</a:t>
            </a:r>
            <a:r>
              <a:rPr b="1" lang="en-US" u="sng">
                <a:latin typeface="Proxima Nova"/>
                <a:ea typeface="Proxima Nova"/>
                <a:cs typeface="Proxima Nova"/>
                <a:sym typeface="Proxima Nova"/>
              </a:rPr>
              <a:t>01</a:t>
            </a:r>
            <a:r>
              <a:rPr b="1" lang="en-US">
                <a:latin typeface="Proxima Nova"/>
                <a:ea typeface="Proxima Nova"/>
                <a:cs typeface="Proxima Nova"/>
                <a:sym typeface="Proxima Nova"/>
              </a:rPr>
              <a:t>, …}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>
                <a:latin typeface="Proxima Nova"/>
                <a:ea typeface="Proxima Nova"/>
                <a:cs typeface="Proxima Nova"/>
                <a:sym typeface="Proxima Nova"/>
              </a:rPr>
              <a:t>	RE = 01(0|1)* | (0|1)*01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>
                <a:latin typeface="Proxima Nova"/>
                <a:ea typeface="Proxima Nova"/>
                <a:cs typeface="Proxima Nova"/>
                <a:sym typeface="Proxima Nova"/>
              </a:rPr>
              <a:t>Write the regular expression for the language accepting at least two consecutive zeros or ones, over ∑ = {0, 1}.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Solution: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>
                <a:latin typeface="Proxima Nova"/>
                <a:ea typeface="Proxima Nova"/>
                <a:cs typeface="Proxima Nova"/>
                <a:sym typeface="Proxima Nova"/>
              </a:rPr>
              <a:t>	L = {00, 11, 0010, 11010, 0101101, 1010011, …}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>
                <a:solidFill>
                  <a:srgbClr val="2C2C2C"/>
                </a:solidFill>
                <a:latin typeface="Proxima Nova"/>
                <a:ea typeface="Proxima Nova"/>
                <a:cs typeface="Proxima Nova"/>
                <a:sym typeface="Proxima Nova"/>
              </a:rPr>
              <a:t>	RE = (0|1)*00(0|1)* | (0|1)*11(0|1)*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cap="none"/>
              <a:t>Examples on Regular Expressions </a:t>
            </a:r>
            <a:r>
              <a:rPr lang="en-US" sz="2400"/>
              <a:t>cont.</a:t>
            </a:r>
            <a:endParaRPr/>
          </a:p>
        </p:txBody>
      </p:sp>
      <p:sp>
        <p:nvSpPr>
          <p:cNvPr id="155" name="Google Shape;155;p14"/>
          <p:cNvSpPr txBox="1"/>
          <p:nvPr>
            <p:ph idx="1" type="body"/>
          </p:nvPr>
        </p:nvSpPr>
        <p:spPr>
          <a:xfrm>
            <a:off x="311700" y="1152474"/>
            <a:ext cx="8520600" cy="39910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b="1" lang="en-US" sz="17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Write the regular expression for the language accepting all the string which are ending with 01, over ∑ = {0, 1}.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17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				Solution:</a:t>
            </a:r>
            <a:r>
              <a:rPr b="1" lang="en-US" sz="17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 (0 | 1)*01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b="1" lang="en-US" sz="17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Considering the following regular expression which string is not in the language? </a:t>
            </a:r>
            <a:br>
              <a:rPr b="1" lang="en-US" sz="17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7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(a|b)* a (a|b)*</a:t>
            </a:r>
            <a:endParaRPr/>
          </a:p>
          <a:p>
            <a:pPr indent="0" lvl="1" marL="17144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7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	A. ba		B. ab		C. a		D. b</a:t>
            </a:r>
            <a:endParaRPr/>
          </a:p>
          <a:p>
            <a:pPr indent="-228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b="1" sz="1700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b="1" lang="en-US" sz="17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Which one of the following language over the alphabet {0,1} is described by the regular expression: (0|1)*0(0|1)*0(0|1)*</a:t>
            </a:r>
            <a:endParaRPr/>
          </a:p>
          <a:p>
            <a:pPr indent="-257168" lvl="1" marL="42861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b="1" lang="en-US" sz="17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The set of all strings containing the substring 00.</a:t>
            </a:r>
            <a:endParaRPr/>
          </a:p>
          <a:p>
            <a:pPr indent="-257168" lvl="1" marL="42861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b="1" lang="en-US" sz="17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The set of all strings containing exactly two 0’s.</a:t>
            </a:r>
            <a:endParaRPr/>
          </a:p>
          <a:p>
            <a:pPr indent="-257168" lvl="1" marL="42861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b="1" lang="en-US" sz="17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The set of all strings containing at least two 0’s.</a:t>
            </a:r>
            <a:endParaRPr/>
          </a:p>
          <a:p>
            <a:pPr indent="-257168" lvl="1" marL="42861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b="1" lang="en-US" sz="17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The set of all strings that begin and end with either 0 or 1.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1" sz="1700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4"/>
          <p:cNvSpPr/>
          <p:nvPr/>
        </p:nvSpPr>
        <p:spPr>
          <a:xfrm>
            <a:off x="3886200" y="2571750"/>
            <a:ext cx="685800" cy="402600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4"/>
          <p:cNvSpPr/>
          <p:nvPr/>
        </p:nvSpPr>
        <p:spPr>
          <a:xfrm>
            <a:off x="423343" y="4403403"/>
            <a:ext cx="4848568" cy="405664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cap="none"/>
              <a:t>Examples on Regular Expressions </a:t>
            </a:r>
            <a:r>
              <a:rPr lang="en-US" sz="2400"/>
              <a:t>cont.</a:t>
            </a:r>
            <a:endParaRPr/>
          </a:p>
        </p:txBody>
      </p:sp>
      <p:sp>
        <p:nvSpPr>
          <p:cNvPr id="164" name="Google Shape;164;p15"/>
          <p:cNvSpPr txBox="1"/>
          <p:nvPr>
            <p:ph idx="1" type="body"/>
          </p:nvPr>
        </p:nvSpPr>
        <p:spPr>
          <a:xfrm>
            <a:off x="311700" y="1152474"/>
            <a:ext cx="8520600" cy="399102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443" l="0" r="0" t="-305"/>
            </a:stretch>
          </a:blip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 </a:t>
            </a:r>
            <a:endParaRPr/>
          </a:p>
        </p:txBody>
      </p:sp>
      <p:sp>
        <p:nvSpPr>
          <p:cNvPr id="165" name="Google Shape;165;p15"/>
          <p:cNvSpPr/>
          <p:nvPr/>
        </p:nvSpPr>
        <p:spPr>
          <a:xfrm>
            <a:off x="439344" y="2642698"/>
            <a:ext cx="2044211" cy="382723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cap="none"/>
              <a:t>Examples on Regular Expressions </a:t>
            </a:r>
            <a:r>
              <a:rPr lang="en-US" sz="2400"/>
              <a:t>cont.</a:t>
            </a:r>
            <a:endParaRPr/>
          </a:p>
        </p:txBody>
      </p:sp>
      <p:sp>
        <p:nvSpPr>
          <p:cNvPr id="172" name="Google Shape;172;p16"/>
          <p:cNvSpPr txBox="1"/>
          <p:nvPr>
            <p:ph idx="1" type="body"/>
          </p:nvPr>
        </p:nvSpPr>
        <p:spPr>
          <a:xfrm>
            <a:off x="311700" y="1152474"/>
            <a:ext cx="8520600" cy="39910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4924"/>
              <a:buChar char="●"/>
            </a:pPr>
            <a:r>
              <a:rPr b="1" lang="en-US" sz="2050">
                <a:solidFill>
                  <a:srgbClr val="2C2C2C"/>
                </a:solidFill>
                <a:latin typeface="Proxima Nova"/>
                <a:ea typeface="Proxima Nova"/>
                <a:cs typeface="Proxima Nova"/>
                <a:sym typeface="Proxima Nova"/>
              </a:rPr>
              <a:t>Exercises: Write the regular expression which represent the following languages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32132"/>
              <a:buNone/>
            </a:pPr>
            <a:r>
              <a:rPr lang="en-US">
                <a:latin typeface="Proxima Nova"/>
                <a:ea typeface="Proxima Nova"/>
                <a:cs typeface="Proxima Nova"/>
                <a:sym typeface="Proxima Nova"/>
              </a:rPr>
              <a:t>1) All strings of lowercase letters that begin and end in 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50"/>
              </a:spcBef>
              <a:spcAft>
                <a:spcPts val="0"/>
              </a:spcAft>
              <a:buSzPct val="132132"/>
              <a:buNone/>
            </a:pPr>
            <a:r>
              <a:rPr i="1" lang="en-US"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i="1" lang="en-US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Solution: </a:t>
            </a:r>
            <a:r>
              <a:rPr i="1" lang="en-US">
                <a:latin typeface="Proxima Nova"/>
                <a:ea typeface="Proxima Nova"/>
                <a:cs typeface="Proxima Nova"/>
                <a:sym typeface="Proxima Nova"/>
              </a:rPr>
              <a:t>a[a-z]*a |a 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1050"/>
              </a:spcBef>
              <a:spcAft>
                <a:spcPts val="0"/>
              </a:spcAft>
              <a:buSzPct val="132132"/>
              <a:buNone/>
            </a:pPr>
            <a:r>
              <a:rPr lang="en-US">
                <a:latin typeface="Proxima Nova"/>
                <a:ea typeface="Proxima Nova"/>
                <a:cs typeface="Proxima Nova"/>
                <a:sym typeface="Proxima Nova"/>
              </a:rPr>
              <a:t>2) All strings of lowercase letters that either begin or end in a (or both)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50"/>
              </a:spcBef>
              <a:spcAft>
                <a:spcPts val="0"/>
              </a:spcAft>
              <a:buSzPct val="132132"/>
              <a:buNone/>
            </a:pPr>
            <a:r>
              <a:rPr i="1" lang="en-US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 Solution: </a:t>
            </a:r>
            <a:r>
              <a:rPr i="1" lang="en-US">
                <a:latin typeface="Proxima Nova"/>
                <a:ea typeface="Proxima Nova"/>
                <a:cs typeface="Proxima Nova"/>
                <a:sym typeface="Proxima Nova"/>
              </a:rPr>
              <a:t>a[a-z]* | [a-z]*a 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1050"/>
              </a:spcBef>
              <a:spcAft>
                <a:spcPts val="0"/>
              </a:spcAft>
              <a:buSzPct val="132132"/>
              <a:buNone/>
            </a:pPr>
            <a:r>
              <a:rPr lang="en-US">
                <a:latin typeface="Proxima Nova"/>
                <a:ea typeface="Proxima Nova"/>
                <a:cs typeface="Proxima Nova"/>
                <a:sym typeface="Proxima Nova"/>
              </a:rPr>
              <a:t>3) All strings of digits that contain no leading zeros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50"/>
              </a:spcBef>
              <a:spcAft>
                <a:spcPts val="0"/>
              </a:spcAft>
              <a:buSzPct val="132132"/>
              <a:buNone/>
            </a:pPr>
            <a:r>
              <a:rPr i="1" lang="en-US"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i="1" lang="en-US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Solution: </a:t>
            </a:r>
            <a:r>
              <a:rPr i="1" lang="en-US">
                <a:latin typeface="Proxima Nova"/>
                <a:ea typeface="Proxima Nova"/>
                <a:cs typeface="Proxima Nova"/>
                <a:sym typeface="Proxima Nova"/>
              </a:rPr>
              <a:t>[1-9][0-9]* 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1050"/>
              </a:spcBef>
              <a:spcAft>
                <a:spcPts val="0"/>
              </a:spcAft>
              <a:buSzPct val="132132"/>
              <a:buNone/>
            </a:pPr>
            <a:r>
              <a:rPr lang="en-US">
                <a:latin typeface="Proxima Nova"/>
                <a:ea typeface="Proxima Nova"/>
                <a:cs typeface="Proxima Nova"/>
                <a:sym typeface="Proxima Nova"/>
              </a:rPr>
              <a:t>4) All strings of digits that represent even numbers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50"/>
              </a:spcBef>
              <a:spcAft>
                <a:spcPts val="0"/>
              </a:spcAft>
              <a:buSzPct val="132132"/>
              <a:buNone/>
            </a:pPr>
            <a:r>
              <a:rPr i="1" lang="en-US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 Solution: </a:t>
            </a:r>
            <a:r>
              <a:rPr i="1" lang="en-US">
                <a:latin typeface="Proxima Nova"/>
                <a:ea typeface="Proxima Nova"/>
                <a:cs typeface="Proxima Nova"/>
                <a:sym typeface="Proxima Nova"/>
              </a:rPr>
              <a:t>[0-9]*[0|2|4|6|8] 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</a:pPr>
            <a:r>
              <a:rPr lang="en-US" sz="2700"/>
              <a:t>More Examples on Regular Expressions cont.</a:t>
            </a:r>
            <a:endParaRPr/>
          </a:p>
        </p:txBody>
      </p:sp>
      <p:sp>
        <p:nvSpPr>
          <p:cNvPr id="178" name="Google Shape;17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50"/>
              </a:spcBef>
              <a:spcAft>
                <a:spcPts val="0"/>
              </a:spcAft>
              <a:buSzPts val="2200"/>
              <a:buNone/>
            </a:pPr>
            <a:r>
              <a:rPr b="1" lang="en-US" sz="2400"/>
              <a:t>All strings of a’s and b’s that don’t contain three-consecutive b’s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50"/>
              </a:spcBef>
              <a:spcAft>
                <a:spcPts val="0"/>
              </a:spcAft>
              <a:buSzPts val="2200"/>
              <a:buNone/>
            </a:pPr>
            <a:r>
              <a:rPr b="1" i="1" lang="en-US" sz="2400">
                <a:solidFill>
                  <a:srgbClr val="FF0000"/>
                </a:solidFill>
              </a:rPr>
              <a:t>Solution: </a:t>
            </a:r>
            <a:r>
              <a:rPr b="1" i="1" lang="en-US" sz="2400"/>
              <a:t>(a|ba|bba)*(b|bb)? </a:t>
            </a:r>
            <a:endParaRPr b="1" sz="2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</a:pPr>
            <a:r>
              <a:rPr lang="en-US" sz="2700"/>
              <a:t>More Examples on Regular Expressions cont.</a:t>
            </a:r>
            <a:endParaRPr/>
          </a:p>
        </p:txBody>
      </p:sp>
      <p:sp>
        <p:nvSpPr>
          <p:cNvPr id="184" name="Google Shape;18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50"/>
              </a:spcBef>
              <a:spcAft>
                <a:spcPts val="0"/>
              </a:spcAft>
              <a:buSzPts val="2200"/>
              <a:buNone/>
            </a:pPr>
            <a:r>
              <a:rPr b="1" lang="en-US" sz="2400"/>
              <a:t>All strings of a’s and b’s that contain an odd number of a’s or an odd number of b’s (or both)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50"/>
              </a:spcBef>
              <a:spcAft>
                <a:spcPts val="0"/>
              </a:spcAft>
              <a:buSzPts val="2200"/>
              <a:buNone/>
            </a:pPr>
            <a:r>
              <a:rPr b="1" i="1" lang="en-US" sz="2400">
                <a:solidFill>
                  <a:srgbClr val="FF0000"/>
                </a:solidFill>
              </a:rPr>
              <a:t>Solution: </a:t>
            </a:r>
            <a:r>
              <a:rPr b="1" i="1" lang="en-US" sz="2400"/>
              <a:t>b*ab*(ab*ab*)* | a*ba*(ba*ba*)*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ts val="2200"/>
              <a:buNone/>
            </a:pPr>
            <a:r>
              <a:rPr b="1" lang="en-US" sz="2400"/>
              <a:t>Σ = {a, b}, Strings that contain exactly as many a’s as b’s.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50"/>
              </a:spcBef>
              <a:spcAft>
                <a:spcPts val="0"/>
              </a:spcAft>
              <a:buSzPts val="2200"/>
              <a:buNone/>
            </a:pPr>
            <a:r>
              <a:rPr b="1" i="1" lang="en-US" sz="2400">
                <a:solidFill>
                  <a:srgbClr val="FF0000"/>
                </a:solidFill>
              </a:rPr>
              <a:t>Solution: </a:t>
            </a:r>
            <a:r>
              <a:rPr b="1" i="1" lang="en-US" sz="2400"/>
              <a:t>Cannot be expressed by a regular expression, since the only repetition in R.E is Closure(* and +), and it cannot be restricted.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85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b="1"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2700"/>
              <a:t>More Examples on Regular Expressions cont.</a:t>
            </a:r>
            <a:endParaRPr/>
          </a:p>
        </p:txBody>
      </p:sp>
      <p:sp>
        <p:nvSpPr>
          <p:cNvPr id="190" name="Google Shape;19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35"/>
              <a:buNone/>
            </a:pPr>
            <a:r>
              <a:rPr b="1" lang="en-US" sz="2400"/>
              <a:t>Write an English description for the languages generated by the following regular expressions</a:t>
            </a:r>
            <a:endParaRPr sz="2400"/>
          </a:p>
          <a:p>
            <a:pPr indent="0" lvl="0" marL="0" rtl="0" algn="l">
              <a:lnSpc>
                <a:spcPct val="80000"/>
              </a:lnSpc>
              <a:spcBef>
                <a:spcPts val="2400"/>
              </a:spcBef>
              <a:spcAft>
                <a:spcPts val="0"/>
              </a:spcAft>
              <a:buSzPts val="2035"/>
              <a:buNone/>
            </a:pPr>
            <a:r>
              <a:rPr b="1" lang="en-US" sz="2400"/>
              <a:t>1) (a|b)*a (a|b|c)</a:t>
            </a:r>
            <a:endParaRPr b="1" sz="2400"/>
          </a:p>
          <a:p>
            <a:pPr indent="0" lvl="0" marL="0" rtl="0" algn="l">
              <a:lnSpc>
                <a:spcPct val="80000"/>
              </a:lnSpc>
              <a:spcBef>
                <a:spcPts val="1050"/>
              </a:spcBef>
              <a:spcAft>
                <a:spcPts val="0"/>
              </a:spcAft>
              <a:buSzPts val="2035"/>
              <a:buNone/>
            </a:pPr>
            <a:r>
              <a:rPr b="1" i="1" lang="en-US" sz="2400"/>
              <a:t> </a:t>
            </a:r>
            <a:r>
              <a:rPr b="1" i="1" lang="en-US" sz="2100">
                <a:solidFill>
                  <a:srgbClr val="FF0000"/>
                </a:solidFill>
              </a:rPr>
              <a:t>Solution: </a:t>
            </a:r>
            <a:r>
              <a:rPr i="1" lang="en-US" sz="2100"/>
              <a:t>All lowercase strings over a and b that end with aa, ab or ac. </a:t>
            </a:r>
            <a:endParaRPr sz="2100"/>
          </a:p>
          <a:p>
            <a:pPr indent="0" lvl="0" marL="0" rtl="0" algn="l">
              <a:lnSpc>
                <a:spcPct val="80000"/>
              </a:lnSpc>
              <a:spcBef>
                <a:spcPts val="2400"/>
              </a:spcBef>
              <a:spcAft>
                <a:spcPts val="0"/>
              </a:spcAft>
              <a:buSzPts val="2035"/>
              <a:buNone/>
            </a:pPr>
            <a:r>
              <a:rPr b="1" lang="en-US" sz="2400"/>
              <a:t>2) (aa|b)*(a|bb)*</a:t>
            </a:r>
            <a:endParaRPr b="1" sz="2400"/>
          </a:p>
          <a:p>
            <a:pPr indent="0" lvl="0" marL="0" rtl="0" algn="l">
              <a:lnSpc>
                <a:spcPct val="80000"/>
              </a:lnSpc>
              <a:spcBef>
                <a:spcPts val="1050"/>
              </a:spcBef>
              <a:spcAft>
                <a:spcPts val="0"/>
              </a:spcAft>
              <a:buSzPts val="2035"/>
              <a:buNone/>
            </a:pPr>
            <a:r>
              <a:rPr b="1" i="1" lang="en-US" sz="2100">
                <a:solidFill>
                  <a:srgbClr val="FF0000"/>
                </a:solidFill>
              </a:rPr>
              <a:t>Solution: </a:t>
            </a:r>
            <a:r>
              <a:rPr i="1" lang="en-US" sz="2100"/>
              <a:t>All Strings over a &amp; b except that has odd number of a‘s followed by odd number of b‘s </a:t>
            </a:r>
            <a:r>
              <a:rPr lang="en-US" sz="2100"/>
              <a:t>.</a:t>
            </a:r>
            <a:r>
              <a:rPr i="1" lang="en-US" sz="2100"/>
              <a:t> </a:t>
            </a:r>
            <a:endParaRPr sz="2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2700"/>
              <a:t>More Examples on Regular Expressions cont.</a:t>
            </a:r>
            <a:endParaRPr/>
          </a:p>
        </p:txBody>
      </p:sp>
      <p:sp>
        <p:nvSpPr>
          <p:cNvPr id="196" name="Google Shape;19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b="1" lang="en-US"/>
              <a:t>Let Σ = {a, b} and  L = { w ∈ Σ* | w does not contain bb as a substring }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050"/>
              </a:spcBef>
              <a:spcAft>
                <a:spcPts val="0"/>
              </a:spcAft>
              <a:buSzPts val="2200"/>
              <a:buNone/>
            </a:pPr>
            <a:r>
              <a:rPr b="1" i="1" lang="en-US">
                <a:solidFill>
                  <a:srgbClr val="FF0000"/>
                </a:solidFill>
              </a:rPr>
              <a:t>Solution: 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05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b="1" i="1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050"/>
              </a:spcBef>
              <a:spcAft>
                <a:spcPts val="0"/>
              </a:spcAft>
              <a:buSzPts val="2200"/>
              <a:buNone/>
            </a:pPr>
            <a:r>
              <a:rPr b="1" i="1" lang="en-US">
                <a:solidFill>
                  <a:srgbClr val="FF0000"/>
                </a:solidFill>
              </a:rPr>
              <a:t>			</a:t>
            </a:r>
            <a:r>
              <a:rPr b="1" lang="en-US"/>
              <a:t>(a | ba)* b? 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6312472" y="1886173"/>
            <a:ext cx="1658668" cy="114187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sng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Test</a:t>
            </a:r>
            <a:endParaRPr b="0" i="0" sz="15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aaaa</a:t>
            </a:r>
            <a:endParaRPr b="0" i="0" sz="15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baaaaaaba</a:t>
            </a:r>
            <a:endParaRPr b="0" i="0" sz="15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babba</a:t>
            </a:r>
            <a:endParaRPr b="0" i="0" sz="1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1"/>
          <p:cNvSpPr txBox="1"/>
          <p:nvPr>
            <p:ph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</a:pPr>
            <a:r>
              <a:rPr lang="en-US" sz="8000">
                <a:solidFill>
                  <a:schemeClr val="accent3"/>
                </a:solidFill>
              </a:rPr>
              <a:t>Questions?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2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lang="en-US" cap="none">
                <a:latin typeface="Alfa Slab One"/>
                <a:ea typeface="Alfa Slab One"/>
                <a:cs typeface="Alfa Slab One"/>
                <a:sym typeface="Alfa Slab One"/>
              </a:rPr>
              <a:t>Appendix</a:t>
            </a:r>
            <a:endParaRPr/>
          </a:p>
        </p:txBody>
      </p:sp>
      <p:sp>
        <p:nvSpPr>
          <p:cNvPr id="208" name="Google Shape;208;p22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09" name="Google Shape;209;p22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8889"/>
              <a:buNone/>
            </a:pPr>
            <a:r>
              <a:rPr lang="en-US"/>
              <a:t>MORE EXAMPLES (SELF STUDY)</a:t>
            </a:r>
            <a:endParaRPr sz="2400"/>
          </a:p>
        </p:txBody>
      </p:sp>
      <p:sp>
        <p:nvSpPr>
          <p:cNvPr id="216" name="Google Shape;21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360" r="-1640" t="-540"/>
            </a:stretch>
          </a:blip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MORE EXAMPLES (SELF STUDY)</a:t>
            </a:r>
            <a:endParaRPr/>
          </a:p>
        </p:txBody>
      </p:sp>
      <p:sp>
        <p:nvSpPr>
          <p:cNvPr id="222" name="Google Shape;22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2100"/>
              <a:t>All strings of lowercase letters that begin and end in 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None/>
            </a:pPr>
            <a:r>
              <a:rPr i="1" lang="en-US" sz="2100"/>
              <a:t> </a:t>
            </a:r>
            <a:r>
              <a:rPr i="1" lang="en-US" sz="2100">
                <a:solidFill>
                  <a:srgbClr val="FF0000"/>
                </a:solidFill>
              </a:rPr>
              <a:t>Solution: </a:t>
            </a:r>
            <a:r>
              <a:rPr i="1" lang="en-US" sz="2100"/>
              <a:t>a[a-z]*a |a </a:t>
            </a:r>
            <a:endParaRPr sz="2100"/>
          </a:p>
          <a:p>
            <a:pPr indent="0" lvl="0" marL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SzPts val="2200"/>
              <a:buNone/>
            </a:pPr>
            <a:r>
              <a:rPr lang="en-US" sz="2100"/>
              <a:t>All strings of lowercase letters that either begin or end with an ‘a’ (or both)</a:t>
            </a:r>
            <a:endParaRPr i="1" sz="21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None/>
            </a:pPr>
            <a:r>
              <a:rPr i="1" lang="en-US" sz="2100">
                <a:solidFill>
                  <a:srgbClr val="FF0000"/>
                </a:solidFill>
              </a:rPr>
              <a:t>Solution: </a:t>
            </a:r>
            <a:r>
              <a:rPr i="1" lang="en-US" sz="2100"/>
              <a:t>a[a-z]* | [a-z]*a | a[a-z]*a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350"/>
              </a:spcBef>
              <a:spcAft>
                <a:spcPts val="0"/>
              </a:spcAft>
              <a:buSzPts val="2200"/>
              <a:buNone/>
            </a:pPr>
            <a:r>
              <a:rPr lang="en-US" sz="2100"/>
              <a:t>All strings of digits such that all the 2’s occur before all the 9’s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None/>
            </a:pPr>
            <a:r>
              <a:rPr i="1" lang="en-US" sz="2100">
                <a:solidFill>
                  <a:srgbClr val="FF0000"/>
                </a:solidFill>
              </a:rPr>
              <a:t>Solution: </a:t>
            </a:r>
            <a:r>
              <a:rPr i="1" lang="en-US" sz="2100"/>
              <a:t>[0-8]* [0|1|3-9]* </a:t>
            </a:r>
            <a:endParaRPr sz="2100"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2700"/>
              <a:t>MORE EXAMPLES (SELF STUDY)</a:t>
            </a:r>
            <a:endParaRPr/>
          </a:p>
        </p:txBody>
      </p:sp>
      <p:sp>
        <p:nvSpPr>
          <p:cNvPr id="228" name="Google Shape;22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35"/>
              <a:buNone/>
            </a:pPr>
            <a:r>
              <a:rPr b="1" lang="en-US" sz="1950"/>
              <a:t>Write an English description for the languages generated by the following regular expressions</a:t>
            </a:r>
            <a:endParaRPr sz="1950"/>
          </a:p>
          <a:p>
            <a:pPr indent="0" lvl="0" marL="0" rtl="0" algn="l">
              <a:lnSpc>
                <a:spcPct val="80000"/>
              </a:lnSpc>
              <a:spcBef>
                <a:spcPts val="1050"/>
              </a:spcBef>
              <a:spcAft>
                <a:spcPts val="0"/>
              </a:spcAft>
              <a:buSzPts val="2035"/>
              <a:buNone/>
            </a:pPr>
            <a:r>
              <a:t/>
            </a:r>
            <a:endParaRPr sz="1950"/>
          </a:p>
          <a:p>
            <a:pPr indent="-342900" lvl="0" marL="457200" rtl="0" algn="l">
              <a:lnSpc>
                <a:spcPct val="80000"/>
              </a:lnSpc>
              <a:spcBef>
                <a:spcPts val="1050"/>
              </a:spcBef>
              <a:spcAft>
                <a:spcPts val="0"/>
              </a:spcAft>
              <a:buSzPts val="2035"/>
              <a:buChar char="●"/>
            </a:pPr>
            <a:r>
              <a:rPr lang="en-US" sz="1950"/>
              <a:t>(A|B|…Z) (a|b|…|z)*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050"/>
              </a:spcBef>
              <a:spcAft>
                <a:spcPts val="0"/>
              </a:spcAft>
              <a:buSzPts val="2035"/>
              <a:buNone/>
            </a:pPr>
            <a:r>
              <a:rPr i="1" lang="en-US" sz="1950">
                <a:solidFill>
                  <a:srgbClr val="FF0000"/>
                </a:solidFill>
              </a:rPr>
              <a:t>Solution: </a:t>
            </a:r>
            <a:r>
              <a:rPr i="1" lang="en-US" sz="1950"/>
              <a:t>Any string that begins with an uppercase letter then all letters are lowercase. </a:t>
            </a:r>
            <a:endParaRPr sz="1950"/>
          </a:p>
          <a:p>
            <a:pPr indent="0" lvl="0" marL="0" rtl="0" algn="l">
              <a:lnSpc>
                <a:spcPct val="80000"/>
              </a:lnSpc>
              <a:spcBef>
                <a:spcPts val="1050"/>
              </a:spcBef>
              <a:spcAft>
                <a:spcPts val="0"/>
              </a:spcAft>
              <a:buSzPts val="2035"/>
              <a:buNone/>
            </a:pPr>
            <a:r>
              <a:t/>
            </a:r>
            <a:endParaRPr sz="1950"/>
          </a:p>
          <a:p>
            <a:pPr indent="-342900" lvl="0" marL="457200" rtl="0" algn="l">
              <a:lnSpc>
                <a:spcPct val="80000"/>
              </a:lnSpc>
              <a:spcBef>
                <a:spcPts val="1050"/>
              </a:spcBef>
              <a:spcAft>
                <a:spcPts val="0"/>
              </a:spcAft>
              <a:buSzPts val="2035"/>
              <a:buChar char="●"/>
            </a:pPr>
            <a:r>
              <a:rPr lang="en-US" sz="1950"/>
              <a:t>(0|1|…9|A|B|C|D|E|F)</a:t>
            </a:r>
            <a:r>
              <a:rPr baseline="30000" lang="en-US" sz="1950"/>
              <a:t>+</a:t>
            </a:r>
            <a:r>
              <a:rPr lang="en-US" sz="1950"/>
              <a:t>(x|X)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050"/>
              </a:spcBef>
              <a:spcAft>
                <a:spcPts val="0"/>
              </a:spcAft>
              <a:buSzPts val="2035"/>
              <a:buNone/>
            </a:pPr>
            <a:r>
              <a:rPr i="1" lang="en-US" sz="1950">
                <a:solidFill>
                  <a:srgbClr val="FF0000"/>
                </a:solidFill>
              </a:rPr>
              <a:t>Solution: </a:t>
            </a:r>
            <a:r>
              <a:rPr i="1" lang="en-US" sz="1950"/>
              <a:t>Strings are either a digit or an uppercase letter from A to F concatenated with an X or x. </a:t>
            </a:r>
            <a:endParaRPr sz="195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2700"/>
              <a:t>MORE EXAMPLES (SELF STUDY)</a:t>
            </a:r>
            <a:endParaRPr sz="2700"/>
          </a:p>
        </p:txBody>
      </p:sp>
      <p:sp>
        <p:nvSpPr>
          <p:cNvPr id="234" name="Google Shape;234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050"/>
              </a:spcBef>
              <a:spcAft>
                <a:spcPts val="0"/>
              </a:spcAft>
              <a:buSzPts val="2200"/>
              <a:buNone/>
            </a:pPr>
            <a:r>
              <a:rPr b="1" lang="en-US"/>
              <a:t>Example (1)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1050"/>
              </a:spcBef>
              <a:spcAft>
                <a:spcPts val="0"/>
              </a:spcAft>
              <a:buSzPts val="2200"/>
              <a:buFont typeface="Corbel"/>
              <a:buAutoNum type="arabicParenR"/>
            </a:pPr>
            <a:r>
              <a:rPr lang="en-US"/>
              <a:t> Let Σ = {0, 1}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1050"/>
              </a:spcBef>
              <a:spcAft>
                <a:spcPts val="0"/>
              </a:spcAft>
              <a:buSzPts val="2200"/>
              <a:buFont typeface="Corbel"/>
              <a:buAutoNum type="arabicParenR"/>
            </a:pPr>
            <a:r>
              <a:rPr lang="en-US"/>
              <a:t> Let L = { w ∈ Σ* | w contains at most one 0 }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050"/>
              </a:spcBef>
              <a:spcAft>
                <a:spcPts val="0"/>
              </a:spcAft>
              <a:buSzPts val="2200"/>
              <a:buNone/>
            </a:pPr>
            <a:r>
              <a:rPr lang="en-US" u="sng">
                <a:solidFill>
                  <a:srgbClr val="FF0000"/>
                </a:solidFill>
              </a:rPr>
              <a:t>Solution:</a:t>
            </a:r>
            <a:r>
              <a:rPr lang="en-US">
                <a:solidFill>
                  <a:srgbClr val="FF0000"/>
                </a:solidFill>
              </a:rPr>
              <a:t> 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050"/>
              </a:spcBef>
              <a:spcAft>
                <a:spcPts val="0"/>
              </a:spcAft>
              <a:buSzPts val="2200"/>
              <a:buNone/>
            </a:pPr>
            <a:r>
              <a:rPr lang="en-US"/>
              <a:t>	</a:t>
            </a:r>
            <a:r>
              <a:rPr i="1" lang="en-US"/>
              <a:t>1*(0 | ε)1*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050"/>
              </a:spcBef>
              <a:spcAft>
                <a:spcPts val="0"/>
              </a:spcAft>
              <a:buSzPts val="2200"/>
              <a:buNone/>
            </a:pPr>
            <a:r>
              <a:rPr i="1" lang="en-US"/>
              <a:t>	1*0?1*</a:t>
            </a:r>
            <a:endParaRPr b="1"/>
          </a:p>
          <a:p>
            <a:pPr indent="-139700" lvl="0" marL="13716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-US"/>
              <a:t>Example (2)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050"/>
              </a:spcBef>
              <a:spcAft>
                <a:spcPts val="0"/>
              </a:spcAft>
              <a:buSzPts val="2200"/>
              <a:buFont typeface="Corbel"/>
              <a:buAutoNum type="arabicParenR"/>
            </a:pPr>
            <a:r>
              <a:rPr lang="en-US"/>
              <a:t>Let Σ = { a, b}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050"/>
              </a:spcBef>
              <a:spcAft>
                <a:spcPts val="0"/>
              </a:spcAft>
              <a:buSzPts val="2200"/>
              <a:buFont typeface="Corbel"/>
              <a:buAutoNum type="arabicParenR"/>
            </a:pPr>
            <a:r>
              <a:rPr lang="en-US"/>
              <a:t> Let L = { w ∈ Σ* | w with at least three a’s}.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50"/>
              </a:spcBef>
              <a:spcAft>
                <a:spcPts val="0"/>
              </a:spcAft>
              <a:buSzPts val="2200"/>
              <a:buNone/>
            </a:pPr>
            <a:r>
              <a:rPr lang="en-US" u="sng">
                <a:solidFill>
                  <a:srgbClr val="FF0000"/>
                </a:solidFill>
              </a:rPr>
              <a:t>Solution</a:t>
            </a:r>
            <a:r>
              <a:rPr lang="en-US"/>
              <a:t>:   b</a:t>
            </a:r>
            <a:r>
              <a:rPr i="1" lang="en-US"/>
              <a:t>* ab* ab*a (a|b)*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50"/>
              </a:spcBef>
              <a:spcAft>
                <a:spcPts val="0"/>
              </a:spcAft>
              <a:buSzPts val="2200"/>
              <a:buNone/>
            </a:pPr>
            <a:r>
              <a:rPr i="1" lang="en-US"/>
              <a:t>	</a:t>
            </a:r>
            <a:endParaRPr/>
          </a:p>
          <a:p>
            <a:pPr indent="-32384" lvl="0" marL="137160" rtl="0" algn="l">
              <a:lnSpc>
                <a:spcPct val="80000"/>
              </a:lnSpc>
              <a:spcBef>
                <a:spcPts val="105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32384" lvl="0" marL="137160" rtl="0" algn="l">
              <a:lnSpc>
                <a:spcPct val="80000"/>
              </a:lnSpc>
              <a:spcBef>
                <a:spcPts val="105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35" name="Google Shape;235;p26"/>
          <p:cNvSpPr txBox="1"/>
          <p:nvPr/>
        </p:nvSpPr>
        <p:spPr>
          <a:xfrm>
            <a:off x="6079807" y="1769984"/>
            <a:ext cx="2397443" cy="10484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sng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Test</a:t>
            </a:r>
            <a:endParaRPr b="0" i="0" sz="1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11110111 </a:t>
            </a:r>
            <a:endParaRPr b="0" i="0" sz="105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111111 </a:t>
            </a:r>
            <a:endParaRPr b="0" i="0" sz="105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0111</a:t>
            </a:r>
            <a:endParaRPr b="0" i="0" sz="105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0</a:t>
            </a:r>
            <a:endParaRPr b="0" i="0" sz="105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6"/>
          <p:cNvSpPr txBox="1"/>
          <p:nvPr/>
        </p:nvSpPr>
        <p:spPr>
          <a:xfrm>
            <a:off x="5810250" y="3561876"/>
            <a:ext cx="2667000" cy="86206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sng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Test</a:t>
            </a:r>
            <a:endParaRPr b="0" i="0" sz="825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abababab</a:t>
            </a:r>
            <a:r>
              <a:rPr b="0" i="0" lang="en-US" sz="825" u="none" cap="none" strike="noStrike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br>
              <a:rPr b="0" i="0" lang="en-US" sz="825" u="none" cap="none" strike="noStrike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b="0" i="1" lang="en-US" sz="1350" u="none" cap="none" strike="noStrike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aaba</a:t>
            </a:r>
            <a:r>
              <a:rPr b="0" i="0" lang="en-US" sz="825" u="none" cap="none" strike="noStrike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br>
              <a:rPr b="0" i="0" lang="en-US" sz="825" u="none" cap="none" strike="noStrike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b="0" i="1" lang="en-US" sz="1350" u="none" cap="none" strike="noStrike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aa</a:t>
            </a:r>
            <a:endParaRPr b="0" i="0" sz="105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