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Proxima Nova"/>
      <p:regular r:id="rId37"/>
      <p:bold r:id="rId38"/>
      <p:italic r:id="rId39"/>
      <p:boldItalic r:id="rId40"/>
    </p:embeddedFont>
    <p:embeddedFont>
      <p:font typeface="Corbel"/>
      <p:regular r:id="rId41"/>
      <p:bold r:id="rId42"/>
      <p:italic r:id="rId43"/>
      <p:boldItalic r:id="rId44"/>
    </p:embeddedFont>
    <p:embeddedFont>
      <p:font typeface="Alfa Slab One"/>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6" roundtripDataSignature="AMtx7mjQBF4DF6Qnfh+BW7PxC0LuKndk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B74D66-4877-4BB9-A7D5-F372992069FC}">
  <a:tblStyle styleId="{F5B74D66-4877-4BB9-A7D5-F372992069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225F91B-823C-4E8D-9C78-1532CDFFD4CF}"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roximaNova-boldItalic.fntdata"/><Relationship Id="rId20" Type="http://schemas.openxmlformats.org/officeDocument/2006/relationships/slide" Target="slides/slide14.xml"/><Relationship Id="rId42" Type="http://schemas.openxmlformats.org/officeDocument/2006/relationships/font" Target="fonts/Corbel-bold.fntdata"/><Relationship Id="rId41" Type="http://schemas.openxmlformats.org/officeDocument/2006/relationships/font" Target="fonts/Corbel-regular.fntdata"/><Relationship Id="rId22" Type="http://schemas.openxmlformats.org/officeDocument/2006/relationships/slide" Target="slides/slide16.xml"/><Relationship Id="rId44" Type="http://schemas.openxmlformats.org/officeDocument/2006/relationships/font" Target="fonts/Corbel-boldItalic.fntdata"/><Relationship Id="rId21" Type="http://schemas.openxmlformats.org/officeDocument/2006/relationships/slide" Target="slides/slide15.xml"/><Relationship Id="rId43" Type="http://schemas.openxmlformats.org/officeDocument/2006/relationships/font" Target="fonts/Corbel-italic.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AlfaSlabOn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ProximaNova-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ProximaNova-italic.fntdata"/><Relationship Id="rId16" Type="http://schemas.openxmlformats.org/officeDocument/2006/relationships/slide" Target="slides/slide10.xml"/><Relationship Id="rId38" Type="http://schemas.openxmlformats.org/officeDocument/2006/relationships/font" Target="fonts/ProximaNova-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1" i="0" lang="en-US" sz="1800" u="none" strike="noStrike">
                <a:solidFill>
                  <a:srgbClr val="000000"/>
                </a:solidFill>
                <a:latin typeface="Arial"/>
                <a:ea typeface="Arial"/>
                <a:cs typeface="Arial"/>
                <a:sym typeface="Arial"/>
              </a:rPr>
              <a:t>Step1</a:t>
            </a:r>
            <a:endParaRPr b="0" i="0" sz="1800" u="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800" u="none" strike="noStrike">
                <a:solidFill>
                  <a:srgbClr val="000000"/>
                </a:solidFill>
                <a:latin typeface="Arial"/>
                <a:ea typeface="Arial"/>
                <a:cs typeface="Arial"/>
                <a:sym typeface="Arial"/>
              </a:rPr>
              <a:t>Construct a transition table showing all reachable states for every state for every input signal. </a:t>
            </a:r>
            <a:endParaRPr/>
          </a:p>
          <a:p>
            <a:pPr indent="-228600" lvl="0" marL="457200" marR="0" rtl="0" algn="l">
              <a:lnSpc>
                <a:spcPct val="100000"/>
              </a:lnSpc>
              <a:spcBef>
                <a:spcPts val="0"/>
              </a:spcBef>
              <a:spcAft>
                <a:spcPts val="0"/>
              </a:spcAft>
              <a:buSzPts val="1400"/>
              <a:buNone/>
            </a:pPr>
            <a:r>
              <a:t/>
            </a:r>
            <a:endParaRPr b="0" i="0" sz="1800" u="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a:solidFill>
                  <a:srgbClr val="FFFFFF"/>
                </a:solidFill>
                <a:latin typeface="Arial"/>
                <a:ea typeface="Arial"/>
                <a:cs typeface="Arial"/>
                <a:sym typeface="Arial"/>
              </a:rPr>
              <a:t>Suppose there is an NFA N &lt; Q, ∑, q0, δ, F &gt; which recognizes a language L. Then the DFA D &lt; Q’, ∑, q0, δ’, F’ &gt; can be constructed for language L as:</a:t>
            </a:r>
            <a:br>
              <a:rPr lang="en-US"/>
            </a:br>
            <a:r>
              <a:rPr b="0" i="0" lang="en-US">
                <a:solidFill>
                  <a:srgbClr val="FFFFFF"/>
                </a:solidFill>
                <a:latin typeface="Arial"/>
                <a:ea typeface="Arial"/>
                <a:cs typeface="Arial"/>
                <a:sym typeface="Arial"/>
              </a:rPr>
              <a:t>Step 1: Initially Q’ = ɸ.</a:t>
            </a:r>
            <a:br>
              <a:rPr lang="en-US"/>
            </a:br>
            <a:r>
              <a:rPr b="0" i="0" lang="en-US">
                <a:solidFill>
                  <a:srgbClr val="FFFFFF"/>
                </a:solidFill>
                <a:latin typeface="Arial"/>
                <a:ea typeface="Arial"/>
                <a:cs typeface="Arial"/>
                <a:sym typeface="Arial"/>
              </a:rPr>
              <a:t>Step 2: Add q0 to Q’.</a:t>
            </a:r>
            <a:br>
              <a:rPr lang="en-US"/>
            </a:br>
            <a:r>
              <a:rPr b="0" i="0" lang="en-US">
                <a:solidFill>
                  <a:srgbClr val="FFFFFF"/>
                </a:solidFill>
                <a:latin typeface="Arial"/>
                <a:ea typeface="Arial"/>
                <a:cs typeface="Arial"/>
                <a:sym typeface="Arial"/>
              </a:rPr>
              <a:t>Step 3: For each state in Q’, find the possible set of states for each input symbol using transition function of NFA. If this set of states is not in Q’, add it to Q’.</a:t>
            </a:r>
            <a:br>
              <a:rPr lang="en-US"/>
            </a:br>
            <a:r>
              <a:rPr b="0" i="0" lang="en-US">
                <a:solidFill>
                  <a:srgbClr val="FFFFFF"/>
                </a:solidFill>
                <a:latin typeface="Arial"/>
                <a:ea typeface="Arial"/>
                <a:cs typeface="Arial"/>
                <a:sym typeface="Arial"/>
              </a:rPr>
              <a:t>Step 4: Final state of DFA will be all states with contain F (final states of NFA)</a:t>
            </a:r>
            <a:endParaRPr/>
          </a:p>
        </p:txBody>
      </p:sp>
      <p:sp>
        <p:nvSpPr>
          <p:cNvPr id="97" name="Google Shape;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800">
                <a:solidFill>
                  <a:srgbClr val="FFFFFF"/>
                </a:solidFill>
                <a:latin typeface="Arial"/>
                <a:ea typeface="Arial"/>
                <a:cs typeface="Arial"/>
                <a:sym typeface="Arial"/>
              </a:rPr>
              <a:t>Step 1: Initially Q’ = ɸ.</a:t>
            </a:r>
            <a:br>
              <a:rPr lang="en-US" sz="1800"/>
            </a:br>
            <a:r>
              <a:rPr b="0" i="0" lang="en-US" sz="1800">
                <a:solidFill>
                  <a:srgbClr val="FFFFFF"/>
                </a:solidFill>
                <a:latin typeface="Arial"/>
                <a:ea typeface="Arial"/>
                <a:cs typeface="Arial"/>
                <a:sym typeface="Arial"/>
              </a:rPr>
              <a:t>Step 2: Add q0 to Q’.</a:t>
            </a:r>
            <a:br>
              <a:rPr lang="en-US" sz="1800"/>
            </a:br>
            <a:r>
              <a:rPr b="0" i="0" lang="en-US" sz="1800">
                <a:solidFill>
                  <a:srgbClr val="FFFFFF"/>
                </a:solidFill>
                <a:latin typeface="Arial"/>
                <a:ea typeface="Arial"/>
                <a:cs typeface="Arial"/>
                <a:sym typeface="Arial"/>
              </a:rPr>
              <a:t>Step 3: For each state in Q’, find the possible set of states for each input symbol using transition function of NFA. If this set of states is not in Q’, add it to Q’.</a:t>
            </a:r>
            <a:br>
              <a:rPr lang="en-US" sz="1800"/>
            </a:br>
            <a:r>
              <a:rPr b="0" i="0" lang="en-US" sz="1800">
                <a:solidFill>
                  <a:srgbClr val="FFFFFF"/>
                </a:solidFill>
                <a:latin typeface="Arial"/>
                <a:ea typeface="Arial"/>
                <a:cs typeface="Arial"/>
                <a:sym typeface="Arial"/>
              </a:rPr>
              <a:t>Step 4: Final state of DFA will be all states with contain F (final states of NFA)</a:t>
            </a:r>
            <a:endParaRPr/>
          </a:p>
        </p:txBody>
      </p:sp>
      <p:sp>
        <p:nvSpPr>
          <p:cNvPr id="105" name="Google Shape;1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2800">
                <a:solidFill>
                  <a:srgbClr val="FFFFFF"/>
                </a:solidFill>
                <a:latin typeface="Arial"/>
                <a:ea typeface="Arial"/>
                <a:cs typeface="Arial"/>
                <a:sym typeface="Arial"/>
              </a:rPr>
              <a:t>Now, moves from state { q0, q1 } on different input symbols are not present in transition table of DFA, we will calculate it like:</a:t>
            </a:r>
            <a:br>
              <a:rPr lang="en-US" sz="2800"/>
            </a:br>
            <a:r>
              <a:rPr b="0" i="0" lang="en-US" sz="2800">
                <a:solidFill>
                  <a:srgbClr val="FFFFFF"/>
                </a:solidFill>
                <a:latin typeface="Arial"/>
                <a:ea typeface="Arial"/>
                <a:cs typeface="Arial"/>
                <a:sym typeface="Arial"/>
              </a:rPr>
              <a:t>δ’ ( { q0, q1 }, a ) = δ ( q0, a ) ∪ δ ( q1, a ) = { q0, q1 }</a:t>
            </a:r>
            <a:br>
              <a:rPr lang="en-US" sz="2800"/>
            </a:br>
            <a:r>
              <a:rPr b="0" i="0" lang="en-US" sz="2800">
                <a:solidFill>
                  <a:srgbClr val="FFFFFF"/>
                </a:solidFill>
                <a:latin typeface="Arial"/>
                <a:ea typeface="Arial"/>
                <a:cs typeface="Arial"/>
                <a:sym typeface="Arial"/>
              </a:rPr>
              <a:t>δ’ ( { q0, q1 }, b ) = δ ( q0, b ) ∪ δ ( q1, b ) = { q0, q2 }</a:t>
            </a:r>
            <a:br>
              <a:rPr lang="en-US" sz="2800"/>
            </a:br>
            <a:r>
              <a:rPr b="0" i="0" lang="en-US" sz="2800">
                <a:solidFill>
                  <a:srgbClr val="FFFFFF"/>
                </a:solidFill>
                <a:latin typeface="Arial"/>
                <a:ea typeface="Arial"/>
                <a:cs typeface="Arial"/>
                <a:sym typeface="Arial"/>
              </a:rPr>
              <a:t>Now we will update the transition table of DFA.</a:t>
            </a:r>
            <a:endParaRPr/>
          </a:p>
        </p:txBody>
      </p:sp>
      <p:sp>
        <p:nvSpPr>
          <p:cNvPr id="112" name="Google Shape;1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b="0" i="0" lang="en-US" sz="4000">
                <a:solidFill>
                  <a:srgbClr val="FFFFFF"/>
                </a:solidFill>
                <a:latin typeface="Arial"/>
                <a:ea typeface="Arial"/>
                <a:cs typeface="Arial"/>
                <a:sym typeface="Arial"/>
              </a:rPr>
              <a:t>Now { q0, q2 } will be considered as a single state. As its entry is not in Q’, add it to Q’.</a:t>
            </a:r>
            <a:br>
              <a:rPr b="0" i="0" lang="en-US" sz="4000">
                <a:solidFill>
                  <a:srgbClr val="FFFFFF"/>
                </a:solidFill>
                <a:latin typeface="Arial"/>
                <a:ea typeface="Arial"/>
                <a:cs typeface="Arial"/>
                <a:sym typeface="Arial"/>
              </a:rPr>
            </a:br>
            <a:r>
              <a:rPr b="0" i="0" lang="en-US" sz="4000">
                <a:solidFill>
                  <a:srgbClr val="FFFFFF"/>
                </a:solidFill>
                <a:latin typeface="Arial"/>
                <a:ea typeface="Arial"/>
                <a:cs typeface="Arial"/>
                <a:sym typeface="Arial"/>
              </a:rPr>
              <a:t>So Q’ = { q0, { q0, q1 }, { q0, q2 } }</a:t>
            </a:r>
            <a:endParaRPr/>
          </a:p>
          <a:p>
            <a:pPr indent="-228600" lvl="0" marL="457200" rtl="0" algn="l">
              <a:lnSpc>
                <a:spcPct val="100000"/>
              </a:lnSpc>
              <a:spcBef>
                <a:spcPts val="0"/>
              </a:spcBef>
              <a:spcAft>
                <a:spcPts val="0"/>
              </a:spcAft>
              <a:buSzPts val="1400"/>
              <a:buNone/>
            </a:pPr>
            <a:r>
              <a:rPr b="0" i="0" lang="en-US" sz="4000">
                <a:solidFill>
                  <a:srgbClr val="FFFFFF"/>
                </a:solidFill>
                <a:latin typeface="Arial"/>
                <a:ea typeface="Arial"/>
                <a:cs typeface="Arial"/>
                <a:sym typeface="Arial"/>
              </a:rPr>
              <a:t>Now, moves from state {q0, q2} on different input symbols are not present in transition table of DFA, we will calculate it like:</a:t>
            </a:r>
            <a:br>
              <a:rPr b="0" i="0" lang="en-US" sz="4000">
                <a:solidFill>
                  <a:srgbClr val="FFFFFF"/>
                </a:solidFill>
                <a:latin typeface="Arial"/>
                <a:ea typeface="Arial"/>
                <a:cs typeface="Arial"/>
                <a:sym typeface="Arial"/>
              </a:rPr>
            </a:br>
            <a:r>
              <a:rPr b="0" i="0" lang="en-US" sz="4000">
                <a:solidFill>
                  <a:srgbClr val="FFFFFF"/>
                </a:solidFill>
                <a:latin typeface="Arial"/>
                <a:ea typeface="Arial"/>
                <a:cs typeface="Arial"/>
                <a:sym typeface="Arial"/>
              </a:rPr>
              <a:t>δ’ ( { q0, q2 }, a ) = δ ( q0, a ) ∪ δ ( q2, a ) = { q0, q1 }</a:t>
            </a:r>
            <a:br>
              <a:rPr b="0" i="0" lang="en-US" sz="4000">
                <a:solidFill>
                  <a:srgbClr val="FFFFFF"/>
                </a:solidFill>
                <a:latin typeface="Arial"/>
                <a:ea typeface="Arial"/>
                <a:cs typeface="Arial"/>
                <a:sym typeface="Arial"/>
              </a:rPr>
            </a:br>
            <a:r>
              <a:rPr b="0" i="0" lang="en-US" sz="4000">
                <a:solidFill>
                  <a:srgbClr val="FFFFFF"/>
                </a:solidFill>
                <a:latin typeface="Arial"/>
                <a:ea typeface="Arial"/>
                <a:cs typeface="Arial"/>
                <a:sym typeface="Arial"/>
              </a:rPr>
              <a:t>δ’ ( { q0, q2 }, b ) = δ ( q0, b ) ∪ δ ( q2, b ) = { q0 }</a:t>
            </a:r>
            <a:br>
              <a:rPr b="0" i="0" lang="en-US" sz="4000">
                <a:solidFill>
                  <a:srgbClr val="FFFFFF"/>
                </a:solidFill>
                <a:latin typeface="Arial"/>
                <a:ea typeface="Arial"/>
                <a:cs typeface="Arial"/>
                <a:sym typeface="Arial"/>
              </a:rPr>
            </a:br>
            <a:r>
              <a:rPr b="0" i="0" lang="en-US" sz="4000">
                <a:solidFill>
                  <a:srgbClr val="FFFFFF"/>
                </a:solidFill>
                <a:latin typeface="Arial"/>
                <a:ea typeface="Arial"/>
                <a:cs typeface="Arial"/>
                <a:sym typeface="Arial"/>
              </a:rPr>
              <a:t>Now we will update the transition table of DFA.</a:t>
            </a:r>
            <a:endParaRPr/>
          </a:p>
          <a:p>
            <a:pPr indent="-228600" lvl="0" marL="457200" rtl="0" algn="l">
              <a:lnSpc>
                <a:spcPct val="100000"/>
              </a:lnSpc>
              <a:spcBef>
                <a:spcPts val="0"/>
              </a:spcBef>
              <a:spcAft>
                <a:spcPts val="0"/>
              </a:spcAft>
              <a:buSzPts val="1400"/>
              <a:buNone/>
            </a:pPr>
            <a:r>
              <a:t/>
            </a:r>
            <a:endParaRPr b="0" i="0" sz="4000">
              <a:solidFill>
                <a:srgbClr val="FFFFFF"/>
              </a:solidFill>
              <a:latin typeface="Arial"/>
              <a:ea typeface="Arial"/>
              <a:cs typeface="Arial"/>
              <a:sym typeface="Arial"/>
            </a:endParaRPr>
          </a:p>
          <a:p>
            <a:pPr indent="-228600" lvl="0" marL="457200" rtl="0" algn="l">
              <a:lnSpc>
                <a:spcPct val="100000"/>
              </a:lnSpc>
              <a:spcBef>
                <a:spcPts val="0"/>
              </a:spcBef>
              <a:spcAft>
                <a:spcPts val="0"/>
              </a:spcAft>
              <a:buSzPts val="1400"/>
              <a:buNone/>
            </a:pPr>
            <a:r>
              <a:rPr b="0" i="0" lang="en-US" sz="5400">
                <a:solidFill>
                  <a:srgbClr val="FFFFFF"/>
                </a:solidFill>
                <a:latin typeface="Arial"/>
                <a:ea typeface="Arial"/>
                <a:cs typeface="Arial"/>
                <a:sym typeface="Arial"/>
              </a:rPr>
              <a:t>As there is no new state generated, we are done with the conversion. Final state of DFA will be state which has q2 as its component i.e., { q0, q2 }</a:t>
            </a:r>
            <a:endParaRPr b="0" i="0" sz="4000">
              <a:solidFill>
                <a:srgbClr val="FFFFFF"/>
              </a:solidFill>
              <a:latin typeface="Arial"/>
              <a:ea typeface="Arial"/>
              <a:cs typeface="Arial"/>
              <a:sym typeface="Arial"/>
            </a:endParaRPr>
          </a:p>
        </p:txBody>
      </p:sp>
      <p:sp>
        <p:nvSpPr>
          <p:cNvPr id="120" name="Google Shape;1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b="0" i="0" lang="en-US" sz="5400">
                <a:solidFill>
                  <a:srgbClr val="FFFFFF"/>
                </a:solidFill>
                <a:latin typeface="Arial"/>
                <a:ea typeface="Arial"/>
                <a:cs typeface="Arial"/>
                <a:sym typeface="Arial"/>
              </a:rPr>
              <a:t>Q’ = { q0, { q0, q1 }, { q0, q2 } }</a:t>
            </a:r>
            <a:endParaRPr/>
          </a:p>
          <a:p>
            <a:pPr indent="-228600" lvl="0" marL="457200" rtl="0" algn="l">
              <a:lnSpc>
                <a:spcPct val="100000"/>
              </a:lnSpc>
              <a:spcBef>
                <a:spcPts val="0"/>
              </a:spcBef>
              <a:spcAft>
                <a:spcPts val="0"/>
              </a:spcAft>
              <a:buSzPts val="1400"/>
              <a:buNone/>
            </a:pPr>
            <a:r>
              <a:rPr b="0" i="0" lang="en-US" sz="5400">
                <a:solidFill>
                  <a:srgbClr val="FFFFFF"/>
                </a:solidFill>
                <a:latin typeface="Arial"/>
                <a:ea typeface="Arial"/>
                <a:cs typeface="Arial"/>
                <a:sym typeface="Arial"/>
              </a:rPr>
              <a:t>∑ = ( a, b )</a:t>
            </a:r>
            <a:endParaRPr/>
          </a:p>
          <a:p>
            <a:pPr indent="-228600" lvl="0" marL="457200" rtl="0" algn="l">
              <a:lnSpc>
                <a:spcPct val="100000"/>
              </a:lnSpc>
              <a:spcBef>
                <a:spcPts val="0"/>
              </a:spcBef>
              <a:spcAft>
                <a:spcPts val="0"/>
              </a:spcAft>
              <a:buSzPts val="1400"/>
              <a:buNone/>
            </a:pPr>
            <a:r>
              <a:rPr b="0" i="0" lang="en-US" sz="5400">
                <a:solidFill>
                  <a:srgbClr val="FFFFFF"/>
                </a:solidFill>
                <a:latin typeface="Arial"/>
                <a:ea typeface="Arial"/>
                <a:cs typeface="Arial"/>
                <a:sym typeface="Arial"/>
              </a:rPr>
              <a:t>F = { { q0, q2 } } and transition function δ’</a:t>
            </a:r>
            <a:endParaRPr b="0" i="0" sz="4000">
              <a:solidFill>
                <a:srgbClr val="FFFFFF"/>
              </a:solidFill>
              <a:latin typeface="Arial"/>
              <a:ea typeface="Arial"/>
              <a:cs typeface="Arial"/>
              <a:sym typeface="Arial"/>
            </a:endParaRPr>
          </a:p>
        </p:txBody>
      </p:sp>
      <p:sp>
        <p:nvSpPr>
          <p:cNvPr id="128" name="Google Shape;1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Start</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0,1,2,7,11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A</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2 -&gt; 3,4</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7 -&gt; 8,9</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B</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4 -&gt; 1,2,5,6,7,11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c</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9 -&gt; 1,2,6,7,10,11</a:t>
            </a:r>
            <a:endParaRPr/>
          </a:p>
          <a:p>
            <a:pPr indent="0" lvl="0" marL="0" rtl="0" algn="l">
              <a:lnSpc>
                <a:spcPct val="100000"/>
              </a:lnSpc>
              <a:spcBef>
                <a:spcPts val="0"/>
              </a:spcBef>
              <a:spcAft>
                <a:spcPts val="0"/>
              </a:spcAft>
              <a:buSzPts val="1400"/>
              <a:buNone/>
            </a:pPr>
            <a:r>
              <a:t/>
            </a:r>
            <a:endParaRPr/>
          </a:p>
        </p:txBody>
      </p:sp>
      <p:sp>
        <p:nvSpPr>
          <p:cNvPr id="137" name="Google Shape;13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Start</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0,1,2,7,11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A</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2 -&gt; 3,4</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7 -&gt; 8,9</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B</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4 -&gt; 1,2,5,6,7,11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c</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9 -&gt; 1,2,6,7,10,11</a:t>
            </a:r>
            <a:endParaRPr/>
          </a:p>
          <a:p>
            <a:pPr indent="0" lvl="0" marL="0" rtl="0" algn="l">
              <a:lnSpc>
                <a:spcPct val="100000"/>
              </a:lnSpc>
              <a:spcBef>
                <a:spcPts val="0"/>
              </a:spcBef>
              <a:spcAft>
                <a:spcPts val="0"/>
              </a:spcAft>
              <a:buSzPts val="1400"/>
              <a:buNone/>
            </a:pPr>
            <a:r>
              <a:t/>
            </a:r>
            <a:endParaRPr/>
          </a:p>
        </p:txBody>
      </p:sp>
      <p:sp>
        <p:nvSpPr>
          <p:cNvPr id="145" name="Google Shape;1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Start</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0,1,2,5,7,8</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A</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2 -&gt; 1,2,3,4,5,7,8</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8-&gt; 9,10,11,12,15,17</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12-&gt; 13,14,17</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b</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5 -&gt; 1,2,4,5,6,7,8</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15 -&gt; 14,16,17</a:t>
            </a:r>
            <a:endParaRPr/>
          </a:p>
          <a:p>
            <a:pPr indent="0" lvl="0" marL="0" rtl="0" algn="l">
              <a:lnSpc>
                <a:spcPct val="100000"/>
              </a:lnSpc>
              <a:spcBef>
                <a:spcPts val="0"/>
              </a:spcBef>
              <a:spcAft>
                <a:spcPts val="0"/>
              </a:spcAft>
              <a:buSzPts val="1400"/>
              <a:buNone/>
            </a:pPr>
            <a:r>
              <a:t/>
            </a:r>
            <a:endParaRPr/>
          </a:p>
        </p:txBody>
      </p:sp>
      <p:sp>
        <p:nvSpPr>
          <p:cNvPr id="201" name="Google Shape;20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Start</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0,1,2,7,11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A</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2 -&gt; 3,4</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7 -&gt; 8,9</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B</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4 -&gt; 1,2,5,6,7,11</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c</a:t>
            </a:r>
            <a:endParaRPr/>
          </a:p>
          <a:p>
            <a:pPr indent="0" lvl="0" marL="0" marR="0" rtl="0" algn="l">
              <a:lnSpc>
                <a:spcPct val="107000"/>
              </a:lnSpc>
              <a:spcBef>
                <a:spcPts val="0"/>
              </a:spcBef>
              <a:spcAft>
                <a:spcPts val="0"/>
              </a:spcAft>
              <a:buSzPts val="1400"/>
              <a:buChar char="●"/>
            </a:pPr>
            <a:r>
              <a:rPr lang="en-US" sz="1800">
                <a:latin typeface="Calibri"/>
                <a:ea typeface="Calibri"/>
                <a:cs typeface="Calibri"/>
                <a:sym typeface="Calibri"/>
              </a:rPr>
              <a:t>9 -&gt; 1,2,6,7,10,11</a:t>
            </a:r>
            <a:endParaRPr/>
          </a:p>
          <a:p>
            <a:pPr indent="0" lvl="0" marL="0" rtl="0" algn="l">
              <a:lnSpc>
                <a:spcPct val="100000"/>
              </a:lnSpc>
              <a:spcBef>
                <a:spcPts val="0"/>
              </a:spcBef>
              <a:spcAft>
                <a:spcPts val="0"/>
              </a:spcAft>
              <a:buSzPts val="1400"/>
              <a:buNone/>
            </a:pPr>
            <a:r>
              <a:t/>
            </a:r>
            <a:endParaRPr/>
          </a:p>
        </p:txBody>
      </p:sp>
      <p:sp>
        <p:nvSpPr>
          <p:cNvPr id="209" name="Google Shape;20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32"/>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2" name="Google Shape;12;p32"/>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 name="Google Shape;16;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 name="Shape 18"/>
        <p:cNvGrpSpPr/>
        <p:nvPr/>
      </p:nvGrpSpPr>
      <p:grpSpPr>
        <a:xfrm>
          <a:off x="0" y="0"/>
          <a:ext cx="0" cy="0"/>
          <a:chOff x="0" y="0"/>
          <a:chExt cx="0" cy="0"/>
        </a:xfrm>
      </p:grpSpPr>
      <p:sp>
        <p:nvSpPr>
          <p:cNvPr id="19" name="Google Shape;19;p34"/>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 name="Google Shape;20;p3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1" name="Google Shape;21;p34"/>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22" name="Google Shape;22;p34"/>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3" name="Google Shape;23;p3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4" name="Google Shape;24;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 name="Shape 25"/>
        <p:cNvGrpSpPr/>
        <p:nvPr/>
      </p:nvGrpSpPr>
      <p:grpSpPr>
        <a:xfrm>
          <a:off x="0" y="0"/>
          <a:ext cx="0" cy="0"/>
          <a:chOff x="0" y="0"/>
          <a:chExt cx="0" cy="0"/>
        </a:xfrm>
      </p:grpSpPr>
      <p:sp>
        <p:nvSpPr>
          <p:cNvPr id="26" name="Google Shape;26;p35"/>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1000"/>
              <a:buNone/>
              <a:defRPr sz="11000">
                <a:solidFill>
                  <a:schemeClr val="dk1"/>
                </a:solidFill>
              </a:defRPr>
            </a:lvl1pPr>
            <a:lvl2pPr lvl="1" algn="ctr">
              <a:lnSpc>
                <a:spcPct val="100000"/>
              </a:lnSpc>
              <a:spcBef>
                <a:spcPts val="0"/>
              </a:spcBef>
              <a:spcAft>
                <a:spcPts val="0"/>
              </a:spcAft>
              <a:buClr>
                <a:schemeClr val="dk1"/>
              </a:buClr>
              <a:buSzPts val="11000"/>
              <a:buNone/>
              <a:defRPr sz="11000">
                <a:solidFill>
                  <a:schemeClr val="dk1"/>
                </a:solidFill>
              </a:defRPr>
            </a:lvl2pPr>
            <a:lvl3pPr lvl="2" algn="ctr">
              <a:lnSpc>
                <a:spcPct val="100000"/>
              </a:lnSpc>
              <a:spcBef>
                <a:spcPts val="0"/>
              </a:spcBef>
              <a:spcAft>
                <a:spcPts val="0"/>
              </a:spcAft>
              <a:buClr>
                <a:schemeClr val="dk1"/>
              </a:buClr>
              <a:buSzPts val="11000"/>
              <a:buNone/>
              <a:defRPr sz="11000">
                <a:solidFill>
                  <a:schemeClr val="dk1"/>
                </a:solidFill>
              </a:defRPr>
            </a:lvl3pPr>
            <a:lvl4pPr lvl="3" algn="ctr">
              <a:lnSpc>
                <a:spcPct val="100000"/>
              </a:lnSpc>
              <a:spcBef>
                <a:spcPts val="0"/>
              </a:spcBef>
              <a:spcAft>
                <a:spcPts val="0"/>
              </a:spcAft>
              <a:buClr>
                <a:schemeClr val="dk1"/>
              </a:buClr>
              <a:buSzPts val="11000"/>
              <a:buNone/>
              <a:defRPr sz="11000">
                <a:solidFill>
                  <a:schemeClr val="dk1"/>
                </a:solidFill>
              </a:defRPr>
            </a:lvl4pPr>
            <a:lvl5pPr lvl="4" algn="ctr">
              <a:lnSpc>
                <a:spcPct val="100000"/>
              </a:lnSpc>
              <a:spcBef>
                <a:spcPts val="0"/>
              </a:spcBef>
              <a:spcAft>
                <a:spcPts val="0"/>
              </a:spcAft>
              <a:buClr>
                <a:schemeClr val="dk1"/>
              </a:buClr>
              <a:buSzPts val="11000"/>
              <a:buNone/>
              <a:defRPr sz="11000">
                <a:solidFill>
                  <a:schemeClr val="dk1"/>
                </a:solidFill>
              </a:defRPr>
            </a:lvl5pPr>
            <a:lvl6pPr lvl="5" algn="ctr">
              <a:lnSpc>
                <a:spcPct val="100000"/>
              </a:lnSpc>
              <a:spcBef>
                <a:spcPts val="0"/>
              </a:spcBef>
              <a:spcAft>
                <a:spcPts val="0"/>
              </a:spcAft>
              <a:buClr>
                <a:schemeClr val="dk1"/>
              </a:buClr>
              <a:buSzPts val="11000"/>
              <a:buNone/>
              <a:defRPr sz="11000">
                <a:solidFill>
                  <a:schemeClr val="dk1"/>
                </a:solidFill>
              </a:defRPr>
            </a:lvl6pPr>
            <a:lvl7pPr lvl="6" algn="ctr">
              <a:lnSpc>
                <a:spcPct val="100000"/>
              </a:lnSpc>
              <a:spcBef>
                <a:spcPts val="0"/>
              </a:spcBef>
              <a:spcAft>
                <a:spcPts val="0"/>
              </a:spcAft>
              <a:buClr>
                <a:schemeClr val="dk1"/>
              </a:buClr>
              <a:buSzPts val="11000"/>
              <a:buNone/>
              <a:defRPr sz="11000">
                <a:solidFill>
                  <a:schemeClr val="dk1"/>
                </a:solidFill>
              </a:defRPr>
            </a:lvl7pPr>
            <a:lvl8pPr lvl="7" algn="ctr">
              <a:lnSpc>
                <a:spcPct val="100000"/>
              </a:lnSpc>
              <a:spcBef>
                <a:spcPts val="0"/>
              </a:spcBef>
              <a:spcAft>
                <a:spcPts val="0"/>
              </a:spcAft>
              <a:buClr>
                <a:schemeClr val="dk1"/>
              </a:buClr>
              <a:buSzPts val="11000"/>
              <a:buNone/>
              <a:defRPr sz="11000">
                <a:solidFill>
                  <a:schemeClr val="dk1"/>
                </a:solidFill>
              </a:defRPr>
            </a:lvl8pPr>
            <a:lvl9pPr lvl="8"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27" name="Google Shape;27;p35"/>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8" name="Google Shape;2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9" name="Shape 29"/>
        <p:cNvGrpSpPr/>
        <p:nvPr/>
      </p:nvGrpSpPr>
      <p:grpSpPr>
        <a:xfrm>
          <a:off x="0" y="0"/>
          <a:ext cx="0" cy="0"/>
          <a:chOff x="0" y="0"/>
          <a:chExt cx="0" cy="0"/>
        </a:xfrm>
      </p:grpSpPr>
      <p:sp>
        <p:nvSpPr>
          <p:cNvPr id="30" name="Google Shape;30;p36"/>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6800"/>
              <a:buNone/>
              <a:defRPr sz="6800">
                <a:solidFill>
                  <a:schemeClr val="lt1"/>
                </a:solidFill>
              </a:defRPr>
            </a:lvl1pPr>
            <a:lvl2pPr lvl="1" algn="l">
              <a:lnSpc>
                <a:spcPct val="100000"/>
              </a:lnSpc>
              <a:spcBef>
                <a:spcPts val="0"/>
              </a:spcBef>
              <a:spcAft>
                <a:spcPts val="0"/>
              </a:spcAft>
              <a:buClr>
                <a:schemeClr val="lt1"/>
              </a:buClr>
              <a:buSzPts val="6800"/>
              <a:buNone/>
              <a:defRPr sz="6800">
                <a:solidFill>
                  <a:schemeClr val="lt1"/>
                </a:solidFill>
              </a:defRPr>
            </a:lvl2pPr>
            <a:lvl3pPr lvl="2" algn="l">
              <a:lnSpc>
                <a:spcPct val="100000"/>
              </a:lnSpc>
              <a:spcBef>
                <a:spcPts val="0"/>
              </a:spcBef>
              <a:spcAft>
                <a:spcPts val="0"/>
              </a:spcAft>
              <a:buClr>
                <a:schemeClr val="lt1"/>
              </a:buClr>
              <a:buSzPts val="6800"/>
              <a:buNone/>
              <a:defRPr sz="6800">
                <a:solidFill>
                  <a:schemeClr val="lt1"/>
                </a:solidFill>
              </a:defRPr>
            </a:lvl3pPr>
            <a:lvl4pPr lvl="3" algn="l">
              <a:lnSpc>
                <a:spcPct val="100000"/>
              </a:lnSpc>
              <a:spcBef>
                <a:spcPts val="0"/>
              </a:spcBef>
              <a:spcAft>
                <a:spcPts val="0"/>
              </a:spcAft>
              <a:buClr>
                <a:schemeClr val="lt1"/>
              </a:buClr>
              <a:buSzPts val="6800"/>
              <a:buNone/>
              <a:defRPr sz="6800">
                <a:solidFill>
                  <a:schemeClr val="lt1"/>
                </a:solidFill>
              </a:defRPr>
            </a:lvl4pPr>
            <a:lvl5pPr lvl="4" algn="l">
              <a:lnSpc>
                <a:spcPct val="100000"/>
              </a:lnSpc>
              <a:spcBef>
                <a:spcPts val="0"/>
              </a:spcBef>
              <a:spcAft>
                <a:spcPts val="0"/>
              </a:spcAft>
              <a:buClr>
                <a:schemeClr val="lt1"/>
              </a:buClr>
              <a:buSzPts val="6800"/>
              <a:buNone/>
              <a:defRPr sz="6800">
                <a:solidFill>
                  <a:schemeClr val="lt1"/>
                </a:solidFill>
              </a:defRPr>
            </a:lvl5pPr>
            <a:lvl6pPr lvl="5" algn="l">
              <a:lnSpc>
                <a:spcPct val="100000"/>
              </a:lnSpc>
              <a:spcBef>
                <a:spcPts val="0"/>
              </a:spcBef>
              <a:spcAft>
                <a:spcPts val="0"/>
              </a:spcAft>
              <a:buClr>
                <a:schemeClr val="lt1"/>
              </a:buClr>
              <a:buSzPts val="6800"/>
              <a:buNone/>
              <a:defRPr sz="6800">
                <a:solidFill>
                  <a:schemeClr val="lt1"/>
                </a:solidFill>
              </a:defRPr>
            </a:lvl6pPr>
            <a:lvl7pPr lvl="6" algn="l">
              <a:lnSpc>
                <a:spcPct val="100000"/>
              </a:lnSpc>
              <a:spcBef>
                <a:spcPts val="0"/>
              </a:spcBef>
              <a:spcAft>
                <a:spcPts val="0"/>
              </a:spcAft>
              <a:buClr>
                <a:schemeClr val="lt1"/>
              </a:buClr>
              <a:buSzPts val="6800"/>
              <a:buNone/>
              <a:defRPr sz="6800">
                <a:solidFill>
                  <a:schemeClr val="lt1"/>
                </a:solidFill>
              </a:defRPr>
            </a:lvl7pPr>
            <a:lvl8pPr lvl="7" algn="l">
              <a:lnSpc>
                <a:spcPct val="100000"/>
              </a:lnSpc>
              <a:spcBef>
                <a:spcPts val="0"/>
              </a:spcBef>
              <a:spcAft>
                <a:spcPts val="0"/>
              </a:spcAft>
              <a:buClr>
                <a:schemeClr val="lt1"/>
              </a:buClr>
              <a:buSzPts val="6800"/>
              <a:buNone/>
              <a:defRPr sz="6800">
                <a:solidFill>
                  <a:schemeClr val="lt1"/>
                </a:solidFill>
              </a:defRPr>
            </a:lvl8pPr>
            <a:lvl9pPr lvl="8" algn="l">
              <a:lnSpc>
                <a:spcPct val="100000"/>
              </a:lnSpc>
              <a:spcBef>
                <a:spcPts val="0"/>
              </a:spcBef>
              <a:spcAft>
                <a:spcPts val="0"/>
              </a:spcAft>
              <a:buClr>
                <a:schemeClr val="lt1"/>
              </a:buClr>
              <a:buSzPts val="6800"/>
              <a:buNone/>
              <a:defRPr sz="6800">
                <a:solidFill>
                  <a:schemeClr val="lt1"/>
                </a:solidFill>
              </a:defRPr>
            </a:lvl9pPr>
          </a:lstStyle>
          <a:p/>
        </p:txBody>
      </p:sp>
      <p:sp>
        <p:nvSpPr>
          <p:cNvPr id="31" name="Google Shape;31;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4" name="Google Shape;34;p3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3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38"/>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9" name="Google Shape;39;p38"/>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9"/>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3" name="Google Shape;4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6" name="Shape 46"/>
        <p:cNvGrpSpPr/>
        <p:nvPr/>
      </p:nvGrpSpPr>
      <p:grpSpPr>
        <a:xfrm>
          <a:off x="0" y="0"/>
          <a:ext cx="0" cy="0"/>
          <a:chOff x="0" y="0"/>
          <a:chExt cx="0" cy="0"/>
        </a:xfrm>
      </p:grpSpPr>
      <p:sp>
        <p:nvSpPr>
          <p:cNvPr id="47" name="Google Shape;47;p41"/>
          <p:cNvSpPr/>
          <p:nvPr/>
        </p:nvSpPr>
        <p:spPr>
          <a:xfrm>
            <a:off x="-5132" y="1544259"/>
            <a:ext cx="9146751" cy="1371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1"/>
          <p:cNvSpPr txBox="1"/>
          <p:nvPr>
            <p:ph type="title"/>
          </p:nvPr>
        </p:nvSpPr>
        <p:spPr>
          <a:xfrm>
            <a:off x="624893" y="1656659"/>
            <a:ext cx="7886700" cy="1257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3000"/>
              <a:buNone/>
              <a:defRPr b="0" sz="4500">
                <a:solidFill>
                  <a:schemeClr val="lt1"/>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9" name="Google Shape;49;p41"/>
          <p:cNvSpPr txBox="1"/>
          <p:nvPr>
            <p:ph idx="1" type="body"/>
          </p:nvPr>
        </p:nvSpPr>
        <p:spPr>
          <a:xfrm>
            <a:off x="624893" y="3007753"/>
            <a:ext cx="7886700" cy="880979"/>
          </a:xfrm>
          <a:prstGeom prst="rect">
            <a:avLst/>
          </a:prstGeom>
          <a:noFill/>
          <a:ln>
            <a:noFill/>
          </a:ln>
        </p:spPr>
        <p:txBody>
          <a:bodyPr anchorCtr="0" anchor="t" bIns="91425" lIns="91425" spcFirstLastPara="1" rIns="91425" wrap="square" tIns="91425">
            <a:normAutofit/>
          </a:bodyPr>
          <a:lstStyle>
            <a:lvl1pPr indent="-228600" lvl="0" marL="457200" algn="ctr">
              <a:lnSpc>
                <a:spcPct val="115000"/>
              </a:lnSpc>
              <a:spcBef>
                <a:spcPts val="0"/>
              </a:spcBef>
              <a:spcAft>
                <a:spcPts val="0"/>
              </a:spcAft>
              <a:buSzPts val="1800"/>
              <a:buNone/>
              <a:defRPr sz="1500">
                <a:solidFill>
                  <a:schemeClr val="dk2"/>
                </a:solidFill>
              </a:defRPr>
            </a:lvl1pPr>
            <a:lvl2pPr indent="-228600" lvl="1" marL="914400" algn="l">
              <a:lnSpc>
                <a:spcPct val="115000"/>
              </a:lnSpc>
              <a:spcBef>
                <a:spcPts val="0"/>
              </a:spcBef>
              <a:spcAft>
                <a:spcPts val="0"/>
              </a:spcAft>
              <a:buSzPts val="1400"/>
              <a:buNone/>
              <a:defRPr sz="1350">
                <a:solidFill>
                  <a:srgbClr val="91AEF7"/>
                </a:solidFill>
              </a:defRPr>
            </a:lvl2pPr>
            <a:lvl3pPr indent="-228600" lvl="2" marL="1371600" algn="l">
              <a:lnSpc>
                <a:spcPct val="115000"/>
              </a:lnSpc>
              <a:spcBef>
                <a:spcPts val="0"/>
              </a:spcBef>
              <a:spcAft>
                <a:spcPts val="0"/>
              </a:spcAft>
              <a:buSzPts val="1400"/>
              <a:buNone/>
              <a:defRPr sz="1200">
                <a:solidFill>
                  <a:srgbClr val="91AEF7"/>
                </a:solidFill>
              </a:defRPr>
            </a:lvl3pPr>
            <a:lvl4pPr indent="-228600" lvl="3" marL="1828800" algn="l">
              <a:lnSpc>
                <a:spcPct val="115000"/>
              </a:lnSpc>
              <a:spcBef>
                <a:spcPts val="0"/>
              </a:spcBef>
              <a:spcAft>
                <a:spcPts val="0"/>
              </a:spcAft>
              <a:buSzPts val="1400"/>
              <a:buNone/>
              <a:defRPr sz="1050">
                <a:solidFill>
                  <a:srgbClr val="91AEF7"/>
                </a:solidFill>
              </a:defRPr>
            </a:lvl4pPr>
            <a:lvl5pPr indent="-228600" lvl="4" marL="2286000" algn="l">
              <a:lnSpc>
                <a:spcPct val="115000"/>
              </a:lnSpc>
              <a:spcBef>
                <a:spcPts val="0"/>
              </a:spcBef>
              <a:spcAft>
                <a:spcPts val="0"/>
              </a:spcAft>
              <a:buSzPts val="1400"/>
              <a:buNone/>
              <a:defRPr sz="1050">
                <a:solidFill>
                  <a:srgbClr val="91AEF7"/>
                </a:solidFill>
              </a:defRPr>
            </a:lvl5pPr>
            <a:lvl6pPr indent="-228600" lvl="5" marL="2743200" algn="l">
              <a:lnSpc>
                <a:spcPct val="115000"/>
              </a:lnSpc>
              <a:spcBef>
                <a:spcPts val="0"/>
              </a:spcBef>
              <a:spcAft>
                <a:spcPts val="0"/>
              </a:spcAft>
              <a:buSzPts val="1400"/>
              <a:buNone/>
              <a:defRPr sz="1050">
                <a:solidFill>
                  <a:srgbClr val="91AEF7"/>
                </a:solidFill>
              </a:defRPr>
            </a:lvl6pPr>
            <a:lvl7pPr indent="-228600" lvl="6" marL="3200400" algn="l">
              <a:lnSpc>
                <a:spcPct val="115000"/>
              </a:lnSpc>
              <a:spcBef>
                <a:spcPts val="0"/>
              </a:spcBef>
              <a:spcAft>
                <a:spcPts val="0"/>
              </a:spcAft>
              <a:buSzPts val="1400"/>
              <a:buNone/>
              <a:defRPr sz="1050">
                <a:solidFill>
                  <a:srgbClr val="91AEF7"/>
                </a:solidFill>
              </a:defRPr>
            </a:lvl7pPr>
            <a:lvl8pPr indent="-228600" lvl="7" marL="3657600" algn="l">
              <a:lnSpc>
                <a:spcPct val="115000"/>
              </a:lnSpc>
              <a:spcBef>
                <a:spcPts val="0"/>
              </a:spcBef>
              <a:spcAft>
                <a:spcPts val="0"/>
              </a:spcAft>
              <a:buSzPts val="1400"/>
              <a:buNone/>
              <a:defRPr sz="1050">
                <a:solidFill>
                  <a:srgbClr val="91AEF7"/>
                </a:solidFill>
              </a:defRPr>
            </a:lvl8pPr>
            <a:lvl9pPr indent="-228600" lvl="8" marL="4114800" algn="l">
              <a:lnSpc>
                <a:spcPct val="115000"/>
              </a:lnSpc>
              <a:spcBef>
                <a:spcPts val="0"/>
              </a:spcBef>
              <a:spcAft>
                <a:spcPts val="0"/>
              </a:spcAft>
              <a:buSzPts val="1400"/>
              <a:buNone/>
              <a:defRPr sz="1050">
                <a:solidFill>
                  <a:srgbClr val="91AEF7"/>
                </a:solidFill>
              </a:defRPr>
            </a:lvl9pPr>
          </a:lstStyle>
          <a:p/>
        </p:txBody>
      </p:sp>
      <p:sp>
        <p:nvSpPr>
          <p:cNvPr id="50" name="Google Shape;50;p4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1" name="Google Shape;51;p4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2" name="Google Shape;5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1pPr>
            <a:lvl2pPr indent="0" lvl="1"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2pPr>
            <a:lvl3pPr indent="0" lvl="2"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3pPr>
            <a:lvl4pPr indent="0" lvl="3"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4pPr>
            <a:lvl5pPr indent="0" lvl="4"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5pPr>
            <a:lvl6pPr indent="0" lvl="5"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6pPr>
            <a:lvl7pPr indent="0" lvl="6"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7pPr>
            <a:lvl8pPr indent="0" lvl="7"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8pPr>
            <a:lvl9pPr indent="0" lvl="8" marL="0" algn="r">
              <a:lnSpc>
                <a:spcPct val="100000"/>
              </a:lnSpc>
              <a:spcBef>
                <a:spcPts val="0"/>
              </a:spcBef>
              <a:spcAft>
                <a:spcPts val="0"/>
              </a:spcAft>
              <a:buSzPts val="1000"/>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42"/>
          <p:cNvSpPr txBox="1"/>
          <p:nvPr>
            <p:ph type="title"/>
          </p:nvPr>
        </p:nvSpPr>
        <p:spPr>
          <a:xfrm>
            <a:off x="902189" y="213132"/>
            <a:ext cx="7338060" cy="113157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2"/>
          <p:cNvSpPr txBox="1"/>
          <p:nvPr>
            <p:ph idx="1" type="body"/>
          </p:nvPr>
        </p:nvSpPr>
        <p:spPr>
          <a:xfrm>
            <a:off x="902189" y="1508760"/>
            <a:ext cx="7338060" cy="31546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00"/>
              </a:spcBef>
              <a:spcAft>
                <a:spcPts val="0"/>
              </a:spcAft>
              <a:buSzPts val="1800"/>
              <a:buChar char="▪"/>
              <a:defRPr/>
            </a:lvl1pPr>
            <a:lvl2pPr indent="-342900" lvl="1" marL="914400" algn="l">
              <a:lnSpc>
                <a:spcPct val="90000"/>
              </a:lnSpc>
              <a:spcBef>
                <a:spcPts val="15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56" name="Google Shape;56;p42"/>
          <p:cNvSpPr txBox="1"/>
          <p:nvPr>
            <p:ph idx="10" type="dt"/>
          </p:nvPr>
        </p:nvSpPr>
        <p:spPr>
          <a:xfrm>
            <a:off x="901699" y="4817141"/>
            <a:ext cx="2250671" cy="273844"/>
          </a:xfrm>
          <a:prstGeom prst="rect">
            <a:avLst/>
          </a:prstGeom>
          <a:noFill/>
          <a:ln>
            <a:noFill/>
          </a:ln>
        </p:spPr>
        <p:txBody>
          <a:bodyPr anchorCtr="0" anchor="ctr" bIns="45700" lIns="91425" spcFirstLastPara="1" rIns="45700"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p42"/>
          <p:cNvSpPr txBox="1"/>
          <p:nvPr>
            <p:ph idx="11" type="ftr"/>
          </p:nvPr>
        </p:nvSpPr>
        <p:spPr>
          <a:xfrm>
            <a:off x="4197353" y="4817141"/>
            <a:ext cx="3783330" cy="273844"/>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42"/>
          <p:cNvSpPr txBox="1"/>
          <p:nvPr>
            <p:ph idx="12" type="sldNum"/>
          </p:nvPr>
        </p:nvSpPr>
        <p:spPr>
          <a:xfrm>
            <a:off x="7994195" y="4817141"/>
            <a:ext cx="709698" cy="273844"/>
          </a:xfrm>
          <a:prstGeom prst="rect">
            <a:avLst/>
          </a:prstGeom>
          <a:noFill/>
          <a:ln>
            <a:noFill/>
          </a:ln>
        </p:spPr>
        <p:txBody>
          <a:bodyPr anchorCtr="0" anchor="ctr" bIns="45700" lIns="45700"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200"/>
              <a:buFont typeface="Arial"/>
              <a:buNone/>
              <a:defRPr b="0" i="0" sz="9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7" name="Google Shape;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descr="Compiler Design [GTU] - Last Moment Tuitions" id="63" name="Google Shape;63;p1"/>
          <p:cNvPicPr preferRelativeResize="0"/>
          <p:nvPr/>
        </p:nvPicPr>
        <p:blipFill rotWithShape="1">
          <a:blip r:embed="rId3">
            <a:alphaModFix amt="12000"/>
          </a:blip>
          <a:srcRect b="31084" l="0" r="0" t="0"/>
          <a:stretch/>
        </p:blipFill>
        <p:spPr>
          <a:xfrm>
            <a:off x="-14560" y="-1"/>
            <a:ext cx="9158560" cy="5143501"/>
          </a:xfrm>
          <a:prstGeom prst="rect">
            <a:avLst/>
          </a:prstGeom>
          <a:noFill/>
          <a:ln>
            <a:noFill/>
          </a:ln>
        </p:spPr>
      </p:pic>
      <p:sp>
        <p:nvSpPr>
          <p:cNvPr id="64" name="Google Shape;64;p1"/>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US"/>
              <a:t>Compilers Theory</a:t>
            </a:r>
            <a:endParaRPr/>
          </a:p>
        </p:txBody>
      </p:sp>
      <p:sp>
        <p:nvSpPr>
          <p:cNvPr id="65" name="Google Shape;65;p1"/>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US" sz="2400"/>
              <a:t>Lab </a:t>
            </a:r>
            <a:r>
              <a:rPr lang="en-US"/>
              <a:t>4</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1600"/>
              </a:spcAft>
              <a:buSzPct val="92593"/>
              <a:buNone/>
            </a:pPr>
            <a:r>
              <a:rPr lang="en-US" sz="3600"/>
              <a:t>Quiz</a:t>
            </a:r>
            <a:endParaRPr sz="2400"/>
          </a:p>
        </p:txBody>
      </p:sp>
      <p:sp>
        <p:nvSpPr>
          <p:cNvPr id="71" name="Google Shape;7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SzPts val="1800"/>
              <a:buNone/>
            </a:pPr>
            <a:r>
              <a:t/>
            </a:r>
            <a:endParaRPr b="1" sz="2800" u="sng"/>
          </a:p>
          <a:p>
            <a:pPr indent="-228600" lvl="0" marL="457200" rtl="0" algn="l">
              <a:lnSpc>
                <a:spcPct val="115000"/>
              </a:lnSpc>
              <a:spcBef>
                <a:spcPts val="0"/>
              </a:spcBef>
              <a:spcAft>
                <a:spcPts val="0"/>
              </a:spcAft>
              <a:buSzPts val="1800"/>
              <a:buNone/>
            </a:pPr>
            <a:r>
              <a:t/>
            </a:r>
            <a:endParaRPr b="1" sz="2800" u="sng"/>
          </a:p>
          <a:p>
            <a:pPr indent="0" lvl="0" marL="114300" rtl="0" algn="ctr">
              <a:lnSpc>
                <a:spcPct val="115000"/>
              </a:lnSpc>
              <a:spcBef>
                <a:spcPts val="0"/>
              </a:spcBef>
              <a:spcAft>
                <a:spcPts val="0"/>
              </a:spcAft>
              <a:buSzPts val="1800"/>
              <a:buNone/>
            </a:pPr>
            <a:r>
              <a:rPr b="1" lang="en-US" sz="2800" u="sng"/>
              <a:t>30 minutes</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1600"/>
              </a:spcAft>
              <a:buSzPct val="92593"/>
              <a:buNone/>
            </a:pPr>
            <a:r>
              <a:rPr lang="en-US" sz="3600"/>
              <a:t>Important Note</a:t>
            </a:r>
            <a:endParaRPr sz="2400"/>
          </a:p>
        </p:txBody>
      </p:sp>
      <p:sp>
        <p:nvSpPr>
          <p:cNvPr id="77" name="Google Shape;7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228600" lvl="0" marL="457200" rtl="0" algn="l">
              <a:lnSpc>
                <a:spcPct val="115000"/>
              </a:lnSpc>
              <a:spcBef>
                <a:spcPts val="0"/>
              </a:spcBef>
              <a:spcAft>
                <a:spcPts val="0"/>
              </a:spcAft>
              <a:buSzPts val="1800"/>
              <a:buNone/>
            </a:pPr>
            <a:r>
              <a:t/>
            </a:r>
            <a:endParaRPr b="1" sz="2800" u="sng"/>
          </a:p>
          <a:p>
            <a:pPr indent="-228600" lvl="0" marL="457200" rtl="0" algn="l">
              <a:lnSpc>
                <a:spcPct val="115000"/>
              </a:lnSpc>
              <a:spcBef>
                <a:spcPts val="0"/>
              </a:spcBef>
              <a:spcAft>
                <a:spcPts val="0"/>
              </a:spcAft>
              <a:buSzPts val="1800"/>
              <a:buNone/>
            </a:pPr>
            <a:r>
              <a:t/>
            </a:r>
            <a:endParaRPr b="1" sz="2800" u="sng"/>
          </a:p>
          <a:p>
            <a:pPr indent="0" lvl="0" marL="114300" rtl="0" algn="ctr">
              <a:lnSpc>
                <a:spcPct val="115000"/>
              </a:lnSpc>
              <a:spcBef>
                <a:spcPts val="0"/>
              </a:spcBef>
              <a:spcAft>
                <a:spcPts val="0"/>
              </a:spcAft>
              <a:buSzPts val="1800"/>
              <a:buNone/>
            </a:pPr>
            <a:r>
              <a:rPr b="1" lang="en-US" sz="2800" u="sng"/>
              <a:t>Milestone 1 Discussion:</a:t>
            </a:r>
            <a:endParaRPr/>
          </a:p>
          <a:p>
            <a:pPr indent="0" lvl="0" marL="114300" rtl="0" algn="ctr">
              <a:lnSpc>
                <a:spcPct val="115000"/>
              </a:lnSpc>
              <a:spcBef>
                <a:spcPts val="0"/>
              </a:spcBef>
              <a:spcAft>
                <a:spcPts val="0"/>
              </a:spcAft>
              <a:buSzPts val="1800"/>
              <a:buNone/>
            </a:pPr>
            <a:r>
              <a:rPr lang="en-US" sz="2800"/>
              <a:t>Next Week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4"/>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latin typeface="Alfa Slab One"/>
                <a:ea typeface="Alfa Slab One"/>
                <a:cs typeface="Alfa Slab One"/>
                <a:sym typeface="Alfa Slab One"/>
              </a:rPr>
              <a:t>REMINDER!</a:t>
            </a:r>
            <a:endParaRPr>
              <a:latin typeface="Alfa Slab One"/>
              <a:ea typeface="Alfa Slab One"/>
              <a:cs typeface="Alfa Slab One"/>
              <a:sym typeface="Alfa Slab One"/>
            </a:endParaRPr>
          </a:p>
        </p:txBody>
      </p:sp>
      <p:sp>
        <p:nvSpPr>
          <p:cNvPr id="83" name="Google Shape;83;p4"/>
          <p:cNvSpPr txBox="1"/>
          <p:nvPr>
            <p:ph idx="1" type="body"/>
          </p:nvPr>
        </p:nvSpPr>
        <p:spPr>
          <a:xfrm>
            <a:off x="311700" y="1152474"/>
            <a:ext cx="8520600" cy="3991025"/>
          </a:xfrm>
          <a:prstGeom prst="rect">
            <a:avLst/>
          </a:prstGeom>
          <a:noFill/>
          <a:ln>
            <a:noFill/>
          </a:ln>
        </p:spPr>
        <p:txBody>
          <a:bodyPr anchorCtr="0" anchor="t" bIns="34275" lIns="68550" spcFirstLastPara="1" rIns="68550" wrap="square" tIns="34275">
            <a:normAutofit fontScale="92500" lnSpcReduction="20000"/>
          </a:bodyPr>
          <a:lstStyle/>
          <a:p>
            <a:pPr indent="0" lvl="0" marL="0" rtl="0" algn="l">
              <a:lnSpc>
                <a:spcPct val="115000"/>
              </a:lnSpc>
              <a:spcBef>
                <a:spcPts val="0"/>
              </a:spcBef>
              <a:spcAft>
                <a:spcPts val="0"/>
              </a:spcAft>
              <a:buSzPct val="108107"/>
              <a:buNone/>
            </a:pPr>
            <a:r>
              <a:rPr b="1" lang="en-US" sz="2700" u="sng">
                <a:solidFill>
                  <a:srgbClr val="FF0000"/>
                </a:solidFill>
              </a:rPr>
              <a:t>Milestone 1 deliverables:</a:t>
            </a:r>
            <a:endParaRPr/>
          </a:p>
          <a:p>
            <a:pPr indent="-457200" lvl="0" marL="457200" rtl="0" algn="l">
              <a:lnSpc>
                <a:spcPct val="115000"/>
              </a:lnSpc>
              <a:spcBef>
                <a:spcPts val="0"/>
              </a:spcBef>
              <a:spcAft>
                <a:spcPts val="0"/>
              </a:spcAft>
              <a:buSzPct val="108107"/>
              <a:buFont typeface="Arial"/>
              <a:buAutoNum type="arabicPeriod"/>
            </a:pPr>
            <a:r>
              <a:rPr lang="en-US" sz="2000"/>
              <a:t>A printed document that consists of three section:</a:t>
            </a:r>
            <a:endParaRPr/>
          </a:p>
          <a:p>
            <a:pPr indent="-457200" lvl="1" marL="914400" rtl="0" algn="l">
              <a:lnSpc>
                <a:spcPct val="115000"/>
              </a:lnSpc>
              <a:spcBef>
                <a:spcPts val="0"/>
              </a:spcBef>
              <a:spcAft>
                <a:spcPts val="0"/>
              </a:spcAft>
              <a:buSzPct val="108107"/>
              <a:buFont typeface="Arial"/>
              <a:buAutoNum type="arabicPeriod"/>
            </a:pPr>
            <a:r>
              <a:rPr lang="en-US" sz="1800"/>
              <a:t>All regular expressions of tiny language token classes.</a:t>
            </a:r>
            <a:endParaRPr/>
          </a:p>
          <a:p>
            <a:pPr indent="-457200" lvl="1" marL="914400" rtl="0" algn="l">
              <a:lnSpc>
                <a:spcPct val="115000"/>
              </a:lnSpc>
              <a:spcBef>
                <a:spcPts val="0"/>
              </a:spcBef>
              <a:spcAft>
                <a:spcPts val="0"/>
              </a:spcAft>
              <a:buSzPct val="108107"/>
              <a:buFont typeface="Arial"/>
              <a:buAutoNum type="arabicPeriod"/>
            </a:pPr>
            <a:r>
              <a:rPr lang="en-US" sz="1800"/>
              <a:t>All DFAs “</a:t>
            </a:r>
            <a:r>
              <a:rPr lang="en-US" sz="1800">
                <a:solidFill>
                  <a:srgbClr val="FF0000"/>
                </a:solidFill>
              </a:rPr>
              <a:t>for token classes</a:t>
            </a:r>
            <a:r>
              <a:rPr lang="en-US" sz="1800"/>
              <a:t>” needed to construct tiny language.</a:t>
            </a:r>
            <a:endParaRPr/>
          </a:p>
          <a:p>
            <a:pPr indent="-457200" lvl="1" marL="914400" rtl="0" algn="l">
              <a:lnSpc>
                <a:spcPct val="115000"/>
              </a:lnSpc>
              <a:spcBef>
                <a:spcPts val="0"/>
              </a:spcBef>
              <a:spcAft>
                <a:spcPts val="0"/>
              </a:spcAft>
              <a:buSzPct val="108107"/>
              <a:buFont typeface="Arial"/>
              <a:buAutoNum type="arabicPeriod"/>
            </a:pPr>
            <a:r>
              <a:rPr lang="en-US" sz="1800"/>
              <a:t>A copy of the implementation of the Rynix language scanner.</a:t>
            </a:r>
            <a:endParaRPr/>
          </a:p>
          <a:p>
            <a:pPr indent="-330201" lvl="0" marL="457200" rtl="0" algn="l">
              <a:lnSpc>
                <a:spcPct val="115000"/>
              </a:lnSpc>
              <a:spcBef>
                <a:spcPts val="0"/>
              </a:spcBef>
              <a:spcAft>
                <a:spcPts val="0"/>
              </a:spcAft>
              <a:buSzPct val="108107"/>
              <a:buFont typeface="Arial"/>
              <a:buNone/>
            </a:pPr>
            <a:r>
              <a:t/>
            </a:r>
            <a:endParaRPr sz="2000"/>
          </a:p>
          <a:p>
            <a:pPr indent="-457200" lvl="0" marL="457200" rtl="0" algn="l">
              <a:lnSpc>
                <a:spcPct val="115000"/>
              </a:lnSpc>
              <a:spcBef>
                <a:spcPts val="0"/>
              </a:spcBef>
              <a:spcAft>
                <a:spcPts val="0"/>
              </a:spcAft>
              <a:buSzPct val="108107"/>
              <a:buFont typeface="Arial"/>
              <a:buAutoNum type="arabicPeriod"/>
            </a:pPr>
            <a:r>
              <a:rPr lang="en-US" sz="2000"/>
              <a:t>Implement a full scanner for Rynix language. Your interface should show:</a:t>
            </a:r>
            <a:endParaRPr/>
          </a:p>
          <a:p>
            <a:pPr indent="-457200" lvl="1" marL="914400" rtl="0" algn="l">
              <a:lnSpc>
                <a:spcPct val="115000"/>
              </a:lnSpc>
              <a:spcBef>
                <a:spcPts val="0"/>
              </a:spcBef>
              <a:spcAft>
                <a:spcPts val="0"/>
              </a:spcAft>
              <a:buSzPct val="108107"/>
              <a:buFont typeface="Arial"/>
              <a:buAutoNum type="arabicPeriod"/>
            </a:pPr>
            <a:r>
              <a:rPr lang="en-US" sz="1800"/>
              <a:t>A Text area for typing in the Rynix code </a:t>
            </a:r>
            <a:endParaRPr/>
          </a:p>
          <a:p>
            <a:pPr indent="-457200" lvl="1" marL="914400" rtl="0" algn="l">
              <a:lnSpc>
                <a:spcPct val="115000"/>
              </a:lnSpc>
              <a:spcBef>
                <a:spcPts val="0"/>
              </a:spcBef>
              <a:spcAft>
                <a:spcPts val="0"/>
              </a:spcAft>
              <a:buSzPct val="108107"/>
              <a:buFont typeface="Arial"/>
              <a:buAutoNum type="arabicPeriod"/>
            </a:pPr>
            <a:r>
              <a:rPr lang="en-US" sz="1800"/>
              <a:t>The Errors List </a:t>
            </a:r>
            <a:endParaRPr/>
          </a:p>
          <a:p>
            <a:pPr indent="-457200" lvl="1" marL="914400" rtl="0" algn="l">
              <a:lnSpc>
                <a:spcPct val="115000"/>
              </a:lnSpc>
              <a:spcBef>
                <a:spcPts val="0"/>
              </a:spcBef>
              <a:spcAft>
                <a:spcPts val="0"/>
              </a:spcAft>
              <a:buSzPct val="108107"/>
              <a:buFont typeface="Arial"/>
              <a:buAutoNum type="arabicPeriod"/>
            </a:pPr>
            <a:r>
              <a:rPr lang="en-US" sz="1800"/>
              <a:t>Lexeme-to-Token Table.</a:t>
            </a:r>
            <a:endParaRPr sz="1800" u="sng">
              <a:solidFill>
                <a:srgbClr val="FF0000"/>
              </a:solidFill>
            </a:endParaRPr>
          </a:p>
          <a:p>
            <a:pPr indent="-317501" lvl="0" marL="457200" rtl="0" algn="l">
              <a:lnSpc>
                <a:spcPct val="115000"/>
              </a:lnSpc>
              <a:spcBef>
                <a:spcPts val="0"/>
              </a:spcBef>
              <a:spcAft>
                <a:spcPts val="0"/>
              </a:spcAft>
              <a:buSzPct val="108107"/>
              <a:buFont typeface="Arial"/>
              <a:buNone/>
            </a:pPr>
            <a:r>
              <a:t/>
            </a:r>
            <a:endParaRPr sz="2200">
              <a:solidFill>
                <a:srgbClr val="FF0000"/>
              </a:solidFill>
            </a:endParaRPr>
          </a:p>
          <a:p>
            <a:pPr indent="-457200" lvl="0" marL="457200" rtl="0" algn="l">
              <a:lnSpc>
                <a:spcPct val="115000"/>
              </a:lnSpc>
              <a:spcBef>
                <a:spcPts val="0"/>
              </a:spcBef>
              <a:spcAft>
                <a:spcPts val="0"/>
              </a:spcAft>
              <a:buSzPct val="108107"/>
              <a:buFont typeface="Arial"/>
              <a:buAutoNum type="arabicPeriod"/>
            </a:pPr>
            <a:r>
              <a:rPr lang="en-US" sz="2200">
                <a:solidFill>
                  <a:srgbClr val="FF0000"/>
                </a:solidFill>
              </a:rPr>
              <a:t>You must submit the document and the source code of the scanner before the discussion</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1600"/>
              </a:spcAft>
              <a:buSzPct val="92593"/>
              <a:buNone/>
            </a:pPr>
            <a:r>
              <a:rPr lang="en-US" sz="3600"/>
              <a:t>Agenda</a:t>
            </a:r>
            <a:endParaRPr sz="2400"/>
          </a:p>
        </p:txBody>
      </p:sp>
      <p:sp>
        <p:nvSpPr>
          <p:cNvPr id="89" name="Google Shape;8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Subset Construction</a:t>
            </a:r>
            <a:endParaRPr/>
          </a:p>
          <a:p>
            <a:pPr indent="-2286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US"/>
              <a:t>DFA Minimization</a:t>
            </a:r>
            <a:endParaRPr/>
          </a:p>
          <a:p>
            <a:pPr indent="-2286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US"/>
              <a:t>Examples on Subset Construction &amp; Minimization of DFA</a:t>
            </a:r>
            <a:endParaRPr/>
          </a:p>
          <a:p>
            <a:pPr indent="-22860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US"/>
              <a:t>Additional Example (Self study)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265500" y="1375599"/>
            <a:ext cx="4045200" cy="1551900"/>
          </a:xfrm>
          <a:prstGeom prst="rect">
            <a:avLst/>
          </a:prstGeom>
          <a:noFill/>
          <a:ln>
            <a:noFill/>
          </a:ln>
        </p:spPr>
        <p:txBody>
          <a:bodyPr anchorCtr="0" anchor="ctr" bIns="34275" lIns="68550" spcFirstLastPara="1" rIns="68550" wrap="square" tIns="34275">
            <a:normAutofit/>
          </a:bodyPr>
          <a:lstStyle/>
          <a:p>
            <a:pPr indent="0" lvl="0" marL="0" rtl="0" algn="ctr">
              <a:lnSpc>
                <a:spcPct val="100000"/>
              </a:lnSpc>
              <a:spcBef>
                <a:spcPts val="0"/>
              </a:spcBef>
              <a:spcAft>
                <a:spcPts val="0"/>
              </a:spcAft>
              <a:buClr>
                <a:schemeClr val="lt1"/>
              </a:buClr>
              <a:buSzPts val="6000"/>
              <a:buNone/>
            </a:pPr>
            <a:r>
              <a:rPr lang="en-US"/>
              <a:t>Subset Construction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7"/>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a:t>Subset Construction</a:t>
            </a:r>
            <a:endParaRPr/>
          </a:p>
        </p:txBody>
      </p:sp>
      <p:sp>
        <p:nvSpPr>
          <p:cNvPr id="100" name="Google Shape;100;p7"/>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342900" lvl="0" marL="480060" rtl="0" algn="l">
              <a:lnSpc>
                <a:spcPct val="115000"/>
              </a:lnSpc>
              <a:spcBef>
                <a:spcPts val="1050"/>
              </a:spcBef>
              <a:spcAft>
                <a:spcPts val="0"/>
              </a:spcAft>
              <a:buSzPts val="2400"/>
              <a:buChar char="●"/>
            </a:pPr>
            <a:r>
              <a:rPr lang="en-US" sz="2400">
                <a:solidFill>
                  <a:srgbClr val="4C4C4C"/>
                </a:solidFill>
              </a:rPr>
              <a:t>Conversion from NFA </a:t>
            </a:r>
            <a:r>
              <a:rPr b="1" lang="en-US" sz="2400">
                <a:solidFill>
                  <a:srgbClr val="4C4C4C"/>
                </a:solidFill>
              </a:rPr>
              <a:t>N&lt; Q, ∑, q0, δ, F &gt;  </a:t>
            </a:r>
            <a:r>
              <a:rPr lang="en-US" sz="2400">
                <a:solidFill>
                  <a:srgbClr val="4C4C4C"/>
                </a:solidFill>
              </a:rPr>
              <a:t>to </a:t>
            </a:r>
            <a:br>
              <a:rPr lang="en-US" sz="2400">
                <a:solidFill>
                  <a:srgbClr val="4C4C4C"/>
                </a:solidFill>
              </a:rPr>
            </a:br>
            <a:r>
              <a:rPr lang="en-US" sz="2400">
                <a:solidFill>
                  <a:srgbClr val="4C4C4C"/>
                </a:solidFill>
              </a:rPr>
              <a:t>DFA </a:t>
            </a:r>
            <a:r>
              <a:rPr b="1" lang="en-US" sz="2400">
                <a:solidFill>
                  <a:srgbClr val="4C4C4C"/>
                </a:solidFill>
              </a:rPr>
              <a:t>D&lt; Q’, ∑, q0, δ’, F’ &gt; </a:t>
            </a:r>
            <a:endParaRPr>
              <a:solidFill>
                <a:srgbClr val="4C4C4C"/>
              </a:solidFill>
            </a:endParaRPr>
          </a:p>
          <a:p>
            <a:pPr indent="-342900" lvl="0" marL="480060" rtl="0" algn="l">
              <a:lnSpc>
                <a:spcPct val="115000"/>
              </a:lnSpc>
              <a:spcBef>
                <a:spcPts val="1050"/>
              </a:spcBef>
              <a:spcAft>
                <a:spcPts val="0"/>
              </a:spcAft>
              <a:buSzPts val="2400"/>
              <a:buChar char="●"/>
            </a:pPr>
            <a:r>
              <a:rPr b="1" lang="en-US" sz="2400">
                <a:solidFill>
                  <a:srgbClr val="4C4C4C"/>
                </a:solidFill>
              </a:rPr>
              <a:t>Step1: </a:t>
            </a:r>
            <a:r>
              <a:rPr lang="en-US" sz="2400">
                <a:solidFill>
                  <a:srgbClr val="4C4C4C"/>
                </a:solidFill>
              </a:rPr>
              <a:t>Construct a transition table </a:t>
            </a:r>
            <a:endParaRPr>
              <a:solidFill>
                <a:srgbClr val="4C4C4C"/>
              </a:solidFill>
            </a:endParaRPr>
          </a:p>
          <a:p>
            <a:pPr indent="-190500" lvl="0" marL="480060" rtl="0" algn="l">
              <a:lnSpc>
                <a:spcPct val="115000"/>
              </a:lnSpc>
              <a:spcBef>
                <a:spcPts val="1050"/>
              </a:spcBef>
              <a:spcAft>
                <a:spcPts val="0"/>
              </a:spcAft>
              <a:buSzPts val="2400"/>
              <a:buNone/>
            </a:pPr>
            <a:r>
              <a:t/>
            </a:r>
            <a:endParaRPr sz="2400">
              <a:solidFill>
                <a:srgbClr val="4C4C4C"/>
              </a:solidFill>
            </a:endParaRPr>
          </a:p>
        </p:txBody>
      </p:sp>
      <p:pic>
        <p:nvPicPr>
          <p:cNvPr id="101" name="Google Shape;101;p7"/>
          <p:cNvPicPr preferRelativeResize="0"/>
          <p:nvPr/>
        </p:nvPicPr>
        <p:blipFill rotWithShape="1">
          <a:blip r:embed="rId3">
            <a:alphaModFix/>
          </a:blip>
          <a:srcRect b="50000" l="0" r="48276" t="25310"/>
          <a:stretch/>
        </p:blipFill>
        <p:spPr>
          <a:xfrm>
            <a:off x="271448" y="2826543"/>
            <a:ext cx="4891684" cy="1751200"/>
          </a:xfrm>
          <a:prstGeom prst="rect">
            <a:avLst/>
          </a:prstGeom>
          <a:noFill/>
          <a:ln>
            <a:noFill/>
          </a:ln>
        </p:spPr>
      </p:pic>
      <p:graphicFrame>
        <p:nvGraphicFramePr>
          <p:cNvPr id="102" name="Google Shape;102;p7"/>
          <p:cNvGraphicFramePr/>
          <p:nvPr/>
        </p:nvGraphicFramePr>
        <p:xfrm>
          <a:off x="5614705" y="2496079"/>
          <a:ext cx="3000000" cy="3000000"/>
        </p:xfrm>
        <a:graphic>
          <a:graphicData uri="http://schemas.openxmlformats.org/drawingml/2006/table">
            <a:tbl>
              <a:tblPr>
                <a:noFill/>
                <a:tableStyleId>{F5B74D66-4877-4BB9-A7D5-F372992069FC}</a:tableStyleId>
              </a:tblPr>
              <a:tblGrid>
                <a:gridCol w="1110800"/>
                <a:gridCol w="1110800"/>
                <a:gridCol w="1110800"/>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a:t>Subset Construction </a:t>
            </a:r>
            <a:r>
              <a:rPr lang="en-US"/>
              <a:t>cont.</a:t>
            </a:r>
            <a:endParaRPr/>
          </a:p>
        </p:txBody>
      </p:sp>
      <p:sp>
        <p:nvSpPr>
          <p:cNvPr id="108" name="Google Shape;108;p8"/>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Autofit/>
          </a:bodyPr>
          <a:lstStyle/>
          <a:p>
            <a:pPr indent="-342900" lvl="0" marL="480060" rtl="0" algn="l">
              <a:lnSpc>
                <a:spcPct val="115000"/>
              </a:lnSpc>
              <a:spcBef>
                <a:spcPts val="1050"/>
              </a:spcBef>
              <a:spcAft>
                <a:spcPts val="0"/>
              </a:spcAft>
              <a:buSzPts val="1800"/>
              <a:buChar char="●"/>
            </a:pPr>
            <a:r>
              <a:rPr b="1" lang="en-US">
                <a:solidFill>
                  <a:srgbClr val="4C4C4C"/>
                </a:solidFill>
                <a:latin typeface="Proxima Nova"/>
                <a:ea typeface="Proxima Nova"/>
                <a:cs typeface="Proxima Nova"/>
                <a:sym typeface="Proxima Nova"/>
              </a:rPr>
              <a:t>Step2: </a:t>
            </a:r>
            <a:r>
              <a:rPr lang="en-US">
                <a:solidFill>
                  <a:srgbClr val="4C4C4C"/>
                </a:solidFill>
                <a:latin typeface="Proxima Nova"/>
                <a:ea typeface="Proxima Nova"/>
                <a:cs typeface="Proxima Nova"/>
                <a:sym typeface="Proxima Nova"/>
              </a:rPr>
              <a:t>Filling Table for DFA </a:t>
            </a:r>
            <a:r>
              <a:rPr b="1" lang="en-US">
                <a:solidFill>
                  <a:srgbClr val="4C4C4C"/>
                </a:solidFill>
                <a:latin typeface="Proxima Nova"/>
                <a:ea typeface="Proxima Nova"/>
                <a:cs typeface="Proxima Nova"/>
                <a:sym typeface="Proxima Nova"/>
              </a:rPr>
              <a:t>D&lt; Q’, ∑, q0, δ’, F’ &gt;</a:t>
            </a:r>
            <a:endParaRPr>
              <a:solidFill>
                <a:srgbClr val="4C4C4C"/>
              </a:solidFill>
              <a:latin typeface="Proxima Nova"/>
              <a:ea typeface="Proxima Nova"/>
              <a:cs typeface="Proxima Nova"/>
              <a:sym typeface="Proxima Nova"/>
            </a:endParaRPr>
          </a:p>
          <a:p>
            <a:pPr indent="-342900" lvl="0" marL="480060" rtl="0" algn="l">
              <a:lnSpc>
                <a:spcPct val="115000"/>
              </a:lnSpc>
              <a:spcBef>
                <a:spcPts val="1050"/>
              </a:spcBef>
              <a:spcAft>
                <a:spcPts val="0"/>
              </a:spcAft>
              <a:buSzPts val="1800"/>
              <a:buChar char="●"/>
            </a:pPr>
            <a:r>
              <a:rPr b="1" lang="en-US">
                <a:solidFill>
                  <a:srgbClr val="4C4C4C"/>
                </a:solidFill>
                <a:latin typeface="Proxima Nova"/>
                <a:ea typeface="Proxima Nova"/>
                <a:cs typeface="Proxima Nova"/>
                <a:sym typeface="Proxima Nova"/>
              </a:rPr>
              <a:t>Q’ = {q0} </a:t>
            </a:r>
            <a:endParaRPr>
              <a:solidFill>
                <a:srgbClr val="4C4C4C"/>
              </a:solidFill>
              <a:latin typeface="Proxima Nova"/>
              <a:ea typeface="Proxima Nova"/>
              <a:cs typeface="Proxima Nova"/>
              <a:sym typeface="Proxima Nova"/>
            </a:endParaRPr>
          </a:p>
          <a:p>
            <a:pPr indent="-190500" lvl="0" marL="480060" rtl="0" algn="l">
              <a:lnSpc>
                <a:spcPct val="115000"/>
              </a:lnSpc>
              <a:spcBef>
                <a:spcPts val="1050"/>
              </a:spcBef>
              <a:spcAft>
                <a:spcPts val="0"/>
              </a:spcAft>
              <a:buSzPts val="3200"/>
              <a:buNone/>
            </a:pPr>
            <a:r>
              <a:t/>
            </a:r>
            <a:endParaRPr b="1">
              <a:solidFill>
                <a:srgbClr val="4C4C4C"/>
              </a:solidFill>
              <a:latin typeface="Proxima Nova"/>
              <a:ea typeface="Proxima Nova"/>
              <a:cs typeface="Proxima Nova"/>
              <a:sym typeface="Proxima Nova"/>
            </a:endParaRPr>
          </a:p>
          <a:p>
            <a:pPr indent="-190500" lvl="0" marL="480060" rtl="0" algn="l">
              <a:lnSpc>
                <a:spcPct val="115000"/>
              </a:lnSpc>
              <a:spcBef>
                <a:spcPts val="1050"/>
              </a:spcBef>
              <a:spcAft>
                <a:spcPts val="0"/>
              </a:spcAft>
              <a:buSzPts val="3200"/>
              <a:buNone/>
            </a:pPr>
            <a:r>
              <a:t/>
            </a:r>
            <a:endParaRPr b="1">
              <a:solidFill>
                <a:srgbClr val="4C4C4C"/>
              </a:solidFill>
              <a:latin typeface="Proxima Nova"/>
              <a:ea typeface="Proxima Nova"/>
              <a:cs typeface="Proxima Nova"/>
              <a:sym typeface="Proxima Nova"/>
            </a:endParaRPr>
          </a:p>
          <a:p>
            <a:pPr indent="-190500" lvl="0" marL="480060" rtl="0" algn="l">
              <a:lnSpc>
                <a:spcPct val="115000"/>
              </a:lnSpc>
              <a:spcBef>
                <a:spcPts val="1050"/>
              </a:spcBef>
              <a:spcAft>
                <a:spcPts val="0"/>
              </a:spcAft>
              <a:buSzPts val="3200"/>
              <a:buNone/>
            </a:pPr>
            <a:r>
              <a:t/>
            </a:r>
            <a:endParaRPr b="1">
              <a:solidFill>
                <a:srgbClr val="4C4C4C"/>
              </a:solidFill>
              <a:latin typeface="Proxima Nova"/>
              <a:ea typeface="Proxima Nova"/>
              <a:cs typeface="Proxima Nova"/>
              <a:sym typeface="Proxima Nova"/>
            </a:endParaRPr>
          </a:p>
          <a:p>
            <a:pPr indent="-342900" lvl="0" marL="480060" rtl="0" algn="l">
              <a:lnSpc>
                <a:spcPct val="115000"/>
              </a:lnSpc>
              <a:spcBef>
                <a:spcPts val="1050"/>
              </a:spcBef>
              <a:spcAft>
                <a:spcPts val="0"/>
              </a:spcAft>
              <a:buSzPts val="1800"/>
              <a:buChar char="●"/>
            </a:pPr>
            <a:r>
              <a:rPr b="1" lang="en-US">
                <a:solidFill>
                  <a:srgbClr val="4C4C4C"/>
                </a:solidFill>
                <a:latin typeface="Proxima Nova"/>
                <a:ea typeface="Proxima Nova"/>
                <a:cs typeface="Proxima Nova"/>
                <a:sym typeface="Proxima Nova"/>
              </a:rPr>
              <a:t>Now { q0, q1 } will be considered as a single state. As its entry is not in Q’, add it to Q’.</a:t>
            </a:r>
            <a:endParaRPr>
              <a:solidFill>
                <a:srgbClr val="4C4C4C"/>
              </a:solidFill>
              <a:latin typeface="Proxima Nova"/>
              <a:ea typeface="Proxima Nova"/>
              <a:cs typeface="Proxima Nova"/>
              <a:sym typeface="Proxima Nova"/>
            </a:endParaRPr>
          </a:p>
          <a:p>
            <a:pPr indent="-342900" lvl="0" marL="480060" rtl="0" algn="l">
              <a:lnSpc>
                <a:spcPct val="115000"/>
              </a:lnSpc>
              <a:spcBef>
                <a:spcPts val="1050"/>
              </a:spcBef>
              <a:spcAft>
                <a:spcPts val="0"/>
              </a:spcAft>
              <a:buSzPts val="1800"/>
              <a:buChar char="●"/>
            </a:pPr>
            <a:r>
              <a:rPr b="1" lang="en-US">
                <a:solidFill>
                  <a:srgbClr val="4C4C4C"/>
                </a:solidFill>
                <a:latin typeface="Proxima Nova"/>
                <a:ea typeface="Proxima Nova"/>
                <a:cs typeface="Proxima Nova"/>
                <a:sym typeface="Proxima Nova"/>
              </a:rPr>
              <a:t>Q’ = { q0, { q0, q1 } }</a:t>
            </a:r>
            <a:endParaRPr>
              <a:solidFill>
                <a:srgbClr val="4C4C4C"/>
              </a:solidFill>
              <a:latin typeface="Proxima Nova"/>
              <a:ea typeface="Proxima Nova"/>
              <a:cs typeface="Proxima Nova"/>
              <a:sym typeface="Proxima Nova"/>
            </a:endParaRPr>
          </a:p>
          <a:p>
            <a:pPr indent="-190500" lvl="0" marL="480060" rtl="0" algn="l">
              <a:lnSpc>
                <a:spcPct val="115000"/>
              </a:lnSpc>
              <a:spcBef>
                <a:spcPts val="1050"/>
              </a:spcBef>
              <a:spcAft>
                <a:spcPts val="0"/>
              </a:spcAft>
              <a:buSzPts val="3200"/>
              <a:buNone/>
            </a:pPr>
            <a:r>
              <a:t/>
            </a:r>
            <a:endParaRPr>
              <a:solidFill>
                <a:srgbClr val="4C4C4C"/>
              </a:solidFill>
              <a:latin typeface="Proxima Nova"/>
              <a:ea typeface="Proxima Nova"/>
              <a:cs typeface="Proxima Nova"/>
              <a:sym typeface="Proxima Nova"/>
            </a:endParaRPr>
          </a:p>
        </p:txBody>
      </p:sp>
      <p:graphicFrame>
        <p:nvGraphicFramePr>
          <p:cNvPr id="109" name="Google Shape;109;p8"/>
          <p:cNvGraphicFramePr/>
          <p:nvPr/>
        </p:nvGraphicFramePr>
        <p:xfrm>
          <a:off x="2631424" y="2153001"/>
          <a:ext cx="3000000" cy="3000000"/>
        </p:xfrm>
        <a:graphic>
          <a:graphicData uri="http://schemas.openxmlformats.org/drawingml/2006/table">
            <a:tbl>
              <a:tblPr>
                <a:noFill/>
                <a:tableStyleId>{F5B74D66-4877-4BB9-A7D5-F372992069FC}</a:tableStyleId>
              </a:tblPr>
              <a:tblGrid>
                <a:gridCol w="1230675"/>
                <a:gridCol w="1230675"/>
                <a:gridCol w="1230675"/>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a:t>Subset Construction cont.</a:t>
            </a:r>
            <a:endParaRPr/>
          </a:p>
        </p:txBody>
      </p:sp>
      <p:sp>
        <p:nvSpPr>
          <p:cNvPr id="115" name="Google Shape;115;p9"/>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342900" lvl="0" marL="480060" rtl="0" algn="l">
              <a:lnSpc>
                <a:spcPct val="115000"/>
              </a:lnSpc>
              <a:spcBef>
                <a:spcPts val="1050"/>
              </a:spcBef>
              <a:spcAft>
                <a:spcPts val="0"/>
              </a:spcAft>
              <a:buSzPts val="2400"/>
              <a:buChar char="●"/>
            </a:pPr>
            <a:r>
              <a:rPr lang="en-US" sz="2400">
                <a:solidFill>
                  <a:srgbClr val="4C4C4C"/>
                </a:solidFill>
                <a:latin typeface="Proxima Nova"/>
                <a:ea typeface="Proxima Nova"/>
                <a:cs typeface="Proxima Nova"/>
                <a:sym typeface="Proxima Nova"/>
              </a:rPr>
              <a:t>δ’ ( { q0, q1 }, a ) = δ ( q0, a ) ∪ δ ( q1, a ) = { q0, q1 }</a:t>
            </a:r>
            <a:endParaRPr>
              <a:solidFill>
                <a:srgbClr val="4C4C4C"/>
              </a:solidFill>
              <a:latin typeface="Proxima Nova"/>
              <a:ea typeface="Proxima Nova"/>
              <a:cs typeface="Proxima Nova"/>
              <a:sym typeface="Proxima Nova"/>
            </a:endParaRPr>
          </a:p>
          <a:p>
            <a:pPr indent="-342900" lvl="0" marL="480060" rtl="0" algn="l">
              <a:lnSpc>
                <a:spcPct val="115000"/>
              </a:lnSpc>
              <a:spcBef>
                <a:spcPts val="1050"/>
              </a:spcBef>
              <a:spcAft>
                <a:spcPts val="0"/>
              </a:spcAft>
              <a:buSzPts val="2400"/>
              <a:buChar char="●"/>
            </a:pPr>
            <a:r>
              <a:rPr lang="en-US" sz="2400">
                <a:solidFill>
                  <a:srgbClr val="4C4C4C"/>
                </a:solidFill>
                <a:latin typeface="Proxima Nova"/>
                <a:ea typeface="Proxima Nova"/>
                <a:cs typeface="Proxima Nova"/>
                <a:sym typeface="Proxima Nova"/>
              </a:rPr>
              <a:t>δ’ ( { q0, q1 }, b ) = δ ( q0, b ) ∪ δ ( q1, b ) = { q0, q2 }*</a:t>
            </a:r>
            <a:endParaRPr sz="2400">
              <a:solidFill>
                <a:srgbClr val="4C4C4C"/>
              </a:solidFill>
              <a:latin typeface="Proxima Nova"/>
              <a:ea typeface="Proxima Nova"/>
              <a:cs typeface="Proxima Nova"/>
              <a:sym typeface="Proxima Nova"/>
            </a:endParaRPr>
          </a:p>
        </p:txBody>
      </p:sp>
      <p:graphicFrame>
        <p:nvGraphicFramePr>
          <p:cNvPr id="116" name="Google Shape;116;p9"/>
          <p:cNvGraphicFramePr/>
          <p:nvPr/>
        </p:nvGraphicFramePr>
        <p:xfrm>
          <a:off x="4548228" y="2942082"/>
          <a:ext cx="3000000" cy="3000000"/>
        </p:xfrm>
        <a:graphic>
          <a:graphicData uri="http://schemas.openxmlformats.org/drawingml/2006/table">
            <a:tbl>
              <a:tblPr>
                <a:noFill/>
                <a:tableStyleId>{F5B74D66-4877-4BB9-A7D5-F372992069FC}</a:tableStyleId>
              </a:tblPr>
              <a:tblGrid>
                <a:gridCol w="1428025"/>
                <a:gridCol w="1428025"/>
                <a:gridCol w="1428025"/>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{q0,q2}*</a:t>
                      </a:r>
                      <a:endParaRPr sz="1100" u="none" cap="none" strike="noStrike">
                        <a:solidFill>
                          <a:srgbClr val="4C4C4C"/>
                        </a:solidFill>
                      </a:endParaRPr>
                    </a:p>
                  </a:txBody>
                  <a:tcPr marT="34300" marB="34300" marR="68600" marL="68600"/>
                </a:tc>
              </a:tr>
            </a:tbl>
          </a:graphicData>
        </a:graphic>
      </p:graphicFrame>
      <p:graphicFrame>
        <p:nvGraphicFramePr>
          <p:cNvPr id="117" name="Google Shape;117;p9"/>
          <p:cNvGraphicFramePr/>
          <p:nvPr/>
        </p:nvGraphicFramePr>
        <p:xfrm>
          <a:off x="542910" y="2518242"/>
          <a:ext cx="3000000" cy="3000000"/>
        </p:xfrm>
        <a:graphic>
          <a:graphicData uri="http://schemas.openxmlformats.org/drawingml/2006/table">
            <a:tbl>
              <a:tblPr>
                <a:noFill/>
                <a:tableStyleId>{F5B74D66-4877-4BB9-A7D5-F372992069FC}</a:tableStyleId>
              </a:tblPr>
              <a:tblGrid>
                <a:gridCol w="1110800"/>
                <a:gridCol w="1110800"/>
                <a:gridCol w="1110800"/>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0"/>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a:t>Subset Construction </a:t>
            </a:r>
            <a:r>
              <a:rPr lang="en-US"/>
              <a:t>cont.</a:t>
            </a:r>
            <a:endParaRPr/>
          </a:p>
        </p:txBody>
      </p:sp>
      <p:sp>
        <p:nvSpPr>
          <p:cNvPr id="123" name="Google Shape;123;p10"/>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342900" lvl="0" marL="480060" rtl="0" algn="l">
              <a:lnSpc>
                <a:spcPct val="115000"/>
              </a:lnSpc>
              <a:spcBef>
                <a:spcPts val="1050"/>
              </a:spcBef>
              <a:spcAft>
                <a:spcPts val="0"/>
              </a:spcAft>
              <a:buSzPts val="3200"/>
              <a:buChar char="●"/>
            </a:pPr>
            <a:r>
              <a:rPr lang="en-US" sz="2400">
                <a:solidFill>
                  <a:srgbClr val="4C4C4C"/>
                </a:solidFill>
                <a:latin typeface="Arial"/>
                <a:ea typeface="Arial"/>
                <a:cs typeface="Arial"/>
                <a:sym typeface="Arial"/>
              </a:rPr>
              <a:t>Final state of DFA will be state which has q2* as its component i.e., { q0, q2 }*</a:t>
            </a:r>
            <a:endParaRPr sz="2400">
              <a:solidFill>
                <a:srgbClr val="4C4C4C"/>
              </a:solidFill>
              <a:latin typeface="Arial"/>
              <a:ea typeface="Arial"/>
              <a:cs typeface="Arial"/>
              <a:sym typeface="Arial"/>
            </a:endParaRPr>
          </a:p>
        </p:txBody>
      </p:sp>
      <p:graphicFrame>
        <p:nvGraphicFramePr>
          <p:cNvPr id="124" name="Google Shape;124;p10"/>
          <p:cNvGraphicFramePr/>
          <p:nvPr/>
        </p:nvGraphicFramePr>
        <p:xfrm>
          <a:off x="4380615" y="2512160"/>
          <a:ext cx="3000000" cy="3000000"/>
        </p:xfrm>
        <a:graphic>
          <a:graphicData uri="http://schemas.openxmlformats.org/drawingml/2006/table">
            <a:tbl>
              <a:tblPr>
                <a:noFill/>
                <a:tableStyleId>{F5B74D66-4877-4BB9-A7D5-F372992069FC}</a:tableStyleId>
              </a:tblPr>
              <a:tblGrid>
                <a:gridCol w="1406825"/>
                <a:gridCol w="1406825"/>
                <a:gridCol w="1406825"/>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{q0,q2}*</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{q0,q2}*</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bl>
          </a:graphicData>
        </a:graphic>
      </p:graphicFrame>
      <p:graphicFrame>
        <p:nvGraphicFramePr>
          <p:cNvPr id="125" name="Google Shape;125;p10"/>
          <p:cNvGraphicFramePr/>
          <p:nvPr/>
        </p:nvGraphicFramePr>
        <p:xfrm>
          <a:off x="542910" y="2518242"/>
          <a:ext cx="3000000" cy="3000000"/>
        </p:xfrm>
        <a:graphic>
          <a:graphicData uri="http://schemas.openxmlformats.org/drawingml/2006/table">
            <a:tbl>
              <a:tblPr>
                <a:noFill/>
                <a:tableStyleId>{F5B74D66-4877-4BB9-A7D5-F372992069FC}</a:tableStyleId>
              </a:tblPr>
              <a:tblGrid>
                <a:gridCol w="1110800"/>
                <a:gridCol w="1110800"/>
                <a:gridCol w="1110800"/>
              </a:tblGrid>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r>
              <a:tr h="603050">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q2</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Times New Roman"/>
                          <a:ea typeface="Times New Roman"/>
                          <a:cs typeface="Times New Roman"/>
                          <a:sym typeface="Times New Roman"/>
                        </a:rPr>
                        <a:t>φ</a:t>
                      </a:r>
                      <a:endParaRPr sz="2700" u="none" cap="none" strike="noStrike">
                        <a:solidFill>
                          <a:srgbClr val="4C4C4C"/>
                        </a:solidFill>
                        <a:latin typeface="Arial"/>
                        <a:ea typeface="Arial"/>
                        <a:cs typeface="Arial"/>
                        <a:sym typeface="Arial"/>
                      </a:endParaRPr>
                    </a:p>
                  </a:txBody>
                  <a:tcPr marT="34300" marB="34300" marR="68600" marL="686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a:t>Subset Construction </a:t>
            </a:r>
            <a:r>
              <a:rPr lang="en-US"/>
              <a:t>cont.</a:t>
            </a:r>
            <a:endParaRPr/>
          </a:p>
        </p:txBody>
      </p:sp>
      <p:sp>
        <p:nvSpPr>
          <p:cNvPr id="131" name="Google Shape;131;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Answer:</a:t>
            </a:r>
            <a:endParaRPr/>
          </a:p>
        </p:txBody>
      </p:sp>
      <p:graphicFrame>
        <p:nvGraphicFramePr>
          <p:cNvPr id="132" name="Google Shape;132;p11"/>
          <p:cNvGraphicFramePr/>
          <p:nvPr/>
        </p:nvGraphicFramePr>
        <p:xfrm>
          <a:off x="271462" y="1815340"/>
          <a:ext cx="3000000" cy="3000000"/>
        </p:xfrm>
        <a:graphic>
          <a:graphicData uri="http://schemas.openxmlformats.org/drawingml/2006/table">
            <a:tbl>
              <a:tblPr>
                <a:noFill/>
                <a:tableStyleId>{F5B74D66-4877-4BB9-A7D5-F372992069FC}</a:tableStyleId>
              </a:tblPr>
              <a:tblGrid>
                <a:gridCol w="1203800"/>
                <a:gridCol w="1203800"/>
                <a:gridCol w="1203800"/>
              </a:tblGrid>
              <a:tr h="480075">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State</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a</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3600"/>
                        <a:buFont typeface="Arial"/>
                        <a:buNone/>
                      </a:pPr>
                      <a:r>
                        <a:rPr lang="en-US" sz="2700" u="none" cap="none" strike="noStrike">
                          <a:solidFill>
                            <a:srgbClr val="4C4C4C"/>
                          </a:solidFill>
                          <a:latin typeface="Arial"/>
                          <a:ea typeface="Arial"/>
                          <a:cs typeface="Arial"/>
                          <a:sym typeface="Arial"/>
                        </a:rPr>
                        <a:t>b</a:t>
                      </a:r>
                      <a:endParaRPr sz="1100" u="none" cap="none" strike="noStrike">
                        <a:solidFill>
                          <a:srgbClr val="4C4C4C"/>
                        </a:solidFill>
                      </a:endParaRPr>
                    </a:p>
                  </a:txBody>
                  <a:tcPr marT="34300" marB="34300" marR="68600" marL="68600"/>
                </a:tc>
              </a:tr>
              <a:tr h="4882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r h="6280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{q0,q2}*</a:t>
                      </a:r>
                      <a:endParaRPr sz="1100" u="none" cap="none" strike="noStrike">
                        <a:solidFill>
                          <a:srgbClr val="4C4C4C"/>
                        </a:solidFill>
                      </a:endParaRPr>
                    </a:p>
                  </a:txBody>
                  <a:tcPr marT="34300" marB="34300" marR="68600" marL="68600"/>
                </a:tc>
              </a:tr>
              <a:tr h="6280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{q0,q2}*</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{q0,q1}</a:t>
                      </a:r>
                      <a:endParaRPr sz="11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rgbClr val="4C4C4C"/>
                          </a:solidFill>
                          <a:latin typeface="Arial"/>
                          <a:ea typeface="Arial"/>
                          <a:cs typeface="Arial"/>
                          <a:sym typeface="Arial"/>
                        </a:rPr>
                        <a:t>q0</a:t>
                      </a:r>
                      <a:endParaRPr sz="1100" u="none" cap="none" strike="noStrike">
                        <a:solidFill>
                          <a:srgbClr val="4C4C4C"/>
                        </a:solidFill>
                      </a:endParaRPr>
                    </a:p>
                  </a:txBody>
                  <a:tcPr marT="34300" marB="34300" marR="68600" marL="68600"/>
                </a:tc>
              </a:tr>
            </a:tbl>
          </a:graphicData>
        </a:graphic>
      </p:graphicFrame>
      <p:pic>
        <p:nvPicPr>
          <p:cNvPr id="133" name="Google Shape;133;p11"/>
          <p:cNvPicPr preferRelativeResize="0"/>
          <p:nvPr/>
        </p:nvPicPr>
        <p:blipFill rotWithShape="1">
          <a:blip r:embed="rId3">
            <a:alphaModFix/>
          </a:blip>
          <a:srcRect b="41200" l="0" r="37221" t="17520"/>
          <a:stretch/>
        </p:blipFill>
        <p:spPr>
          <a:xfrm>
            <a:off x="3981302" y="1815340"/>
            <a:ext cx="4891236" cy="24121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1</a:t>
            </a:r>
            <a:endParaRPr/>
          </a:p>
        </p:txBody>
      </p:sp>
      <p:sp>
        <p:nvSpPr>
          <p:cNvPr id="140" name="Google Shape;140;p12"/>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400"/>
              <a:buNone/>
            </a:pPr>
            <a:r>
              <a:rPr lang="en-US" sz="2000">
                <a:solidFill>
                  <a:srgbClr val="4C4C4C"/>
                </a:solidFill>
              </a:rPr>
              <a:t>Convert the following regular expression to an NFA then to a minimized DFA.		</a:t>
            </a:r>
            <a:endParaRPr sz="1600">
              <a:solidFill>
                <a:srgbClr val="4C4C4C"/>
              </a:solidFill>
            </a:endParaRPr>
          </a:p>
          <a:p>
            <a:pPr indent="0" lvl="0" marL="0" rtl="0" algn="ctr">
              <a:lnSpc>
                <a:spcPct val="115000"/>
              </a:lnSpc>
              <a:spcBef>
                <a:spcPts val="0"/>
              </a:spcBef>
              <a:spcAft>
                <a:spcPts val="0"/>
              </a:spcAft>
              <a:buSzPts val="2400"/>
              <a:buNone/>
            </a:pPr>
            <a:r>
              <a:rPr b="1" i="1" lang="en-US" sz="2000">
                <a:solidFill>
                  <a:srgbClr val="606060"/>
                </a:solidFill>
              </a:rPr>
              <a:t>RE= </a:t>
            </a:r>
            <a:r>
              <a:rPr b="1" i="1" lang="en-US" sz="2000">
                <a:solidFill>
                  <a:srgbClr val="FF0000"/>
                </a:solidFill>
              </a:rPr>
              <a:t>(ab|ac)*</a:t>
            </a:r>
            <a:endParaRPr sz="2000"/>
          </a:p>
          <a:p>
            <a:pPr indent="0" lvl="0" marL="0" rtl="0" algn="l">
              <a:lnSpc>
                <a:spcPct val="115000"/>
              </a:lnSpc>
              <a:spcBef>
                <a:spcPts val="1050"/>
              </a:spcBef>
              <a:spcAft>
                <a:spcPts val="0"/>
              </a:spcAft>
              <a:buSzPts val="2300"/>
              <a:buNone/>
            </a:pPr>
            <a:r>
              <a:rPr b="1" i="1" lang="en-US" sz="2000"/>
              <a:t>Solution:-</a:t>
            </a:r>
            <a:endParaRPr sz="2000"/>
          </a:p>
          <a:p>
            <a:pPr indent="0" lvl="0" marL="0" rtl="0" algn="l">
              <a:lnSpc>
                <a:spcPct val="115000"/>
              </a:lnSpc>
              <a:spcBef>
                <a:spcPts val="0"/>
              </a:spcBef>
              <a:spcAft>
                <a:spcPts val="0"/>
              </a:spcAft>
              <a:buSzPts val="2300"/>
              <a:buNone/>
            </a:pPr>
            <a:r>
              <a:rPr b="1" i="1" lang="en-US" sz="2000"/>
              <a:t>1- Convert RE to NFA using Thompson’s algorithm.</a:t>
            </a:r>
            <a:endParaRPr sz="2000"/>
          </a:p>
          <a:p>
            <a:pPr indent="0" lvl="0" marL="0" rtl="0" algn="l">
              <a:lnSpc>
                <a:spcPct val="115000"/>
              </a:lnSpc>
              <a:spcBef>
                <a:spcPts val="1050"/>
              </a:spcBef>
              <a:spcAft>
                <a:spcPts val="0"/>
              </a:spcAft>
              <a:buSzPts val="2300"/>
              <a:buNone/>
            </a:pPr>
            <a:r>
              <a:t/>
            </a:r>
            <a:endParaRPr b="1" i="1" sz="2000"/>
          </a:p>
        </p:txBody>
      </p:sp>
      <p:pic>
        <p:nvPicPr>
          <p:cNvPr id="141" name="Google Shape;141;p12"/>
          <p:cNvPicPr preferRelativeResize="0"/>
          <p:nvPr/>
        </p:nvPicPr>
        <p:blipFill rotWithShape="1">
          <a:blip r:embed="rId3">
            <a:alphaModFix/>
          </a:blip>
          <a:srcRect b="0" l="0" r="0" t="0"/>
          <a:stretch/>
        </p:blipFill>
        <p:spPr>
          <a:xfrm>
            <a:off x="314493" y="3051413"/>
            <a:ext cx="8517299" cy="20472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1</a:t>
            </a:r>
            <a:endParaRPr/>
          </a:p>
        </p:txBody>
      </p:sp>
      <p:sp>
        <p:nvSpPr>
          <p:cNvPr id="148" name="Google Shape;148;p13"/>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400"/>
              <a:buNone/>
            </a:pPr>
            <a:r>
              <a:rPr lang="en-US" sz="2000">
                <a:solidFill>
                  <a:srgbClr val="4C4C4C"/>
                </a:solidFill>
              </a:rPr>
              <a:t>Hints:</a:t>
            </a:r>
            <a:endParaRPr/>
          </a:p>
          <a:p>
            <a:pPr indent="-457200" lvl="0" marL="457200" rtl="0" algn="l">
              <a:lnSpc>
                <a:spcPct val="115000"/>
              </a:lnSpc>
              <a:spcBef>
                <a:spcPts val="0"/>
              </a:spcBef>
              <a:spcAft>
                <a:spcPts val="0"/>
              </a:spcAft>
              <a:buSzPts val="2400"/>
              <a:buFont typeface="Arial"/>
              <a:buAutoNum type="arabicPeriod"/>
            </a:pPr>
            <a:r>
              <a:rPr b="1" lang="en-US" sz="2000">
                <a:solidFill>
                  <a:srgbClr val="4C4C4C"/>
                </a:solidFill>
              </a:rPr>
              <a:t>Start state:</a:t>
            </a:r>
            <a:endParaRPr/>
          </a:p>
          <a:p>
            <a:pPr indent="-317500" lvl="1" marL="800100" rtl="0" algn="l">
              <a:lnSpc>
                <a:spcPct val="115000"/>
              </a:lnSpc>
              <a:spcBef>
                <a:spcPts val="0"/>
              </a:spcBef>
              <a:spcAft>
                <a:spcPts val="0"/>
              </a:spcAft>
              <a:buSzPts val="2400"/>
              <a:buChar char="○"/>
            </a:pPr>
            <a:r>
              <a:rPr b="1" lang="en-US" sz="2000">
                <a:solidFill>
                  <a:srgbClr val="4C4C4C"/>
                </a:solidFill>
              </a:rPr>
              <a:t>= </a:t>
            </a:r>
            <a:r>
              <a:rPr b="1" lang="en-US" sz="2000">
                <a:solidFill>
                  <a:schemeClr val="accent3"/>
                </a:solidFill>
                <a:latin typeface="Proxima Nova"/>
                <a:ea typeface="Proxima Nova"/>
                <a:cs typeface="Proxima Nova"/>
                <a:sym typeface="Proxima Nova"/>
              </a:rPr>
              <a:t>{0,1,2,7,11}*</a:t>
            </a:r>
            <a:endParaRPr b="1" sz="2000">
              <a:solidFill>
                <a:schemeClr val="accent3"/>
              </a:solidFill>
              <a:latin typeface="Proxima Nova"/>
              <a:ea typeface="Proxima Nova"/>
              <a:cs typeface="Proxima Nova"/>
              <a:sym typeface="Proxima Nova"/>
            </a:endParaRPr>
          </a:p>
          <a:p>
            <a:pPr indent="-457200" lvl="0" marL="457200" rtl="0" algn="l">
              <a:lnSpc>
                <a:spcPct val="115000"/>
              </a:lnSpc>
              <a:spcBef>
                <a:spcPts val="0"/>
              </a:spcBef>
              <a:spcAft>
                <a:spcPts val="0"/>
              </a:spcAft>
              <a:buSzPts val="2400"/>
              <a:buFont typeface="Arial"/>
              <a:buAutoNum type="arabicPeriod"/>
            </a:pPr>
            <a:r>
              <a:rPr b="1" lang="en-US" sz="2000"/>
              <a:t>Build the following table:</a:t>
            </a:r>
            <a:endParaRPr b="1" sz="2000"/>
          </a:p>
          <a:p>
            <a:pPr indent="0" lvl="0" marL="0" rtl="0" algn="l">
              <a:lnSpc>
                <a:spcPct val="115000"/>
              </a:lnSpc>
              <a:spcBef>
                <a:spcPts val="1050"/>
              </a:spcBef>
              <a:spcAft>
                <a:spcPts val="0"/>
              </a:spcAft>
              <a:buSzPts val="2300"/>
              <a:buNone/>
            </a:pPr>
            <a:r>
              <a:t/>
            </a:r>
            <a:endParaRPr b="1" i="1" sz="2000"/>
          </a:p>
        </p:txBody>
      </p:sp>
      <p:pic>
        <p:nvPicPr>
          <p:cNvPr id="149" name="Google Shape;149;p13"/>
          <p:cNvPicPr preferRelativeResize="0"/>
          <p:nvPr/>
        </p:nvPicPr>
        <p:blipFill rotWithShape="1">
          <a:blip r:embed="rId3">
            <a:alphaModFix/>
          </a:blip>
          <a:srcRect b="0" l="0" r="0" t="0"/>
          <a:stretch/>
        </p:blipFill>
        <p:spPr>
          <a:xfrm>
            <a:off x="314493" y="3051413"/>
            <a:ext cx="8517299" cy="2047217"/>
          </a:xfrm>
          <a:prstGeom prst="rect">
            <a:avLst/>
          </a:prstGeom>
          <a:noFill/>
          <a:ln>
            <a:noFill/>
          </a:ln>
        </p:spPr>
      </p:pic>
      <p:graphicFrame>
        <p:nvGraphicFramePr>
          <p:cNvPr id="150" name="Google Shape;150;p13"/>
          <p:cNvGraphicFramePr/>
          <p:nvPr/>
        </p:nvGraphicFramePr>
        <p:xfrm>
          <a:off x="3827725" y="1402522"/>
          <a:ext cx="3000000" cy="3000000"/>
        </p:xfrm>
        <a:graphic>
          <a:graphicData uri="http://schemas.openxmlformats.org/drawingml/2006/table">
            <a:tbl>
              <a:tblPr bandRow="1" firstCol="1" firstRow="1">
                <a:noFill/>
                <a:tableStyleId>{9225F91B-823C-4E8D-9C78-1532CDFFD4CF}</a:tableStyleId>
              </a:tblPr>
              <a:tblGrid>
                <a:gridCol w="967575"/>
                <a:gridCol w="1596650"/>
                <a:gridCol w="2082225"/>
              </a:tblGrid>
              <a:tr h="228600">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Sigma</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Appears</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Goes to</a:t>
                      </a:r>
                      <a:endParaRPr/>
                    </a:p>
                  </a:txBody>
                  <a:tcPr marT="0" marB="0" marR="68575" marL="68575"/>
                </a:tc>
              </a:tr>
              <a:tr h="125025">
                <a:tc rowSpan="2">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a</a:t>
                      </a:r>
                      <a:endParaRPr/>
                    </a:p>
                  </a:txBody>
                  <a:tcPr marT="0" marB="0" marR="68575" marL="68575">
                    <a:solidFill>
                      <a:srgbClr val="D8E6FC"/>
                    </a:solidFill>
                  </a:tcPr>
                </a:tc>
                <a:tc>
                  <a:txBody>
                    <a:bodyPr/>
                    <a:lstStyle/>
                    <a:p>
                      <a:pPr indent="0" lvl="0" marL="0" marR="0" rtl="0" algn="ctr">
                        <a:lnSpc>
                          <a:spcPct val="107000"/>
                        </a:lnSpc>
                        <a:spcBef>
                          <a:spcPts val="0"/>
                        </a:spcBef>
                        <a:spcAft>
                          <a:spcPts val="0"/>
                        </a:spcAft>
                        <a:buNone/>
                      </a:pPr>
                      <a:r>
                        <a:rPr lang="en-US" sz="1800" u="none" cap="none" strike="noStrike"/>
                        <a:t>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{3,4}</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t>7</a:t>
                      </a:r>
                      <a:endParaRPr sz="1800" u="none" cap="none" strike="noStrike">
                        <a:latin typeface="Calibri"/>
                        <a:ea typeface="Calibri"/>
                        <a:cs typeface="Calibri"/>
                        <a:sym typeface="Calibri"/>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{8,9}</a:t>
                      </a:r>
                      <a:endParaRPr sz="1800" u="none" cap="none" strike="noStrike">
                        <a:latin typeface="Calibri"/>
                        <a:ea typeface="Calibri"/>
                        <a:cs typeface="Calibri"/>
                        <a:sym typeface="Calibri"/>
                      </a:endParaRPr>
                    </a:p>
                  </a:txBody>
                  <a:tcPr marT="0" marB="0" marR="68575" marL="68575">
                    <a:solidFill>
                      <a:srgbClr val="D8E6FC"/>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b</a:t>
                      </a:r>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t>{1,2,5,6,7,11}*</a:t>
                      </a:r>
                      <a:endParaRPr sz="1800" u="none" cap="none" strike="noStrike">
                        <a:latin typeface="Calibri"/>
                        <a:ea typeface="Calibri"/>
                        <a:cs typeface="Calibri"/>
                        <a:sym typeface="Calibri"/>
                      </a:endParaRPr>
                    </a:p>
                  </a:txBody>
                  <a:tcPr marT="0" marB="0" marR="68575" marL="68575">
                    <a:solidFill>
                      <a:srgbClr val="FFEDD8"/>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c</a:t>
                      </a:r>
                      <a:endParaRPr/>
                    </a:p>
                  </a:txBody>
                  <a:tcPr marT="0" marB="0" marR="68575" marL="68575">
                    <a:solidFill>
                      <a:srgbClr val="92D050"/>
                    </a:solidFill>
                  </a:tcPr>
                </a:tc>
                <a:tc>
                  <a:txBody>
                    <a:bodyPr/>
                    <a:lstStyle/>
                    <a:p>
                      <a:pPr indent="0" lvl="0" marL="0" marR="0" rtl="0" algn="ctr">
                        <a:lnSpc>
                          <a:spcPct val="107000"/>
                        </a:lnSpc>
                        <a:spcBef>
                          <a:spcPts val="0"/>
                        </a:spcBef>
                        <a:spcAft>
                          <a:spcPts val="0"/>
                        </a:spcAft>
                        <a:buNone/>
                      </a:pPr>
                      <a:r>
                        <a:rPr lang="en-US" sz="1800" u="none" cap="none" strike="noStrike"/>
                        <a:t>9</a:t>
                      </a:r>
                      <a:endParaRPr sz="1800" u="none" cap="none" strike="noStrike">
                        <a:latin typeface="Calibri"/>
                        <a:ea typeface="Calibri"/>
                        <a:cs typeface="Calibri"/>
                        <a:sym typeface="Calibri"/>
                      </a:endParaRPr>
                    </a:p>
                  </a:txBody>
                  <a:tcPr marT="0" marB="0" marR="68575" marL="68575">
                    <a:solidFill>
                      <a:srgbClr val="92D050"/>
                    </a:solidFill>
                  </a:tcPr>
                </a:tc>
                <a:tc>
                  <a:txBody>
                    <a:bodyPr/>
                    <a:lstStyle/>
                    <a:p>
                      <a:pPr indent="0" lvl="0" marL="0" marR="0" rtl="0" algn="l">
                        <a:lnSpc>
                          <a:spcPct val="107000"/>
                        </a:lnSpc>
                        <a:spcBef>
                          <a:spcPts val="0"/>
                        </a:spcBef>
                        <a:spcAft>
                          <a:spcPts val="0"/>
                        </a:spcAft>
                        <a:buNone/>
                      </a:pPr>
                      <a:r>
                        <a:rPr lang="en-US" sz="1800" u="none" cap="none" strike="noStrike"/>
                        <a:t>{1,2,6,7,10,11}*</a:t>
                      </a:r>
                      <a:endParaRPr sz="1800" u="none" cap="none" strike="noStrike">
                        <a:latin typeface="Calibri"/>
                        <a:ea typeface="Calibri"/>
                        <a:cs typeface="Calibri"/>
                        <a:sym typeface="Calibri"/>
                      </a:endParaRPr>
                    </a:p>
                  </a:txBody>
                  <a:tcPr marT="0" marB="0" marR="68575" marL="68575">
                    <a:solidFill>
                      <a:srgbClr val="92D050"/>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1 </a:t>
            </a:r>
            <a:r>
              <a:rPr lang="en-US" cap="none"/>
              <a:t>cont.</a:t>
            </a:r>
            <a:endParaRPr b="1"/>
          </a:p>
        </p:txBody>
      </p:sp>
      <p:sp>
        <p:nvSpPr>
          <p:cNvPr id="157" name="Google Shape;157;p14"/>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100"/>
              <a:t>2- convert from NFA to DFA using subset construction method.</a:t>
            </a:r>
            <a:endParaRPr sz="2100"/>
          </a:p>
          <a:p>
            <a:pPr indent="-342900" lvl="0" marL="342900" rtl="0" algn="l">
              <a:lnSpc>
                <a:spcPct val="115000"/>
              </a:lnSpc>
              <a:spcBef>
                <a:spcPts val="1050"/>
              </a:spcBef>
              <a:spcAft>
                <a:spcPts val="0"/>
              </a:spcAft>
              <a:buSzPts val="2300"/>
              <a:buChar char="●"/>
            </a:pPr>
            <a:r>
              <a:rPr b="1" lang="en-US" sz="2000">
                <a:solidFill>
                  <a:srgbClr val="4C4C4C"/>
                </a:solidFill>
              </a:rPr>
              <a:t>Start state = </a:t>
            </a:r>
            <a:r>
              <a:rPr b="1" lang="en-US" sz="2000">
                <a:solidFill>
                  <a:schemeClr val="accent3"/>
                </a:solidFill>
                <a:latin typeface="Proxima Nova"/>
                <a:ea typeface="Proxima Nova"/>
                <a:cs typeface="Proxima Nova"/>
                <a:sym typeface="Proxima Nova"/>
              </a:rPr>
              <a:t>{0,1,2,7,11}*</a:t>
            </a:r>
            <a:endParaRPr b="1" i="1" sz="2000"/>
          </a:p>
          <a:p>
            <a:pPr indent="0" lvl="0" marL="0" rtl="0" algn="l">
              <a:lnSpc>
                <a:spcPct val="115000"/>
              </a:lnSpc>
              <a:spcBef>
                <a:spcPts val="1050"/>
              </a:spcBef>
              <a:spcAft>
                <a:spcPts val="0"/>
              </a:spcAft>
              <a:buSzPts val="2300"/>
              <a:buNone/>
            </a:pPr>
            <a:r>
              <a:t/>
            </a:r>
            <a:endParaRPr b="1" i="1" sz="2100"/>
          </a:p>
          <a:p>
            <a:pPr indent="0" lvl="0" marL="0" rtl="0" algn="l">
              <a:lnSpc>
                <a:spcPct val="115000"/>
              </a:lnSpc>
              <a:spcBef>
                <a:spcPts val="1050"/>
              </a:spcBef>
              <a:spcAft>
                <a:spcPts val="0"/>
              </a:spcAft>
              <a:buSzPts val="2300"/>
              <a:buNone/>
            </a:pPr>
            <a:r>
              <a:t/>
            </a:r>
            <a:endParaRPr b="1" i="1" sz="2100"/>
          </a:p>
          <a:p>
            <a:pPr indent="0" lvl="0" marL="0" rtl="0" algn="l">
              <a:lnSpc>
                <a:spcPct val="115000"/>
              </a:lnSpc>
              <a:spcBef>
                <a:spcPts val="1050"/>
              </a:spcBef>
              <a:spcAft>
                <a:spcPts val="0"/>
              </a:spcAft>
              <a:buSzPts val="2300"/>
              <a:buNone/>
            </a:pPr>
            <a:r>
              <a:t/>
            </a:r>
            <a:endParaRPr b="1" i="1" sz="2100"/>
          </a:p>
        </p:txBody>
      </p:sp>
      <p:graphicFrame>
        <p:nvGraphicFramePr>
          <p:cNvPr id="158" name="Google Shape;158;p14"/>
          <p:cNvGraphicFramePr/>
          <p:nvPr/>
        </p:nvGraphicFramePr>
        <p:xfrm>
          <a:off x="237269" y="2972852"/>
          <a:ext cx="3000000" cy="3000000"/>
        </p:xfrm>
        <a:graphic>
          <a:graphicData uri="http://schemas.openxmlformats.org/drawingml/2006/table">
            <a:tbl>
              <a:tblPr>
                <a:noFill/>
                <a:tableStyleId>{F5B74D66-4877-4BB9-A7D5-F372992069FC}</a:tableStyleId>
              </a:tblPr>
              <a:tblGrid>
                <a:gridCol w="783450"/>
                <a:gridCol w="2083975"/>
                <a:gridCol w="1499200"/>
                <a:gridCol w="2190300"/>
                <a:gridCol w="2232000"/>
              </a:tblGrid>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DFA</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NFA</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δ(q,a) </a:t>
                      </a:r>
                      <a:endParaRPr sz="1700" u="none" cap="none" strike="noStrike">
                        <a:solidFill>
                          <a:srgbClr val="4C4C4C"/>
                        </a:solidFill>
                      </a:endParaRPr>
                    </a:p>
                  </a:txBody>
                  <a:tcPr marT="34300" marB="34300" marR="68600" marL="68600">
                    <a:solidFill>
                      <a:srgbClr val="D8E6FC"/>
                    </a:solidFill>
                  </a:tcPr>
                </a:tc>
                <a:tc>
                  <a:txBody>
                    <a:bodyPr/>
                    <a:lstStyle/>
                    <a:p>
                      <a:pPr indent="0" lvl="0" marL="0" marR="0" rtl="0" algn="ctr">
                        <a:lnSpc>
                          <a:spcPct val="100000"/>
                        </a:lnSpc>
                        <a:spcBef>
                          <a:spcPts val="0"/>
                        </a:spcBef>
                        <a:spcAft>
                          <a:spcPts val="0"/>
                        </a:spcAft>
                        <a:buClr>
                          <a:schemeClr val="dk1"/>
                        </a:buClr>
                        <a:buSzPts val="1700"/>
                        <a:buFont typeface="Arial"/>
                        <a:buNone/>
                      </a:pPr>
                      <a:r>
                        <a:rPr lang="en-US" sz="1700" u="none" cap="none" strike="noStrike">
                          <a:solidFill>
                            <a:srgbClr val="4C4C4C"/>
                          </a:solidFill>
                          <a:latin typeface="Arial"/>
                          <a:ea typeface="Arial"/>
                          <a:cs typeface="Arial"/>
                          <a:sym typeface="Arial"/>
                        </a:rPr>
                        <a:t>δ(q,b) </a:t>
                      </a:r>
                      <a:endParaRPr sz="1700" u="none" cap="none" strike="noStrike">
                        <a:solidFill>
                          <a:srgbClr val="4C4C4C"/>
                        </a:solidFill>
                      </a:endParaRPr>
                    </a:p>
                  </a:txBody>
                  <a:tcPr marT="34300" marB="34300" marR="68600" marL="68600">
                    <a:solidFill>
                      <a:srgbClr val="FFEDD8"/>
                    </a:solidFill>
                  </a:tcPr>
                </a:tc>
                <a:tc>
                  <a:txBody>
                    <a:bodyPr/>
                    <a:lstStyle/>
                    <a:p>
                      <a:pPr indent="0" lvl="0" marL="0" marR="0" rtl="0" algn="ctr">
                        <a:lnSpc>
                          <a:spcPct val="100000"/>
                        </a:lnSpc>
                        <a:spcBef>
                          <a:spcPts val="0"/>
                        </a:spcBef>
                        <a:spcAft>
                          <a:spcPts val="0"/>
                        </a:spcAft>
                        <a:buClr>
                          <a:schemeClr val="dk1"/>
                        </a:buClr>
                        <a:buSzPts val="1700"/>
                        <a:buFont typeface="Arial"/>
                        <a:buNone/>
                      </a:pPr>
                      <a:r>
                        <a:rPr lang="en-US" sz="1700" u="none" cap="none" strike="noStrike">
                          <a:solidFill>
                            <a:srgbClr val="4C4C4C"/>
                          </a:solidFill>
                          <a:latin typeface="Arial"/>
                          <a:ea typeface="Arial"/>
                          <a:cs typeface="Arial"/>
                          <a:sym typeface="Arial"/>
                        </a:rPr>
                        <a:t>δ(q,c) </a:t>
                      </a:r>
                      <a:endParaRPr sz="1700" u="none" cap="none" strike="noStrike">
                        <a:solidFill>
                          <a:srgbClr val="4C4C4C"/>
                        </a:solidFill>
                      </a:endParaRPr>
                    </a:p>
                  </a:txBody>
                  <a:tcPr marT="34300" marB="34300" marR="68600" marL="68600">
                    <a:solidFill>
                      <a:srgbClr val="92D050"/>
                    </a:solidFill>
                  </a:tcPr>
                </a:tc>
              </a:tr>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a:t>
                      </a:r>
                      <a:r>
                        <a:rPr lang="en-US" sz="1700" u="none" cap="none" strike="noStrike">
                          <a:solidFill>
                            <a:srgbClr val="4C4C4C"/>
                          </a:solidFill>
                          <a:latin typeface="Arial"/>
                          <a:ea typeface="Arial"/>
                          <a:cs typeface="Arial"/>
                          <a:sym typeface="Arial"/>
                        </a:rPr>
                        <a:t>d0*</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a:t>
                      </a:r>
                      <a:r>
                        <a:rPr lang="en-US" sz="1700" u="none" cap="none" strike="noStrike">
                          <a:solidFill>
                            <a:srgbClr val="4C4C4C"/>
                          </a:solidFill>
                          <a:latin typeface="Arial"/>
                          <a:ea typeface="Arial"/>
                          <a:cs typeface="Arial"/>
                          <a:sym typeface="Arial"/>
                        </a:rPr>
                        <a:t>{0, 1, 2, 7, 11}*</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{3, 4, 8, 9}</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r>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d1</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700" u="none" cap="none" strike="noStrike">
                          <a:solidFill>
                            <a:srgbClr val="4C4C4C"/>
                          </a:solidFill>
                          <a:latin typeface="Arial"/>
                          <a:ea typeface="Arial"/>
                          <a:cs typeface="Arial"/>
                          <a:sym typeface="Arial"/>
                        </a:rPr>
                        <a:t>{3, 4, 8, 9}</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{1, 2, 5, 6, 7, 11}*</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{1, 2, 6, 7, 10, 11}*</a:t>
                      </a:r>
                      <a:endParaRPr sz="1700" u="none" cap="none" strike="noStrike">
                        <a:solidFill>
                          <a:srgbClr val="4C4C4C"/>
                        </a:solidFill>
                      </a:endParaRPr>
                    </a:p>
                  </a:txBody>
                  <a:tcPr marT="34300" marB="34300" marR="68600" marL="68600"/>
                </a:tc>
              </a:tr>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r>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d2*</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{1, 2, 5, 6, 7, 11}*</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700" u="none" cap="none" strike="noStrike">
                          <a:solidFill>
                            <a:srgbClr val="4C4C4C"/>
                          </a:solidFill>
                          <a:latin typeface="Arial"/>
                          <a:ea typeface="Arial"/>
                          <a:cs typeface="Arial"/>
                          <a:sym typeface="Arial"/>
                        </a:rPr>
                        <a:t>{3, 4, 8, 9}</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r>
              <a:tr h="320050">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d3*</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700" u="none" cap="none" strike="noStrike">
                          <a:solidFill>
                            <a:srgbClr val="4C4C4C"/>
                          </a:solidFill>
                          <a:latin typeface="Arial"/>
                          <a:ea typeface="Arial"/>
                          <a:cs typeface="Arial"/>
                          <a:sym typeface="Arial"/>
                        </a:rPr>
                        <a:t>{1, 2, 6, 7, 10, 11}*</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700" u="none" cap="none" strike="noStrike">
                          <a:solidFill>
                            <a:srgbClr val="4C4C4C"/>
                          </a:solidFill>
                          <a:latin typeface="Arial"/>
                          <a:ea typeface="Arial"/>
                          <a:cs typeface="Arial"/>
                          <a:sym typeface="Arial"/>
                        </a:rPr>
                        <a:t>{3, 4, 8, 9}</a:t>
                      </a:r>
                      <a:endParaRPr sz="1700" u="none" cap="none" strike="noStrike">
                        <a:solidFill>
                          <a:srgbClr val="4C4C4C"/>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700" u="none" cap="none" strike="noStrike">
                          <a:solidFill>
                            <a:srgbClr val="4C4C4C"/>
                          </a:solidFill>
                        </a:rPr>
                        <a:t>Φ</a:t>
                      </a:r>
                      <a:endParaRPr sz="1700" u="none" cap="none" strike="noStrike">
                        <a:solidFill>
                          <a:srgbClr val="4C4C4C"/>
                        </a:solidFill>
                        <a:latin typeface="Arial"/>
                        <a:ea typeface="Arial"/>
                        <a:cs typeface="Arial"/>
                        <a:sym typeface="Arial"/>
                      </a:endParaRPr>
                    </a:p>
                  </a:txBody>
                  <a:tcPr marT="34300" marB="34300" marR="68600" marL="68600"/>
                </a:tc>
              </a:tr>
            </a:tbl>
          </a:graphicData>
        </a:graphic>
      </p:graphicFrame>
      <p:graphicFrame>
        <p:nvGraphicFramePr>
          <p:cNvPr id="159" name="Google Shape;159;p14"/>
          <p:cNvGraphicFramePr/>
          <p:nvPr/>
        </p:nvGraphicFramePr>
        <p:xfrm>
          <a:off x="4025556" y="1525629"/>
          <a:ext cx="3000000" cy="3000000"/>
        </p:xfrm>
        <a:graphic>
          <a:graphicData uri="http://schemas.openxmlformats.org/drawingml/2006/table">
            <a:tbl>
              <a:tblPr bandRow="1" firstCol="1" firstRow="1">
                <a:noFill/>
                <a:tableStyleId>{9225F91B-823C-4E8D-9C78-1532CDFFD4CF}</a:tableStyleId>
              </a:tblPr>
              <a:tblGrid>
                <a:gridCol w="759600"/>
                <a:gridCol w="956425"/>
                <a:gridCol w="1931775"/>
              </a:tblGrid>
              <a:tr h="228600">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Sigma</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Appears</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Goes to</a:t>
                      </a:r>
                      <a:endParaRPr/>
                    </a:p>
                  </a:txBody>
                  <a:tcPr marT="0" marB="0" marR="68575" marL="68575"/>
                </a:tc>
              </a:tr>
              <a:tr h="125025">
                <a:tc rowSpan="2">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a</a:t>
                      </a:r>
                      <a:endParaRPr/>
                    </a:p>
                  </a:txBody>
                  <a:tcPr marT="0" marB="0" marR="68575" marL="68575">
                    <a:solidFill>
                      <a:srgbClr val="D8E6FC"/>
                    </a:solidFill>
                  </a:tcPr>
                </a:tc>
                <a:tc>
                  <a:txBody>
                    <a:bodyPr/>
                    <a:lstStyle/>
                    <a:p>
                      <a:pPr indent="0" lvl="0" marL="0" marR="0" rtl="0" algn="ctr">
                        <a:lnSpc>
                          <a:spcPct val="107000"/>
                        </a:lnSpc>
                        <a:spcBef>
                          <a:spcPts val="0"/>
                        </a:spcBef>
                        <a:spcAft>
                          <a:spcPts val="0"/>
                        </a:spcAft>
                        <a:buNone/>
                      </a:pPr>
                      <a:r>
                        <a:rPr lang="en-US" sz="1800" u="none" cap="none" strike="noStrike"/>
                        <a:t>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{3,4}</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t>7</a:t>
                      </a:r>
                      <a:endParaRPr sz="1800" u="none" cap="none" strike="noStrike">
                        <a:latin typeface="Calibri"/>
                        <a:ea typeface="Calibri"/>
                        <a:cs typeface="Calibri"/>
                        <a:sym typeface="Calibri"/>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{8,9}</a:t>
                      </a:r>
                      <a:endParaRPr sz="1800" u="none" cap="none" strike="noStrike">
                        <a:latin typeface="Calibri"/>
                        <a:ea typeface="Calibri"/>
                        <a:cs typeface="Calibri"/>
                        <a:sym typeface="Calibri"/>
                      </a:endParaRPr>
                    </a:p>
                  </a:txBody>
                  <a:tcPr marT="0" marB="0" marR="68575" marL="68575">
                    <a:solidFill>
                      <a:srgbClr val="D8E6FC"/>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b</a:t>
                      </a:r>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t>4</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t>{1,2,5,6,7,11}*</a:t>
                      </a:r>
                      <a:endParaRPr sz="1800" u="none" cap="none" strike="noStrike">
                        <a:latin typeface="Calibri"/>
                        <a:ea typeface="Calibri"/>
                        <a:cs typeface="Calibri"/>
                        <a:sym typeface="Calibri"/>
                      </a:endParaRPr>
                    </a:p>
                  </a:txBody>
                  <a:tcPr marT="0" marB="0" marR="68575" marL="68575">
                    <a:solidFill>
                      <a:srgbClr val="FFEDD8"/>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c</a:t>
                      </a:r>
                      <a:endParaRPr/>
                    </a:p>
                  </a:txBody>
                  <a:tcPr marT="0" marB="0" marR="68575" marL="68575">
                    <a:solidFill>
                      <a:srgbClr val="92D050"/>
                    </a:solidFill>
                  </a:tcPr>
                </a:tc>
                <a:tc>
                  <a:txBody>
                    <a:bodyPr/>
                    <a:lstStyle/>
                    <a:p>
                      <a:pPr indent="0" lvl="0" marL="0" marR="0" rtl="0" algn="ctr">
                        <a:lnSpc>
                          <a:spcPct val="107000"/>
                        </a:lnSpc>
                        <a:spcBef>
                          <a:spcPts val="0"/>
                        </a:spcBef>
                        <a:spcAft>
                          <a:spcPts val="0"/>
                        </a:spcAft>
                        <a:buNone/>
                      </a:pPr>
                      <a:r>
                        <a:rPr lang="en-US" sz="1800" u="none" cap="none" strike="noStrike"/>
                        <a:t>9</a:t>
                      </a:r>
                      <a:endParaRPr sz="1800" u="none" cap="none" strike="noStrike">
                        <a:latin typeface="Calibri"/>
                        <a:ea typeface="Calibri"/>
                        <a:cs typeface="Calibri"/>
                        <a:sym typeface="Calibri"/>
                      </a:endParaRPr>
                    </a:p>
                  </a:txBody>
                  <a:tcPr marT="0" marB="0" marR="68575" marL="68575">
                    <a:solidFill>
                      <a:srgbClr val="92D050"/>
                    </a:solidFill>
                  </a:tcPr>
                </a:tc>
                <a:tc>
                  <a:txBody>
                    <a:bodyPr/>
                    <a:lstStyle/>
                    <a:p>
                      <a:pPr indent="0" lvl="0" marL="0" marR="0" rtl="0" algn="l">
                        <a:lnSpc>
                          <a:spcPct val="107000"/>
                        </a:lnSpc>
                        <a:spcBef>
                          <a:spcPts val="0"/>
                        </a:spcBef>
                        <a:spcAft>
                          <a:spcPts val="0"/>
                        </a:spcAft>
                        <a:buNone/>
                      </a:pPr>
                      <a:r>
                        <a:rPr lang="en-US" sz="1800" u="none" cap="none" strike="noStrike"/>
                        <a:t>{1,2,6,7,10,11}*</a:t>
                      </a:r>
                      <a:endParaRPr sz="1800" u="none" cap="none" strike="noStrike">
                        <a:latin typeface="Calibri"/>
                        <a:ea typeface="Calibri"/>
                        <a:cs typeface="Calibri"/>
                        <a:sym typeface="Calibri"/>
                      </a:endParaRPr>
                    </a:p>
                  </a:txBody>
                  <a:tcPr marT="0" marB="0" marR="68575" marL="68575">
                    <a:solidFill>
                      <a:srgbClr val="92D050"/>
                    </a:solidFill>
                  </a:tcPr>
                </a:tc>
              </a:tr>
            </a:tbl>
          </a:graphicData>
        </a:graphic>
      </p:graphicFrame>
      <p:sp>
        <p:nvSpPr>
          <p:cNvPr id="160" name="Google Shape;160;p14"/>
          <p:cNvSpPr/>
          <p:nvPr/>
        </p:nvSpPr>
        <p:spPr>
          <a:xfrm>
            <a:off x="195135" y="2924473"/>
            <a:ext cx="808622" cy="206276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60"/>
                                        </p:tgtEl>
                                      </p:cBhvr>
                                    </p:animEffect>
                                    <p:set>
                                      <p:cBhvr>
                                        <p:cTn dur="1" fill="hold">
                                          <p:stCondLst>
                                            <p:cond delay="500"/>
                                          </p:stCondLst>
                                        </p:cTn>
                                        <p:tgtEl>
                                          <p:spTgt spid="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5"/>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1 cont.</a:t>
            </a:r>
            <a:endParaRPr/>
          </a:p>
        </p:txBody>
      </p:sp>
      <p:sp>
        <p:nvSpPr>
          <p:cNvPr id="167" name="Google Shape;167;p15"/>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100"/>
              <a:t>2- convert from NFA to DFA using subset construction method.</a:t>
            </a:r>
            <a:endParaRPr sz="2100"/>
          </a:p>
          <a:p>
            <a:pPr indent="0" lvl="0" marL="0" rtl="0" algn="l">
              <a:lnSpc>
                <a:spcPct val="115000"/>
              </a:lnSpc>
              <a:spcBef>
                <a:spcPts val="1050"/>
              </a:spcBef>
              <a:spcAft>
                <a:spcPts val="0"/>
              </a:spcAft>
              <a:buSzPts val="2300"/>
              <a:buNone/>
            </a:pPr>
            <a:r>
              <a:t/>
            </a:r>
            <a:endParaRPr b="1" i="1" sz="2100"/>
          </a:p>
          <a:p>
            <a:pPr indent="0" lvl="0" marL="0" rtl="0" algn="l">
              <a:lnSpc>
                <a:spcPct val="115000"/>
              </a:lnSpc>
              <a:spcBef>
                <a:spcPts val="1050"/>
              </a:spcBef>
              <a:spcAft>
                <a:spcPts val="0"/>
              </a:spcAft>
              <a:buSzPts val="2300"/>
              <a:buNone/>
            </a:pPr>
            <a:r>
              <a:t/>
            </a:r>
            <a:endParaRPr b="1" i="1" sz="2100"/>
          </a:p>
          <a:p>
            <a:pPr indent="0" lvl="0" marL="0" rtl="0" algn="l">
              <a:lnSpc>
                <a:spcPct val="115000"/>
              </a:lnSpc>
              <a:spcBef>
                <a:spcPts val="1050"/>
              </a:spcBef>
              <a:spcAft>
                <a:spcPts val="0"/>
              </a:spcAft>
              <a:buSzPts val="2300"/>
              <a:buNone/>
            </a:pPr>
            <a:r>
              <a:t/>
            </a:r>
            <a:endParaRPr b="1" i="1" sz="2100"/>
          </a:p>
        </p:txBody>
      </p:sp>
      <p:pic>
        <p:nvPicPr>
          <p:cNvPr id="168" name="Google Shape;168;p15"/>
          <p:cNvPicPr preferRelativeResize="0"/>
          <p:nvPr/>
        </p:nvPicPr>
        <p:blipFill rotWithShape="1">
          <a:blip r:embed="rId3">
            <a:alphaModFix/>
          </a:blip>
          <a:srcRect b="0" l="0" r="0" t="0"/>
          <a:stretch/>
        </p:blipFill>
        <p:spPr>
          <a:xfrm>
            <a:off x="3818879" y="1737030"/>
            <a:ext cx="5143338" cy="3193576"/>
          </a:xfrm>
          <a:prstGeom prst="rect">
            <a:avLst/>
          </a:prstGeom>
          <a:noFill/>
          <a:ln>
            <a:noFill/>
          </a:ln>
        </p:spPr>
      </p:pic>
      <p:graphicFrame>
        <p:nvGraphicFramePr>
          <p:cNvPr id="169" name="Google Shape;169;p15"/>
          <p:cNvGraphicFramePr/>
          <p:nvPr/>
        </p:nvGraphicFramePr>
        <p:xfrm>
          <a:off x="293426" y="2207951"/>
          <a:ext cx="3000000" cy="3000000"/>
        </p:xfrm>
        <a:graphic>
          <a:graphicData uri="http://schemas.openxmlformats.org/drawingml/2006/table">
            <a:tbl>
              <a:tblPr>
                <a:noFill/>
                <a:tableStyleId>{F5B74D66-4877-4BB9-A7D5-F372992069FC}</a:tableStyleId>
              </a:tblPr>
              <a:tblGrid>
                <a:gridCol w="853450"/>
                <a:gridCol w="853450"/>
                <a:gridCol w="853450"/>
                <a:gridCol w="853450"/>
              </a:tblGrid>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DFA</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δ(q,a) </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δ(q,b) </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δ(q,c) </a:t>
                      </a:r>
                      <a:endParaRPr sz="18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a:t>
                      </a:r>
                      <a:r>
                        <a:rPr lang="en-US" sz="2100" u="none" cap="none" strike="noStrike">
                          <a:solidFill>
                            <a:schemeClr val="dk2"/>
                          </a:solidFill>
                          <a:latin typeface="Arial"/>
                          <a:ea typeface="Arial"/>
                          <a:cs typeface="Arial"/>
                          <a:sym typeface="Arial"/>
                        </a:rPr>
                        <a:t>d0*</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d3</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d3*</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Φ</a:t>
                      </a:r>
                      <a:endParaRPr sz="2100" u="none" cap="none" strike="noStrike">
                        <a:solidFill>
                          <a:schemeClr val="dk2"/>
                        </a:solidFill>
                        <a:latin typeface="Arial"/>
                        <a:ea typeface="Arial"/>
                        <a:cs typeface="Arial"/>
                        <a:sym typeface="Arial"/>
                      </a:endParaRPr>
                    </a:p>
                  </a:txBody>
                  <a:tcPr marT="34300" marB="34300" marR="68600" marL="68600"/>
                </a:tc>
              </a:tr>
            </a:tbl>
          </a:graphicData>
        </a:graphic>
      </p:graphicFrame>
      <p:sp>
        <p:nvSpPr>
          <p:cNvPr id="170" name="Google Shape;170;p15"/>
          <p:cNvSpPr txBox="1"/>
          <p:nvPr/>
        </p:nvSpPr>
        <p:spPr>
          <a:xfrm>
            <a:off x="1018250" y="1759717"/>
            <a:ext cx="1964126" cy="360068"/>
          </a:xfrm>
          <a:prstGeom prst="rect">
            <a:avLst/>
          </a:prstGeom>
          <a:noFill/>
          <a:ln>
            <a:noFill/>
          </a:ln>
        </p:spPr>
        <p:txBody>
          <a:bodyPr anchorCtr="0" anchor="t" bIns="34275" lIns="68550" spcFirstLastPara="1" rIns="68550" wrap="square" tIns="34275">
            <a:spAutoFit/>
          </a:bodyPr>
          <a:lstStyle/>
          <a:p>
            <a:pPr indent="0" lvl="0" marL="0" marR="0" rtl="0" algn="ctr">
              <a:lnSpc>
                <a:spcPct val="90000"/>
              </a:lnSpc>
              <a:spcBef>
                <a:spcPts val="0"/>
              </a:spcBef>
              <a:spcAft>
                <a:spcPts val="0"/>
              </a:spcAft>
              <a:buNone/>
            </a:pPr>
            <a:r>
              <a:rPr b="1" i="1" lang="en-US" sz="2100" u="none" cap="none" strike="noStrike">
                <a:solidFill>
                  <a:srgbClr val="606060"/>
                </a:solidFill>
                <a:latin typeface="Arial"/>
                <a:ea typeface="Arial"/>
                <a:cs typeface="Arial"/>
                <a:sym typeface="Arial"/>
              </a:rPr>
              <a:t>RE= </a:t>
            </a:r>
            <a:r>
              <a:rPr b="1" i="1" lang="en-US" sz="2100" u="none" cap="none" strike="noStrike">
                <a:solidFill>
                  <a:srgbClr val="FF0000"/>
                </a:solidFill>
                <a:latin typeface="Arial"/>
                <a:ea typeface="Arial"/>
                <a:cs typeface="Arial"/>
                <a:sym typeface="Arial"/>
              </a:rPr>
              <a:t>(ab|ac)*</a:t>
            </a:r>
            <a:endParaRPr b="0" i="0" sz="2100" u="none" cap="none" strike="noStrike">
              <a:solidFill>
                <a:srgbClr val="000000"/>
              </a:solidFill>
              <a:latin typeface="Arial"/>
              <a:ea typeface="Arial"/>
              <a:cs typeface="Arial"/>
              <a:sym typeface="Arial"/>
            </a:endParaRPr>
          </a:p>
        </p:txBody>
      </p:sp>
      <p:cxnSp>
        <p:nvCxnSpPr>
          <p:cNvPr id="171" name="Google Shape;171;p15"/>
          <p:cNvCxnSpPr/>
          <p:nvPr/>
        </p:nvCxnSpPr>
        <p:spPr>
          <a:xfrm>
            <a:off x="3572540" y="4657060"/>
            <a:ext cx="340241" cy="0"/>
          </a:xfrm>
          <a:prstGeom prst="straightConnector1">
            <a:avLst/>
          </a:prstGeom>
          <a:noFill/>
          <a:ln cap="flat" cmpd="sng" w="9525">
            <a:solidFill>
              <a:srgbClr val="425761"/>
            </a:solidFill>
            <a:prstDash val="solid"/>
            <a:round/>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265500" y="1375599"/>
            <a:ext cx="4045200" cy="1551900"/>
          </a:xfrm>
          <a:prstGeom prst="rect">
            <a:avLst/>
          </a:prstGeom>
          <a:noFill/>
          <a:ln>
            <a:noFill/>
          </a:ln>
        </p:spPr>
        <p:txBody>
          <a:bodyPr anchorCtr="0" anchor="ctr" bIns="34275" lIns="68550" spcFirstLastPara="1" rIns="68550" wrap="square" tIns="34275">
            <a:normAutofit/>
          </a:bodyPr>
          <a:lstStyle/>
          <a:p>
            <a:pPr indent="0" lvl="0" marL="0" rtl="0" algn="ctr">
              <a:lnSpc>
                <a:spcPct val="80000"/>
              </a:lnSpc>
              <a:spcBef>
                <a:spcPts val="0"/>
              </a:spcBef>
              <a:spcAft>
                <a:spcPts val="0"/>
              </a:spcAft>
              <a:buClr>
                <a:schemeClr val="lt2"/>
              </a:buClr>
              <a:buSzPts val="6000"/>
              <a:buNone/>
            </a:pPr>
            <a:r>
              <a:rPr lang="en-US">
                <a:latin typeface="Alfa Slab One"/>
                <a:ea typeface="Alfa Slab One"/>
                <a:cs typeface="Alfa Slab One"/>
                <a:sym typeface="Alfa Slab One"/>
              </a:rPr>
              <a:t>DFA Minimization</a:t>
            </a:r>
            <a:endParaRPr>
              <a:latin typeface="Alfa Slab One"/>
              <a:ea typeface="Alfa Slab One"/>
              <a:cs typeface="Alfa Slab One"/>
              <a:sym typeface="Alfa Slab On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1 </a:t>
            </a:r>
            <a:r>
              <a:rPr lang="en-US" cap="none"/>
              <a:t>cont.</a:t>
            </a:r>
            <a:endParaRPr/>
          </a:p>
        </p:txBody>
      </p:sp>
      <p:sp>
        <p:nvSpPr>
          <p:cNvPr id="183" name="Google Shape;183;p17"/>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400"/>
              <a:t>3- convert from DFA to Minimized DFA.</a:t>
            </a:r>
            <a:endParaRPr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p:txBody>
      </p:sp>
      <p:graphicFrame>
        <p:nvGraphicFramePr>
          <p:cNvPr id="184" name="Google Shape;184;p17"/>
          <p:cNvGraphicFramePr/>
          <p:nvPr/>
        </p:nvGraphicFramePr>
        <p:xfrm>
          <a:off x="475611" y="3159428"/>
          <a:ext cx="3000000" cy="3000000"/>
        </p:xfrm>
        <a:graphic>
          <a:graphicData uri="http://schemas.openxmlformats.org/drawingml/2006/table">
            <a:tbl>
              <a:tblPr>
                <a:noFill/>
                <a:tableStyleId>{F5B74D66-4877-4BB9-A7D5-F372992069FC}</a:tableStyleId>
              </a:tblPr>
              <a:tblGrid>
                <a:gridCol w="713525"/>
                <a:gridCol w="713525"/>
                <a:gridCol w="713525"/>
                <a:gridCol w="713525"/>
              </a:tblGrid>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DFA</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b="1" lang="en-US" sz="1300" u="none" cap="none" strike="noStrike">
                          <a:solidFill>
                            <a:schemeClr val="dk2"/>
                          </a:solidFill>
                          <a:latin typeface="Arial"/>
                          <a:ea typeface="Arial"/>
                          <a:cs typeface="Arial"/>
                          <a:sym typeface="Arial"/>
                        </a:rPr>
                        <a:t>δ(q,a) </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b="1" lang="en-US" sz="1300" u="none" cap="none" strike="noStrike">
                          <a:solidFill>
                            <a:schemeClr val="dk2"/>
                          </a:solidFill>
                          <a:latin typeface="Arial"/>
                          <a:ea typeface="Arial"/>
                          <a:cs typeface="Arial"/>
                          <a:sym typeface="Arial"/>
                        </a:rPr>
                        <a:t>δ(q,b) </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b="1" lang="en-US" sz="1300" u="none" cap="none" strike="noStrike">
                          <a:solidFill>
                            <a:schemeClr val="dk2"/>
                          </a:solidFill>
                          <a:latin typeface="Arial"/>
                          <a:ea typeface="Arial"/>
                          <a:cs typeface="Arial"/>
                          <a:sym typeface="Arial"/>
                        </a:rPr>
                        <a:t>δ(q,c) </a:t>
                      </a:r>
                      <a:endParaRPr b="1" sz="1100" u="none" cap="none" strike="noStrike">
                        <a:solidFill>
                          <a:schemeClr val="dk2"/>
                        </a:solidFill>
                      </a:endParaRPr>
                    </a:p>
                  </a:txBody>
                  <a:tcPr marT="34300" marB="34300" marR="68600" marL="68600"/>
                </a:tc>
              </a:tr>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a:t>
                      </a:r>
                      <a:r>
                        <a:rPr b="1" lang="en-US" sz="1400" u="none" cap="none" strike="noStrike">
                          <a:solidFill>
                            <a:schemeClr val="dk2"/>
                          </a:solidFill>
                          <a:latin typeface="Arial"/>
                          <a:ea typeface="Arial"/>
                          <a:cs typeface="Arial"/>
                          <a:sym typeface="Arial"/>
                        </a:rPr>
                        <a:t>d0*</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d2</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d3</a:t>
                      </a:r>
                      <a:endParaRPr b="1" sz="1100" u="none" cap="none" strike="noStrike">
                        <a:solidFill>
                          <a:schemeClr val="dk2"/>
                        </a:solidFill>
                      </a:endParaRPr>
                    </a:p>
                  </a:txBody>
                  <a:tcPr marT="34300" marB="34300" marR="68600" marL="68600"/>
                </a:tc>
              </a:tr>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d2*</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r h="278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d3*</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bl>
          </a:graphicData>
        </a:graphic>
      </p:graphicFrame>
      <p:sp>
        <p:nvSpPr>
          <p:cNvPr id="185" name="Google Shape;185;p17"/>
          <p:cNvSpPr txBox="1"/>
          <p:nvPr/>
        </p:nvSpPr>
        <p:spPr>
          <a:xfrm>
            <a:off x="552735" y="2008185"/>
            <a:ext cx="4759657" cy="900216"/>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0-Equivalence: {d1, </a:t>
            </a:r>
            <a:r>
              <a:rPr b="0" i="0" lang="en-US" sz="1800" u="none" cap="none" strike="noStrike">
                <a:solidFill>
                  <a:srgbClr val="2C2C2C"/>
                </a:solidFill>
                <a:latin typeface="Corbel"/>
                <a:ea typeface="Corbel"/>
                <a:cs typeface="Corbel"/>
                <a:sym typeface="Corbel"/>
              </a:rPr>
              <a:t>Φ</a:t>
            </a:r>
            <a:r>
              <a:rPr b="0" i="0" lang="en-US" sz="1800" u="none" cap="none" strike="noStrike">
                <a:solidFill>
                  <a:srgbClr val="2C2C2C"/>
                </a:solidFill>
                <a:latin typeface="Arial"/>
                <a:ea typeface="Arial"/>
                <a:cs typeface="Arial"/>
                <a:sym typeface="Arial"/>
              </a:rPr>
              <a:t>} {d0, d2, d3}</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1-Equivalence: {d1} {</a:t>
            </a:r>
            <a:r>
              <a:rPr b="0" i="0" lang="en-US" sz="1800" u="none" cap="none" strike="noStrike">
                <a:solidFill>
                  <a:srgbClr val="2C2C2C"/>
                </a:solidFill>
                <a:latin typeface="Corbel"/>
                <a:ea typeface="Corbel"/>
                <a:cs typeface="Corbel"/>
                <a:sym typeface="Corbel"/>
              </a:rPr>
              <a:t>Φ</a:t>
            </a:r>
            <a:r>
              <a:rPr b="0" i="0" lang="en-US" sz="1800" u="none" cap="none" strike="noStrike">
                <a:solidFill>
                  <a:srgbClr val="2C2C2C"/>
                </a:solidFill>
                <a:latin typeface="Arial"/>
                <a:ea typeface="Arial"/>
                <a:cs typeface="Arial"/>
                <a:sym typeface="Arial"/>
              </a:rPr>
              <a:t>} {d0, d2, d3}</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2-Equivalence: {d1} {</a:t>
            </a:r>
            <a:r>
              <a:rPr b="0" i="0" lang="en-US" sz="1800" u="none" cap="none" strike="noStrike">
                <a:solidFill>
                  <a:srgbClr val="2C2C2C"/>
                </a:solidFill>
                <a:latin typeface="Corbel"/>
                <a:ea typeface="Corbel"/>
                <a:cs typeface="Corbel"/>
                <a:sym typeface="Corbel"/>
              </a:rPr>
              <a:t>Φ</a:t>
            </a:r>
            <a:r>
              <a:rPr b="0" i="0" lang="en-US" sz="1800" u="none" cap="none" strike="noStrike">
                <a:solidFill>
                  <a:srgbClr val="2C2C2C"/>
                </a:solidFill>
                <a:latin typeface="Arial"/>
                <a:ea typeface="Arial"/>
                <a:cs typeface="Arial"/>
                <a:sym typeface="Arial"/>
              </a:rPr>
              <a:t>} {d0, d2, d3}</a:t>
            </a:r>
            <a:endParaRPr b="0" i="0" sz="1800" u="none" cap="none" strike="noStrike">
              <a:solidFill>
                <a:srgbClr val="000000"/>
              </a:solidFill>
              <a:latin typeface="Arial"/>
              <a:ea typeface="Arial"/>
              <a:cs typeface="Arial"/>
              <a:sym typeface="Arial"/>
            </a:endParaRPr>
          </a:p>
        </p:txBody>
      </p:sp>
      <p:graphicFrame>
        <p:nvGraphicFramePr>
          <p:cNvPr id="186" name="Google Shape;186;p17"/>
          <p:cNvGraphicFramePr/>
          <p:nvPr/>
        </p:nvGraphicFramePr>
        <p:xfrm>
          <a:off x="3589469" y="3308347"/>
          <a:ext cx="3000000" cy="3000000"/>
        </p:xfrm>
        <a:graphic>
          <a:graphicData uri="http://schemas.openxmlformats.org/drawingml/2006/table">
            <a:tbl>
              <a:tblPr>
                <a:noFill/>
                <a:tableStyleId>{F5B74D66-4877-4BB9-A7D5-F372992069FC}</a:tableStyleId>
              </a:tblPr>
              <a:tblGrid>
                <a:gridCol w="1072075"/>
                <a:gridCol w="1250300"/>
                <a:gridCol w="893825"/>
                <a:gridCol w="1072075"/>
                <a:gridCol w="1072075"/>
              </a:tblGrid>
              <a:tr h="455475">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Minimized DFA</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DFA</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b="1" lang="en-US" sz="1300" u="none" cap="none" strike="noStrike">
                          <a:solidFill>
                            <a:schemeClr val="dk2"/>
                          </a:solidFill>
                          <a:latin typeface="Arial"/>
                          <a:ea typeface="Arial"/>
                          <a:cs typeface="Arial"/>
                          <a:sym typeface="Arial"/>
                        </a:rPr>
                        <a:t>δ(q,a) </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b="1" lang="en-US" sz="1300" u="none" cap="none" strike="noStrike">
                          <a:solidFill>
                            <a:schemeClr val="dk2"/>
                          </a:solidFill>
                          <a:latin typeface="Arial"/>
                          <a:ea typeface="Arial"/>
                          <a:cs typeface="Arial"/>
                          <a:sym typeface="Arial"/>
                        </a:rPr>
                        <a:t>δ(q,b) </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b="1" lang="en-US" sz="1300" u="none" cap="none" strike="noStrike">
                          <a:solidFill>
                            <a:schemeClr val="dk2"/>
                          </a:solidFill>
                          <a:latin typeface="Arial"/>
                          <a:ea typeface="Arial"/>
                          <a:cs typeface="Arial"/>
                          <a:sym typeface="Arial"/>
                        </a:rPr>
                        <a:t>δ(q,c) </a:t>
                      </a:r>
                      <a:endParaRPr b="1" sz="1100" u="none" cap="none" strike="noStrike">
                        <a:solidFill>
                          <a:schemeClr val="dk2"/>
                        </a:solidFill>
                      </a:endParaRPr>
                    </a:p>
                  </a:txBody>
                  <a:tcPr marT="34300" marB="34300" marR="68600" marL="68600"/>
                </a:tc>
              </a:tr>
              <a:tr h="306150">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a:t>
                      </a:r>
                      <a:r>
                        <a:rPr b="1" lang="en-US" sz="1400" u="none" cap="none" strike="noStrike">
                          <a:solidFill>
                            <a:schemeClr val="dk2"/>
                          </a:solidFill>
                          <a:latin typeface="Arial"/>
                          <a:ea typeface="Arial"/>
                          <a:cs typeface="Arial"/>
                          <a:sym typeface="Arial"/>
                        </a:rPr>
                        <a:t>d0*</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a:t>
                      </a:r>
                      <a:r>
                        <a:rPr b="1" lang="en-US" sz="1400" u="none" cap="none" strike="noStrike">
                          <a:solidFill>
                            <a:schemeClr val="dk2"/>
                          </a:solidFill>
                          <a:latin typeface="Arial"/>
                          <a:ea typeface="Arial"/>
                          <a:cs typeface="Arial"/>
                          <a:sym typeface="Arial"/>
                        </a:rPr>
                        <a:t>d0, d2, d3*</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r h="259275">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d1</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b="1" lang="en-US" sz="1400" u="none" cap="none" strike="noStrike">
                          <a:solidFill>
                            <a:schemeClr val="dk2"/>
                          </a:solidFill>
                          <a:latin typeface="Arial"/>
                          <a:ea typeface="Arial"/>
                          <a:cs typeface="Arial"/>
                          <a:sym typeface="Arial"/>
                        </a:rPr>
                        <a:t>d0, d2, d3*</a:t>
                      </a:r>
                      <a:endParaRPr b="1"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latin typeface="Arial"/>
                          <a:ea typeface="Arial"/>
                          <a:cs typeface="Arial"/>
                          <a:sym typeface="Arial"/>
                        </a:rPr>
                        <a:t>d0, d2, d3*</a:t>
                      </a:r>
                      <a:endParaRPr b="1" sz="1100" u="none" cap="none" strike="noStrike">
                        <a:solidFill>
                          <a:schemeClr val="dk2"/>
                        </a:solidFill>
                      </a:endParaRPr>
                    </a:p>
                  </a:txBody>
                  <a:tcPr marT="34300" marB="34300" marR="68600" marL="68600"/>
                </a:tc>
              </a:tr>
              <a:tr h="259275">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400" u="none" cap="none" strike="noStrike">
                          <a:solidFill>
                            <a:schemeClr val="dk2"/>
                          </a:solidFill>
                        </a:rPr>
                        <a:t>Φ</a:t>
                      </a:r>
                      <a:endParaRPr b="1" sz="1400" u="none" cap="none" strike="noStrike">
                        <a:solidFill>
                          <a:schemeClr val="dk2"/>
                        </a:solidFill>
                        <a:latin typeface="Arial"/>
                        <a:ea typeface="Arial"/>
                        <a:cs typeface="Arial"/>
                        <a:sym typeface="Arial"/>
                      </a:endParaRPr>
                    </a:p>
                  </a:txBody>
                  <a:tcPr marT="34300" marB="34300" marR="68600" marL="686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1 cont.</a:t>
            </a:r>
            <a:endParaRPr/>
          </a:p>
        </p:txBody>
      </p:sp>
      <p:sp>
        <p:nvSpPr>
          <p:cNvPr id="193" name="Google Shape;193;p18"/>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400"/>
              <a:t>3- convert from DFA to Minimized DFA.</a:t>
            </a:r>
            <a:endParaRPr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p:txBody>
      </p:sp>
      <p:pic>
        <p:nvPicPr>
          <p:cNvPr id="194" name="Google Shape;194;p18"/>
          <p:cNvPicPr preferRelativeResize="0"/>
          <p:nvPr/>
        </p:nvPicPr>
        <p:blipFill rotWithShape="1">
          <a:blip r:embed="rId3">
            <a:alphaModFix/>
          </a:blip>
          <a:srcRect b="0" l="0" r="0" t="0"/>
          <a:stretch/>
        </p:blipFill>
        <p:spPr>
          <a:xfrm>
            <a:off x="3763926" y="2940332"/>
            <a:ext cx="5192880" cy="2043485"/>
          </a:xfrm>
          <a:prstGeom prst="rect">
            <a:avLst/>
          </a:prstGeom>
          <a:noFill/>
          <a:ln>
            <a:noFill/>
          </a:ln>
        </p:spPr>
      </p:pic>
      <p:graphicFrame>
        <p:nvGraphicFramePr>
          <p:cNvPr id="195" name="Google Shape;195;p18"/>
          <p:cNvGraphicFramePr/>
          <p:nvPr/>
        </p:nvGraphicFramePr>
        <p:xfrm>
          <a:off x="311700" y="2977860"/>
          <a:ext cx="3000000" cy="3000000"/>
        </p:xfrm>
        <a:graphic>
          <a:graphicData uri="http://schemas.openxmlformats.org/drawingml/2006/table">
            <a:tbl>
              <a:tblPr>
                <a:noFill/>
                <a:tableStyleId>{F5B74D66-4877-4BB9-A7D5-F372992069FC}</a:tableStyleId>
              </a:tblPr>
              <a:tblGrid>
                <a:gridCol w="774800"/>
                <a:gridCol w="774800"/>
                <a:gridCol w="774800"/>
                <a:gridCol w="774800"/>
              </a:tblGrid>
              <a:tr h="278150">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DFA</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700"/>
                        <a:buFont typeface="Arial"/>
                        <a:buNone/>
                      </a:pPr>
                      <a:r>
                        <a:rPr lang="en-US" sz="1800" u="none" cap="none" strike="noStrike">
                          <a:solidFill>
                            <a:schemeClr val="dk2"/>
                          </a:solidFill>
                          <a:latin typeface="Arial"/>
                          <a:ea typeface="Arial"/>
                          <a:cs typeface="Arial"/>
                          <a:sym typeface="Arial"/>
                        </a:rPr>
                        <a:t>δ(q,a) </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δ(q,b) </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δ(q,c) </a:t>
                      </a:r>
                      <a:endParaRPr sz="1600" u="none" cap="none" strike="noStrike">
                        <a:solidFill>
                          <a:schemeClr val="dk2"/>
                        </a:solidFill>
                      </a:endParaRPr>
                    </a:p>
                  </a:txBody>
                  <a:tcPr marT="34300" marB="34300" marR="68600" marL="68600"/>
                </a:tc>
              </a:tr>
              <a:tr h="278150">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a:t>
                      </a: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r>
              <a:tr h="278150">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r>
              <a:tr h="278150">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2000" u="none" cap="none" strike="noStrike">
                          <a:solidFill>
                            <a:schemeClr val="dk2"/>
                          </a:solidFill>
                        </a:rPr>
                        <a:t>Φ</a:t>
                      </a:r>
                      <a:endParaRPr sz="2000" u="none" cap="none" strike="noStrike">
                        <a:solidFill>
                          <a:schemeClr val="dk2"/>
                        </a:solidFill>
                        <a:latin typeface="Arial"/>
                        <a:ea typeface="Arial"/>
                        <a:cs typeface="Arial"/>
                        <a:sym typeface="Arial"/>
                      </a:endParaRPr>
                    </a:p>
                  </a:txBody>
                  <a:tcPr marT="34300" marB="34300" marR="68600" marL="68600"/>
                </a:tc>
              </a:tr>
            </a:tbl>
          </a:graphicData>
        </a:graphic>
      </p:graphicFrame>
      <p:graphicFrame>
        <p:nvGraphicFramePr>
          <p:cNvPr id="196" name="Google Shape;196;p18"/>
          <p:cNvGraphicFramePr/>
          <p:nvPr/>
        </p:nvGraphicFramePr>
        <p:xfrm>
          <a:off x="187194" y="1598527"/>
          <a:ext cx="3000000" cy="3000000"/>
        </p:xfrm>
        <a:graphic>
          <a:graphicData uri="http://schemas.openxmlformats.org/drawingml/2006/table">
            <a:tbl>
              <a:tblPr>
                <a:noFill/>
                <a:tableStyleId>{F5B74D66-4877-4BB9-A7D5-F372992069FC}</a:tableStyleId>
              </a:tblPr>
              <a:tblGrid>
                <a:gridCol w="1503375"/>
                <a:gridCol w="1411825"/>
                <a:gridCol w="812950"/>
                <a:gridCol w="1242725"/>
                <a:gridCol w="1242725"/>
              </a:tblGrid>
              <a:tr h="307300">
                <a:tc>
                  <a:txBody>
                    <a:bodyPr/>
                    <a:lstStyle/>
                    <a:p>
                      <a:pPr indent="0" lvl="0" marL="0" marR="0" rtl="0" algn="ctr">
                        <a:lnSpc>
                          <a:spcPct val="100000"/>
                        </a:lnSpc>
                        <a:spcBef>
                          <a:spcPts val="0"/>
                        </a:spcBef>
                        <a:spcAft>
                          <a:spcPts val="0"/>
                        </a:spcAft>
                        <a:buClr>
                          <a:srgbClr val="000000"/>
                        </a:buClr>
                        <a:buSzPts val="1800"/>
                        <a:buFont typeface="Arial"/>
                        <a:buNone/>
                      </a:pPr>
                      <a:r>
                        <a:rPr lang="en-US" sz="1500" u="none" cap="none" strike="noStrike">
                          <a:solidFill>
                            <a:schemeClr val="dk2"/>
                          </a:solidFill>
                          <a:latin typeface="Arial"/>
                          <a:ea typeface="Arial"/>
                          <a:cs typeface="Arial"/>
                          <a:sym typeface="Arial"/>
                        </a:rPr>
                        <a:t>Minimized DFA</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500" u="none" cap="none" strike="noStrike">
                          <a:solidFill>
                            <a:schemeClr val="dk2"/>
                          </a:solidFill>
                          <a:latin typeface="Arial"/>
                          <a:ea typeface="Arial"/>
                          <a:cs typeface="Arial"/>
                          <a:sym typeface="Arial"/>
                        </a:rPr>
                        <a:t>DFA</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500" u="none" cap="none" strike="noStrike">
                          <a:solidFill>
                            <a:schemeClr val="dk2"/>
                          </a:solidFill>
                          <a:latin typeface="Arial"/>
                          <a:ea typeface="Arial"/>
                          <a:cs typeface="Arial"/>
                          <a:sym typeface="Arial"/>
                        </a:rPr>
                        <a:t>δ(q,a) </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500" u="none" cap="none" strike="noStrike">
                          <a:solidFill>
                            <a:schemeClr val="dk2"/>
                          </a:solidFill>
                          <a:latin typeface="Arial"/>
                          <a:ea typeface="Arial"/>
                          <a:cs typeface="Arial"/>
                          <a:sym typeface="Arial"/>
                        </a:rPr>
                        <a:t>δ(q,b) </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500" u="none" cap="none" strike="noStrike">
                          <a:solidFill>
                            <a:schemeClr val="dk2"/>
                          </a:solidFill>
                          <a:latin typeface="Arial"/>
                          <a:ea typeface="Arial"/>
                          <a:cs typeface="Arial"/>
                          <a:sym typeface="Arial"/>
                        </a:rPr>
                        <a:t>δ(q,c) </a:t>
                      </a:r>
                      <a:endParaRPr sz="1500" u="none" cap="none" strike="noStrike">
                        <a:solidFill>
                          <a:schemeClr val="dk2"/>
                        </a:solidFill>
                      </a:endParaRPr>
                    </a:p>
                  </a:txBody>
                  <a:tcPr marT="34300" marB="34300" marR="68600" marL="68600"/>
                </a:tc>
              </a:tr>
              <a:tr h="29380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a:t>
                      </a:r>
                      <a:r>
                        <a:rPr lang="en-US" sz="1600" u="none" cap="none" strike="noStrike">
                          <a:solidFill>
                            <a:schemeClr val="dk2"/>
                          </a:solidFill>
                          <a:latin typeface="Arial"/>
                          <a:ea typeface="Arial"/>
                          <a:cs typeface="Arial"/>
                          <a:sym typeface="Arial"/>
                        </a:rPr>
                        <a:t>d0*</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a:t>
                      </a:r>
                      <a:r>
                        <a:rPr lang="en-US" sz="1600" u="none" cap="none" strike="noStrike">
                          <a:solidFill>
                            <a:schemeClr val="dk2"/>
                          </a:solidFill>
                          <a:latin typeface="Arial"/>
                          <a:ea typeface="Arial"/>
                          <a:cs typeface="Arial"/>
                          <a:sym typeface="Arial"/>
                        </a:rPr>
                        <a:t>d0, d2, d3*</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latin typeface="Arial"/>
                          <a:ea typeface="Arial"/>
                          <a:cs typeface="Arial"/>
                          <a:sym typeface="Arial"/>
                        </a:rPr>
                        <a:t>d1</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r>
              <a:tr h="29380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latin typeface="Arial"/>
                          <a:ea typeface="Arial"/>
                          <a:cs typeface="Arial"/>
                          <a:sym typeface="Arial"/>
                        </a:rPr>
                        <a:t>d1</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latin typeface="Arial"/>
                          <a:ea typeface="Arial"/>
                          <a:cs typeface="Arial"/>
                          <a:sym typeface="Arial"/>
                        </a:rPr>
                        <a:t>d1</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600" u="none" cap="none" strike="noStrike">
                          <a:solidFill>
                            <a:schemeClr val="dk2"/>
                          </a:solidFill>
                          <a:latin typeface="Arial"/>
                          <a:ea typeface="Arial"/>
                          <a:cs typeface="Arial"/>
                          <a:sym typeface="Arial"/>
                        </a:rPr>
                        <a:t>d0, d2, d3*</a:t>
                      </a:r>
                      <a:endParaRPr sz="12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latin typeface="Arial"/>
                          <a:ea typeface="Arial"/>
                          <a:cs typeface="Arial"/>
                          <a:sym typeface="Arial"/>
                        </a:rPr>
                        <a:t>d0, d2, d3*</a:t>
                      </a:r>
                      <a:endParaRPr sz="1200" u="none" cap="none" strike="noStrike">
                        <a:solidFill>
                          <a:schemeClr val="dk2"/>
                        </a:solidFill>
                      </a:endParaRPr>
                    </a:p>
                  </a:txBody>
                  <a:tcPr marT="34300" marB="34300" marR="68600" marL="68600"/>
                </a:tc>
              </a:tr>
              <a:tr h="29380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solidFill>
                            <a:schemeClr val="dk2"/>
                          </a:solidFill>
                        </a:rPr>
                        <a:t>Φ</a:t>
                      </a:r>
                      <a:endParaRPr sz="1600" u="none" cap="none" strike="noStrike">
                        <a:solidFill>
                          <a:schemeClr val="dk2"/>
                        </a:solidFill>
                        <a:latin typeface="Arial"/>
                        <a:ea typeface="Arial"/>
                        <a:cs typeface="Arial"/>
                        <a:sym typeface="Arial"/>
                      </a:endParaRPr>
                    </a:p>
                  </a:txBody>
                  <a:tcPr marT="34300" marB="34300" marR="68600" marL="68600"/>
                </a:tc>
              </a:tr>
            </a:tbl>
          </a:graphicData>
        </a:graphic>
      </p:graphicFrame>
      <p:cxnSp>
        <p:nvCxnSpPr>
          <p:cNvPr id="197" name="Google Shape;197;p18"/>
          <p:cNvCxnSpPr>
            <a:endCxn id="194" idx="1"/>
          </p:cNvCxnSpPr>
          <p:nvPr/>
        </p:nvCxnSpPr>
        <p:spPr>
          <a:xfrm>
            <a:off x="3535326" y="3962075"/>
            <a:ext cx="228600" cy="0"/>
          </a:xfrm>
          <a:prstGeom prst="straightConnector1">
            <a:avLst/>
          </a:prstGeom>
          <a:noFill/>
          <a:ln cap="flat" cmpd="sng" w="9525">
            <a:solidFill>
              <a:srgbClr val="425761"/>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9"/>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a:t>
            </a:r>
            <a:r>
              <a:rPr b="1" lang="en-US"/>
              <a:t>2</a:t>
            </a:r>
            <a:endParaRPr b="1"/>
          </a:p>
        </p:txBody>
      </p:sp>
      <p:sp>
        <p:nvSpPr>
          <p:cNvPr id="204" name="Google Shape;204;p19"/>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400"/>
              <a:buNone/>
            </a:pPr>
            <a:r>
              <a:rPr lang="en-US" sz="2100">
                <a:solidFill>
                  <a:schemeClr val="dk2"/>
                </a:solidFill>
              </a:rPr>
              <a:t>Convert the following regular expression to an NFA then to a minimized DFA.</a:t>
            </a:r>
            <a:r>
              <a:rPr lang="en-US" sz="2100">
                <a:solidFill>
                  <a:schemeClr val="dk1"/>
                </a:solidFill>
              </a:rPr>
              <a:t>		</a:t>
            </a:r>
            <a:endParaRPr/>
          </a:p>
          <a:p>
            <a:pPr indent="0" lvl="0" marL="0" rtl="0" algn="ctr">
              <a:lnSpc>
                <a:spcPct val="115000"/>
              </a:lnSpc>
              <a:spcBef>
                <a:spcPts val="0"/>
              </a:spcBef>
              <a:spcAft>
                <a:spcPts val="0"/>
              </a:spcAft>
              <a:buSzPts val="2400"/>
              <a:buNone/>
            </a:pPr>
            <a:r>
              <a:rPr b="1" i="1" lang="en-US" sz="2100">
                <a:solidFill>
                  <a:srgbClr val="606060"/>
                </a:solidFill>
              </a:rPr>
              <a:t>RE= </a:t>
            </a:r>
            <a:r>
              <a:rPr b="1" i="1" lang="en-US" sz="2100">
                <a:solidFill>
                  <a:srgbClr val="FF0000"/>
                </a:solidFill>
              </a:rPr>
              <a:t>(a | b)* a (a | b | 𝜀 )</a:t>
            </a:r>
            <a:endParaRPr sz="2100"/>
          </a:p>
          <a:p>
            <a:pPr indent="0" lvl="0" marL="0" rtl="0" algn="l">
              <a:lnSpc>
                <a:spcPct val="115000"/>
              </a:lnSpc>
              <a:spcBef>
                <a:spcPts val="1050"/>
              </a:spcBef>
              <a:spcAft>
                <a:spcPts val="0"/>
              </a:spcAft>
              <a:buSzPts val="2300"/>
              <a:buNone/>
            </a:pPr>
            <a:r>
              <a:rPr b="1" i="1" lang="en-US" sz="2100"/>
              <a:t>Solution:-</a:t>
            </a:r>
            <a:endParaRPr sz="2100"/>
          </a:p>
          <a:p>
            <a:pPr indent="0" lvl="0" marL="0" rtl="0" algn="l">
              <a:lnSpc>
                <a:spcPct val="115000"/>
              </a:lnSpc>
              <a:spcBef>
                <a:spcPts val="0"/>
              </a:spcBef>
              <a:spcAft>
                <a:spcPts val="0"/>
              </a:spcAft>
              <a:buSzPts val="2300"/>
              <a:buNone/>
            </a:pPr>
            <a:r>
              <a:rPr b="1" i="1" lang="en-US" sz="2100"/>
              <a:t>1- Convert RE to NFA using Thompson’s algorithm.</a:t>
            </a:r>
            <a:endParaRPr sz="2100"/>
          </a:p>
          <a:p>
            <a:pPr indent="0" lvl="0" marL="0" rtl="0" algn="l">
              <a:lnSpc>
                <a:spcPct val="115000"/>
              </a:lnSpc>
              <a:spcBef>
                <a:spcPts val="1050"/>
              </a:spcBef>
              <a:spcAft>
                <a:spcPts val="0"/>
              </a:spcAft>
              <a:buSzPts val="2300"/>
              <a:buNone/>
            </a:pPr>
            <a:r>
              <a:t/>
            </a:r>
            <a:endParaRPr b="1" i="1" sz="2100"/>
          </a:p>
        </p:txBody>
      </p:sp>
      <p:pic>
        <p:nvPicPr>
          <p:cNvPr id="205" name="Google Shape;205;p19"/>
          <p:cNvPicPr preferRelativeResize="0"/>
          <p:nvPr/>
        </p:nvPicPr>
        <p:blipFill rotWithShape="1">
          <a:blip r:embed="rId3">
            <a:alphaModFix/>
          </a:blip>
          <a:srcRect b="10587" l="0" r="0" t="12214"/>
          <a:stretch/>
        </p:blipFill>
        <p:spPr>
          <a:xfrm>
            <a:off x="129158" y="3221666"/>
            <a:ext cx="8759049" cy="17969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1</a:t>
            </a:r>
            <a:endParaRPr/>
          </a:p>
        </p:txBody>
      </p:sp>
      <p:sp>
        <p:nvSpPr>
          <p:cNvPr id="212" name="Google Shape;212;p20"/>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400"/>
              <a:buNone/>
            </a:pPr>
            <a:r>
              <a:rPr lang="en-US" sz="2000">
                <a:solidFill>
                  <a:srgbClr val="4C4C4C"/>
                </a:solidFill>
              </a:rPr>
              <a:t>Hints:</a:t>
            </a:r>
            <a:endParaRPr/>
          </a:p>
          <a:p>
            <a:pPr indent="-457200" lvl="0" marL="457200" rtl="0" algn="l">
              <a:lnSpc>
                <a:spcPct val="115000"/>
              </a:lnSpc>
              <a:spcBef>
                <a:spcPts val="0"/>
              </a:spcBef>
              <a:spcAft>
                <a:spcPts val="0"/>
              </a:spcAft>
              <a:buSzPts val="2400"/>
              <a:buFont typeface="Arial"/>
              <a:buAutoNum type="arabicPeriod"/>
            </a:pPr>
            <a:r>
              <a:rPr b="1" lang="en-US" sz="2000">
                <a:solidFill>
                  <a:srgbClr val="4C4C4C"/>
                </a:solidFill>
              </a:rPr>
              <a:t>Start state:</a:t>
            </a:r>
            <a:endParaRPr/>
          </a:p>
          <a:p>
            <a:pPr indent="-317500" lvl="1" marL="800100" rtl="0" algn="l">
              <a:lnSpc>
                <a:spcPct val="115000"/>
              </a:lnSpc>
              <a:spcBef>
                <a:spcPts val="0"/>
              </a:spcBef>
              <a:spcAft>
                <a:spcPts val="0"/>
              </a:spcAft>
              <a:buSzPts val="2400"/>
              <a:buChar char="○"/>
            </a:pPr>
            <a:r>
              <a:rPr b="1" lang="en-US" sz="2000">
                <a:solidFill>
                  <a:srgbClr val="4C4C4C"/>
                </a:solidFill>
              </a:rPr>
              <a:t>= </a:t>
            </a:r>
            <a:r>
              <a:rPr b="1" lang="en-US" sz="2000">
                <a:solidFill>
                  <a:schemeClr val="accent3"/>
                </a:solidFill>
                <a:latin typeface="Proxima Nova"/>
                <a:ea typeface="Proxima Nova"/>
                <a:cs typeface="Proxima Nova"/>
                <a:sym typeface="Proxima Nova"/>
              </a:rPr>
              <a:t>{0,1,2,5,7,8}</a:t>
            </a:r>
            <a:endParaRPr b="1" sz="2000">
              <a:solidFill>
                <a:schemeClr val="accent3"/>
              </a:solidFill>
              <a:latin typeface="Proxima Nova"/>
              <a:ea typeface="Proxima Nova"/>
              <a:cs typeface="Proxima Nova"/>
              <a:sym typeface="Proxima Nova"/>
            </a:endParaRPr>
          </a:p>
          <a:p>
            <a:pPr indent="-457200" lvl="0" marL="457200" rtl="0" algn="l">
              <a:lnSpc>
                <a:spcPct val="115000"/>
              </a:lnSpc>
              <a:spcBef>
                <a:spcPts val="0"/>
              </a:spcBef>
              <a:spcAft>
                <a:spcPts val="0"/>
              </a:spcAft>
              <a:buSzPts val="2400"/>
              <a:buFont typeface="Arial"/>
              <a:buAutoNum type="arabicPeriod"/>
            </a:pPr>
            <a:r>
              <a:rPr b="1" lang="en-US" sz="2000"/>
              <a:t>Build the following table:</a:t>
            </a:r>
            <a:endParaRPr b="1" sz="2000"/>
          </a:p>
          <a:p>
            <a:pPr indent="0" lvl="0" marL="0" rtl="0" algn="l">
              <a:lnSpc>
                <a:spcPct val="115000"/>
              </a:lnSpc>
              <a:spcBef>
                <a:spcPts val="1050"/>
              </a:spcBef>
              <a:spcAft>
                <a:spcPts val="0"/>
              </a:spcAft>
              <a:buSzPts val="2300"/>
              <a:buNone/>
            </a:pPr>
            <a:r>
              <a:t/>
            </a:r>
            <a:endParaRPr b="1" i="1" sz="2000"/>
          </a:p>
        </p:txBody>
      </p:sp>
      <p:graphicFrame>
        <p:nvGraphicFramePr>
          <p:cNvPr id="213" name="Google Shape;213;p20"/>
          <p:cNvGraphicFramePr/>
          <p:nvPr/>
        </p:nvGraphicFramePr>
        <p:xfrm>
          <a:off x="3827725" y="1402522"/>
          <a:ext cx="3000000" cy="3000000"/>
        </p:xfrm>
        <a:graphic>
          <a:graphicData uri="http://schemas.openxmlformats.org/drawingml/2006/table">
            <a:tbl>
              <a:tblPr bandRow="1" firstCol="1" firstRow="1">
                <a:noFill/>
                <a:tableStyleId>{9225F91B-823C-4E8D-9C78-1532CDFFD4CF}</a:tableStyleId>
              </a:tblPr>
              <a:tblGrid>
                <a:gridCol w="967575"/>
                <a:gridCol w="1254650"/>
                <a:gridCol w="2424225"/>
              </a:tblGrid>
              <a:tr h="228600">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Sigma</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Appears</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Goes to</a:t>
                      </a:r>
                      <a:endParaRPr/>
                    </a:p>
                  </a:txBody>
                  <a:tcPr marT="0" marB="0" marR="68575" marL="68575"/>
                </a:tc>
              </a:tr>
              <a:tr h="125025">
                <a:tc rowSpan="3">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a</a:t>
                      </a:r>
                      <a:endParaRPr/>
                    </a:p>
                  </a:txBody>
                  <a:tcPr marT="0" marB="0" marR="68575" marL="68575" anchor="ctr">
                    <a:solidFill>
                      <a:srgbClr val="D8E6FC"/>
                    </a:solidFill>
                  </a:tcPr>
                </a:tc>
                <a:tc>
                  <a:txBody>
                    <a:bodyPr/>
                    <a:lstStyle/>
                    <a:p>
                      <a:pPr indent="0" lvl="0" marL="0" marR="0" rtl="0" algn="ctr">
                        <a:lnSpc>
                          <a:spcPct val="107000"/>
                        </a:lnSpc>
                        <a:spcBef>
                          <a:spcPts val="0"/>
                        </a:spcBef>
                        <a:spcAft>
                          <a:spcPts val="0"/>
                        </a:spcAft>
                        <a:buNone/>
                      </a:pPr>
                      <a:r>
                        <a:rPr lang="en-US" sz="1800" u="none" cap="none" strike="noStrike"/>
                        <a:t>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{1,2,3,4,5,7,8}</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t>8</a:t>
                      </a:r>
                      <a:endParaRPr sz="1800" u="none" cap="none" strike="noStrike">
                        <a:latin typeface="Calibri"/>
                        <a:ea typeface="Calibri"/>
                        <a:cs typeface="Calibri"/>
                        <a:sym typeface="Calibri"/>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{9,10,11,12,15,17}*</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12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latin typeface="Calibri"/>
                          <a:ea typeface="Calibri"/>
                          <a:cs typeface="Calibri"/>
                          <a:sym typeface="Calibri"/>
                        </a:rPr>
                        <a:t>{13,14,17}*</a:t>
                      </a:r>
                      <a:endParaRPr/>
                    </a:p>
                  </a:txBody>
                  <a:tcPr marT="0" marB="0" marR="68575" marL="68575">
                    <a:solidFill>
                      <a:srgbClr val="D8E6FC"/>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b</a:t>
                      </a:r>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t>5</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t>{1,2,4,5,6,7,8}</a:t>
                      </a:r>
                      <a:endParaRPr sz="1800" u="none" cap="none" strike="noStrike">
                        <a:latin typeface="Calibri"/>
                        <a:ea typeface="Calibri"/>
                        <a:cs typeface="Calibri"/>
                        <a:sym typeface="Calibri"/>
                      </a:endParaRPr>
                    </a:p>
                  </a:txBody>
                  <a:tcPr marT="0" marB="0" marR="68575" marL="68575">
                    <a:solidFill>
                      <a:srgbClr val="FFEDD8"/>
                    </a:solidFill>
                  </a:tcPr>
                </a:tc>
              </a:tr>
              <a:tr h="228600">
                <a:tc>
                  <a:txBody>
                    <a:bodyPr/>
                    <a:lstStyle/>
                    <a:p>
                      <a:pPr indent="0" lvl="0" marL="0" marR="0" rtl="0" algn="ctr">
                        <a:lnSpc>
                          <a:spcPct val="107000"/>
                        </a:lnSpc>
                        <a:spcBef>
                          <a:spcPts val="0"/>
                        </a:spcBef>
                        <a:spcAft>
                          <a:spcPts val="0"/>
                        </a:spcAft>
                        <a:buNone/>
                      </a:pPr>
                      <a:r>
                        <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15</a:t>
                      </a:r>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latin typeface="Calibri"/>
                          <a:ea typeface="Calibri"/>
                          <a:cs typeface="Calibri"/>
                          <a:sym typeface="Calibri"/>
                        </a:rPr>
                        <a:t>{14,16,17}*</a:t>
                      </a:r>
                      <a:endParaRPr/>
                    </a:p>
                  </a:txBody>
                  <a:tcPr marT="0" marB="0" marR="68575" marL="68575">
                    <a:solidFill>
                      <a:srgbClr val="FFEDD8"/>
                    </a:solidFill>
                  </a:tcPr>
                </a:tc>
              </a:tr>
            </a:tbl>
          </a:graphicData>
        </a:graphic>
      </p:graphicFrame>
      <p:pic>
        <p:nvPicPr>
          <p:cNvPr id="214" name="Google Shape;214;p20"/>
          <p:cNvPicPr preferRelativeResize="0"/>
          <p:nvPr/>
        </p:nvPicPr>
        <p:blipFill rotWithShape="1">
          <a:blip r:embed="rId3">
            <a:alphaModFix/>
          </a:blip>
          <a:srcRect b="10587" l="0" r="0" t="12214"/>
          <a:stretch/>
        </p:blipFill>
        <p:spPr>
          <a:xfrm>
            <a:off x="129158" y="3221666"/>
            <a:ext cx="8759049" cy="17969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1"/>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lang="en-US" cap="none"/>
              <a:t>Example 2</a:t>
            </a:r>
            <a:endParaRPr/>
          </a:p>
        </p:txBody>
      </p:sp>
      <p:sp>
        <p:nvSpPr>
          <p:cNvPr id="221" name="Google Shape;221;p21"/>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t/>
            </a:r>
            <a:endParaRPr b="1" i="1" sz="1725"/>
          </a:p>
          <a:p>
            <a:pPr indent="0" lvl="0" marL="0" rtl="0" algn="l">
              <a:lnSpc>
                <a:spcPct val="115000"/>
              </a:lnSpc>
              <a:spcBef>
                <a:spcPts val="1050"/>
              </a:spcBef>
              <a:spcAft>
                <a:spcPts val="0"/>
              </a:spcAft>
              <a:buSzPts val="2300"/>
              <a:buNone/>
            </a:pPr>
            <a:r>
              <a:t/>
            </a:r>
            <a:endParaRPr b="1" i="1" sz="1725"/>
          </a:p>
          <a:p>
            <a:pPr indent="0" lvl="0" marL="0" rtl="0" algn="l">
              <a:lnSpc>
                <a:spcPct val="115000"/>
              </a:lnSpc>
              <a:spcBef>
                <a:spcPts val="1050"/>
              </a:spcBef>
              <a:spcAft>
                <a:spcPts val="0"/>
              </a:spcAft>
              <a:buSzPts val="2300"/>
              <a:buNone/>
            </a:pPr>
            <a:r>
              <a:t/>
            </a:r>
            <a:endParaRPr b="1" i="1" sz="1725"/>
          </a:p>
        </p:txBody>
      </p:sp>
      <p:graphicFrame>
        <p:nvGraphicFramePr>
          <p:cNvPr id="222" name="Google Shape;222;p21"/>
          <p:cNvGraphicFramePr/>
          <p:nvPr/>
        </p:nvGraphicFramePr>
        <p:xfrm>
          <a:off x="4341706" y="686531"/>
          <a:ext cx="3000000" cy="3000000"/>
        </p:xfrm>
        <a:graphic>
          <a:graphicData uri="http://schemas.openxmlformats.org/drawingml/2006/table">
            <a:tbl>
              <a:tblPr bandRow="1" firstCol="1" firstRow="1">
                <a:noFill/>
                <a:tableStyleId>{9225F91B-823C-4E8D-9C78-1532CDFFD4CF}</a:tableStyleId>
              </a:tblPr>
              <a:tblGrid>
                <a:gridCol w="967575"/>
                <a:gridCol w="1254650"/>
                <a:gridCol w="2424225"/>
              </a:tblGrid>
              <a:tr h="228600">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Sigma</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Appears</a:t>
                      </a:r>
                      <a:endParaRPr/>
                    </a:p>
                  </a:txBody>
                  <a:tcPr marT="0" marB="0" marR="68575" marL="68575"/>
                </a:tc>
                <a:tc>
                  <a:txBody>
                    <a:bodyPr/>
                    <a:lstStyle/>
                    <a:p>
                      <a:pPr indent="0" lvl="0" marL="0" marR="0" rtl="0" algn="ctr">
                        <a:lnSpc>
                          <a:spcPct val="107000"/>
                        </a:lnSpc>
                        <a:spcBef>
                          <a:spcPts val="0"/>
                        </a:spcBef>
                        <a:spcAft>
                          <a:spcPts val="0"/>
                        </a:spcAft>
                        <a:buNone/>
                      </a:pPr>
                      <a:r>
                        <a:rPr b="1" lang="en-US" sz="1800" u="none" cap="none" strike="noStrike">
                          <a:latin typeface="Calibri"/>
                          <a:ea typeface="Calibri"/>
                          <a:cs typeface="Calibri"/>
                          <a:sym typeface="Calibri"/>
                        </a:rPr>
                        <a:t>Goes to</a:t>
                      </a:r>
                      <a:endParaRPr/>
                    </a:p>
                  </a:txBody>
                  <a:tcPr marT="0" marB="0" marR="68575" marL="68575"/>
                </a:tc>
              </a:tr>
              <a:tr h="125025">
                <a:tc rowSpan="3">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a</a:t>
                      </a:r>
                      <a:endParaRPr/>
                    </a:p>
                  </a:txBody>
                  <a:tcPr marT="0" marB="0" marR="68575" marL="68575" anchor="ctr">
                    <a:solidFill>
                      <a:srgbClr val="D8E6FC"/>
                    </a:solidFill>
                  </a:tcPr>
                </a:tc>
                <a:tc>
                  <a:txBody>
                    <a:bodyPr/>
                    <a:lstStyle/>
                    <a:p>
                      <a:pPr indent="0" lvl="0" marL="0" marR="0" rtl="0" algn="ctr">
                        <a:lnSpc>
                          <a:spcPct val="107000"/>
                        </a:lnSpc>
                        <a:spcBef>
                          <a:spcPts val="0"/>
                        </a:spcBef>
                        <a:spcAft>
                          <a:spcPts val="0"/>
                        </a:spcAft>
                        <a:buNone/>
                      </a:pPr>
                      <a:r>
                        <a:rPr lang="en-US" sz="1800" u="none" cap="none" strike="noStrike"/>
                        <a:t>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{1,2,3,4,5,7,8}</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t>8</a:t>
                      </a:r>
                      <a:endParaRPr sz="1800" u="none" cap="none" strike="noStrike">
                        <a:latin typeface="Calibri"/>
                        <a:ea typeface="Calibri"/>
                        <a:cs typeface="Calibri"/>
                        <a:sym typeface="Calibri"/>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t>{9,10,11,12,15,17}*</a:t>
                      </a:r>
                      <a:endParaRPr sz="1800" u="none" cap="none" strike="noStrike">
                        <a:latin typeface="Calibri"/>
                        <a:ea typeface="Calibri"/>
                        <a:cs typeface="Calibri"/>
                        <a:sym typeface="Calibri"/>
                      </a:endParaRPr>
                    </a:p>
                  </a:txBody>
                  <a:tcPr marT="0" marB="0" marR="68575" marL="68575">
                    <a:solidFill>
                      <a:srgbClr val="D8E6FC"/>
                    </a:solidFill>
                  </a:tcPr>
                </a:tc>
              </a:tr>
              <a:tr h="228600">
                <a:tc vMerge="1"/>
                <a:tc>
                  <a:txBody>
                    <a:bodyPr/>
                    <a:lstStyle/>
                    <a:p>
                      <a:pPr indent="0" lvl="0" marL="0" marR="0" rtl="0" algn="ctr">
                        <a:lnSpc>
                          <a:spcPct val="107000"/>
                        </a:lnSpc>
                        <a:spcBef>
                          <a:spcPts val="0"/>
                        </a:spcBef>
                        <a:spcAft>
                          <a:spcPts val="0"/>
                        </a:spcAft>
                        <a:buClr>
                          <a:srgbClr val="000000"/>
                        </a:buClr>
                        <a:buSzPts val="1800"/>
                        <a:buFont typeface="Arial"/>
                        <a:buNone/>
                      </a:pPr>
                      <a:r>
                        <a:rPr lang="en-US" sz="1800" u="none" cap="none" strike="noStrike">
                          <a:latin typeface="Calibri"/>
                          <a:ea typeface="Calibri"/>
                          <a:cs typeface="Calibri"/>
                          <a:sym typeface="Calibri"/>
                        </a:rPr>
                        <a:t>12</a:t>
                      </a:r>
                      <a:endParaRPr/>
                    </a:p>
                  </a:txBody>
                  <a:tcPr marT="0" marB="0" marR="68575" marL="68575">
                    <a:solidFill>
                      <a:srgbClr val="D8E6FC"/>
                    </a:solidFill>
                  </a:tcPr>
                </a:tc>
                <a:tc>
                  <a:txBody>
                    <a:bodyPr/>
                    <a:lstStyle/>
                    <a:p>
                      <a:pPr indent="0" lvl="0" marL="0" marR="0" rtl="0" algn="l">
                        <a:lnSpc>
                          <a:spcPct val="107000"/>
                        </a:lnSpc>
                        <a:spcBef>
                          <a:spcPts val="0"/>
                        </a:spcBef>
                        <a:spcAft>
                          <a:spcPts val="0"/>
                        </a:spcAft>
                        <a:buNone/>
                      </a:pPr>
                      <a:r>
                        <a:rPr lang="en-US" sz="1800" u="none" cap="none" strike="noStrike">
                          <a:latin typeface="Calibri"/>
                          <a:ea typeface="Calibri"/>
                          <a:cs typeface="Calibri"/>
                          <a:sym typeface="Calibri"/>
                        </a:rPr>
                        <a:t>{13,14,17}*</a:t>
                      </a:r>
                      <a:endParaRPr/>
                    </a:p>
                  </a:txBody>
                  <a:tcPr marT="0" marB="0" marR="68575" marL="68575">
                    <a:solidFill>
                      <a:srgbClr val="D8E6FC"/>
                    </a:solidFill>
                  </a:tcPr>
                </a:tc>
              </a:tr>
              <a:tr h="228600">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b</a:t>
                      </a:r>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t>5</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t>{1,2,4,5,6,7,8}</a:t>
                      </a:r>
                      <a:endParaRPr sz="1800" u="none" cap="none" strike="noStrike">
                        <a:latin typeface="Calibri"/>
                        <a:ea typeface="Calibri"/>
                        <a:cs typeface="Calibri"/>
                        <a:sym typeface="Calibri"/>
                      </a:endParaRPr>
                    </a:p>
                  </a:txBody>
                  <a:tcPr marT="0" marB="0" marR="68575" marL="68575">
                    <a:solidFill>
                      <a:srgbClr val="FFEDD8"/>
                    </a:solidFill>
                  </a:tcPr>
                </a:tc>
              </a:tr>
              <a:tr h="228600">
                <a:tc>
                  <a:txBody>
                    <a:bodyPr/>
                    <a:lstStyle/>
                    <a:p>
                      <a:pPr indent="0" lvl="0" marL="0" marR="0" rtl="0" algn="ctr">
                        <a:lnSpc>
                          <a:spcPct val="107000"/>
                        </a:lnSpc>
                        <a:spcBef>
                          <a:spcPts val="0"/>
                        </a:spcBef>
                        <a:spcAft>
                          <a:spcPts val="0"/>
                        </a:spcAft>
                        <a:buNone/>
                      </a:pPr>
                      <a:r>
                        <a:t/>
                      </a:r>
                      <a:endParaRPr sz="1800" u="none" cap="none" strike="noStrike">
                        <a:latin typeface="Calibri"/>
                        <a:ea typeface="Calibri"/>
                        <a:cs typeface="Calibri"/>
                        <a:sym typeface="Calibri"/>
                      </a:endParaRPr>
                    </a:p>
                  </a:txBody>
                  <a:tcPr marT="0" marB="0" marR="68575" marL="68575">
                    <a:solidFill>
                      <a:srgbClr val="FFEDD8"/>
                    </a:solidFill>
                  </a:tcPr>
                </a:tc>
                <a:tc>
                  <a:txBody>
                    <a:bodyPr/>
                    <a:lstStyle/>
                    <a:p>
                      <a:pPr indent="0" lvl="0" marL="0" marR="0" rtl="0" algn="ctr">
                        <a:lnSpc>
                          <a:spcPct val="107000"/>
                        </a:lnSpc>
                        <a:spcBef>
                          <a:spcPts val="0"/>
                        </a:spcBef>
                        <a:spcAft>
                          <a:spcPts val="0"/>
                        </a:spcAft>
                        <a:buNone/>
                      </a:pPr>
                      <a:r>
                        <a:rPr lang="en-US" sz="1800" u="none" cap="none" strike="noStrike">
                          <a:latin typeface="Calibri"/>
                          <a:ea typeface="Calibri"/>
                          <a:cs typeface="Calibri"/>
                          <a:sym typeface="Calibri"/>
                        </a:rPr>
                        <a:t>15</a:t>
                      </a:r>
                      <a:endParaRPr/>
                    </a:p>
                  </a:txBody>
                  <a:tcPr marT="0" marB="0" marR="68575" marL="68575">
                    <a:solidFill>
                      <a:srgbClr val="FFEDD8"/>
                    </a:solidFill>
                  </a:tcPr>
                </a:tc>
                <a:tc>
                  <a:txBody>
                    <a:bodyPr/>
                    <a:lstStyle/>
                    <a:p>
                      <a:pPr indent="0" lvl="0" marL="0" marR="0" rtl="0" algn="l">
                        <a:lnSpc>
                          <a:spcPct val="107000"/>
                        </a:lnSpc>
                        <a:spcBef>
                          <a:spcPts val="0"/>
                        </a:spcBef>
                        <a:spcAft>
                          <a:spcPts val="0"/>
                        </a:spcAft>
                        <a:buNone/>
                      </a:pPr>
                      <a:r>
                        <a:rPr lang="en-US" sz="1800" u="none" cap="none" strike="noStrike">
                          <a:latin typeface="Calibri"/>
                          <a:ea typeface="Calibri"/>
                          <a:cs typeface="Calibri"/>
                          <a:sym typeface="Calibri"/>
                        </a:rPr>
                        <a:t>{14,16,17}*</a:t>
                      </a:r>
                      <a:endParaRPr/>
                    </a:p>
                  </a:txBody>
                  <a:tcPr marT="0" marB="0" marR="68575" marL="68575">
                    <a:solidFill>
                      <a:srgbClr val="FFEDD8"/>
                    </a:solidFill>
                  </a:tcPr>
                </a:tc>
              </a:tr>
            </a:tbl>
          </a:graphicData>
        </a:graphic>
      </p:graphicFrame>
      <p:graphicFrame>
        <p:nvGraphicFramePr>
          <p:cNvPr id="223" name="Google Shape;223;p21"/>
          <p:cNvGraphicFramePr/>
          <p:nvPr/>
        </p:nvGraphicFramePr>
        <p:xfrm>
          <a:off x="-15" y="2530550"/>
          <a:ext cx="3000000" cy="3000000"/>
        </p:xfrm>
        <a:graphic>
          <a:graphicData uri="http://schemas.openxmlformats.org/drawingml/2006/table">
            <a:tbl>
              <a:tblPr>
                <a:noFill/>
                <a:tableStyleId>{F5B74D66-4877-4BB9-A7D5-F372992069FC}</a:tableStyleId>
              </a:tblPr>
              <a:tblGrid>
                <a:gridCol w="701750"/>
                <a:gridCol w="2137150"/>
                <a:gridCol w="3811775"/>
                <a:gridCol w="2493325"/>
              </a:tblGrid>
              <a:tr h="332525">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DFA</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NFA</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δ(q,a) </a:t>
                      </a:r>
                      <a:endParaRPr sz="15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500" u="none" cap="none" strike="noStrike">
                          <a:solidFill>
                            <a:schemeClr val="dk2"/>
                          </a:solidFill>
                          <a:latin typeface="Arial"/>
                          <a:ea typeface="Arial"/>
                          <a:cs typeface="Arial"/>
                          <a:sym typeface="Arial"/>
                        </a:rPr>
                        <a:t>δ(q,b) </a:t>
                      </a:r>
                      <a:endParaRPr sz="1500" u="none" cap="none" strike="noStrike">
                        <a:solidFill>
                          <a:schemeClr val="dk2"/>
                        </a:solidFill>
                      </a:endParaRPr>
                    </a:p>
                  </a:txBody>
                  <a:tcPr marT="34300" marB="34300" marR="68600" marL="68600"/>
                </a:tc>
              </a:tr>
              <a:tr h="292350">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rPr>
                        <a:t>→</a:t>
                      </a:r>
                      <a:r>
                        <a:rPr lang="en-US" sz="1500" u="none" cap="none" strike="noStrike">
                          <a:solidFill>
                            <a:schemeClr val="dk2"/>
                          </a:solidFill>
                          <a:latin typeface="Arial"/>
                          <a:ea typeface="Arial"/>
                          <a:cs typeface="Arial"/>
                          <a:sym typeface="Arial"/>
                        </a:rPr>
                        <a:t>d0</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rPr>
                        <a:t>→</a:t>
                      </a:r>
                      <a:r>
                        <a:rPr lang="en-US" sz="1500" u="none" cap="none" strike="noStrike">
                          <a:solidFill>
                            <a:schemeClr val="dk2"/>
                          </a:solidFill>
                          <a:latin typeface="Arial"/>
                          <a:ea typeface="Arial"/>
                          <a:cs typeface="Arial"/>
                          <a:sym typeface="Arial"/>
                        </a:rPr>
                        <a:t>{0, 1, 2, 5, 7, 8}</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3, 4, 5, 7, 8, 9, 10, 11, 12,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4, 5, 6, 7, 8}</a:t>
                      </a:r>
                      <a:endParaRPr sz="1500" u="none" cap="none" strike="noStrike">
                        <a:solidFill>
                          <a:schemeClr val="dk2"/>
                        </a:solidFill>
                      </a:endParaRPr>
                    </a:p>
                  </a:txBody>
                  <a:tcPr marT="34300" marB="34300" marR="68600" marL="68600"/>
                </a:tc>
              </a:tr>
              <a:tr h="517225">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d1*</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3, 4, 5, 7, 8, 9, 10, 11, 12,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3, 4, 5, 7, 8, 9 10, 11, 12, 13, 14,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4, 5, 6, 7, 8, 14, 16, 17}*</a:t>
                      </a:r>
                      <a:endParaRPr sz="1500" u="none" cap="none" strike="noStrike">
                        <a:solidFill>
                          <a:schemeClr val="dk2"/>
                        </a:solidFill>
                      </a:endParaRPr>
                    </a:p>
                  </a:txBody>
                  <a:tcPr marT="34300" marB="34300" marR="68600" marL="68600"/>
                </a:tc>
              </a:tr>
              <a:tr h="292350">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d2</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4, 5, 6, 7, 8}</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3, 4, 5, 7, 8, 9, 10, 11, 12,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4, 5, 6, 7, 8}</a:t>
                      </a:r>
                      <a:endParaRPr sz="1500" u="none" cap="none" strike="noStrike">
                        <a:solidFill>
                          <a:schemeClr val="dk2"/>
                        </a:solidFill>
                      </a:endParaRPr>
                    </a:p>
                  </a:txBody>
                  <a:tcPr marT="34300" marB="34300" marR="68600" marL="68600"/>
                </a:tc>
              </a:tr>
              <a:tr h="517225">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d3*</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3, 4, 5, 7, 8, 9 10, 11, 12, 13, 14,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3, 4, 5, 7, 8, 9, 10, 11, 12, 13, 14,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4, 5, 6, 7, 8, 14, 16, 17}*</a:t>
                      </a:r>
                      <a:endParaRPr sz="1500" u="none" cap="none" strike="noStrike">
                        <a:solidFill>
                          <a:schemeClr val="dk2"/>
                        </a:solidFill>
                      </a:endParaRPr>
                    </a:p>
                  </a:txBody>
                  <a:tcPr marT="34300" marB="34300" marR="68600" marL="68600"/>
                </a:tc>
              </a:tr>
              <a:tr h="517225">
                <a:tc>
                  <a:txBody>
                    <a:bodyPr/>
                    <a:lstStyle/>
                    <a:p>
                      <a:pPr indent="0" lvl="0" marL="0" marR="0" rtl="0" algn="ctr">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d4*</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000"/>
                        <a:buFont typeface="Arial"/>
                        <a:buNone/>
                      </a:pPr>
                      <a:r>
                        <a:rPr lang="en-US" sz="1500" u="none" cap="none" strike="noStrike">
                          <a:solidFill>
                            <a:schemeClr val="dk2"/>
                          </a:solidFill>
                          <a:latin typeface="Arial"/>
                          <a:ea typeface="Arial"/>
                          <a:cs typeface="Arial"/>
                          <a:sym typeface="Arial"/>
                        </a:rPr>
                        <a:t>{1, 2, 4, 5, 6, 7, 8, 14, 16,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3, 4, 5, 7, 8, 9, 10, 11, 12, 15, 17}*</a:t>
                      </a:r>
                      <a:endParaRPr sz="15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500" u="none" cap="none" strike="noStrike">
                          <a:solidFill>
                            <a:schemeClr val="dk2"/>
                          </a:solidFill>
                          <a:latin typeface="Arial"/>
                          <a:ea typeface="Arial"/>
                          <a:cs typeface="Arial"/>
                          <a:sym typeface="Arial"/>
                        </a:rPr>
                        <a:t>{1, 2, 4, 5, 6, 7, 8}</a:t>
                      </a:r>
                      <a:endParaRPr sz="1500" u="none" cap="none" strike="noStrike">
                        <a:solidFill>
                          <a:schemeClr val="dk2"/>
                        </a:solidFill>
                      </a:endParaRPr>
                    </a:p>
                  </a:txBody>
                  <a:tcPr marT="34300" marB="34300" marR="68600" marL="68600"/>
                </a:tc>
              </a:tr>
            </a:tbl>
          </a:graphicData>
        </a:graphic>
      </p:graphicFrame>
      <p:sp>
        <p:nvSpPr>
          <p:cNvPr id="224" name="Google Shape;224;p21"/>
          <p:cNvSpPr txBox="1"/>
          <p:nvPr/>
        </p:nvSpPr>
        <p:spPr>
          <a:xfrm>
            <a:off x="464100" y="1304875"/>
            <a:ext cx="8520600" cy="3416400"/>
          </a:xfrm>
          <a:prstGeom prst="rect">
            <a:avLst/>
          </a:prstGeom>
          <a:noFill/>
          <a:ln>
            <a:noFill/>
          </a:ln>
        </p:spPr>
        <p:txBody>
          <a:bodyPr anchorCtr="0" anchor="t" bIns="34275" lIns="68550" spcFirstLastPara="1" rIns="68550" wrap="square" tIns="34275">
            <a:normAutofit/>
          </a:bodyPr>
          <a:lstStyle/>
          <a:p>
            <a:pPr indent="0" lvl="0" marL="0" marR="0" rtl="0" algn="l">
              <a:lnSpc>
                <a:spcPct val="115000"/>
              </a:lnSpc>
              <a:spcBef>
                <a:spcPts val="0"/>
              </a:spcBef>
              <a:spcAft>
                <a:spcPts val="0"/>
              </a:spcAft>
              <a:buClr>
                <a:schemeClr val="dk2"/>
              </a:buClr>
              <a:buSzPts val="2400"/>
              <a:buFont typeface="Proxima Nova"/>
              <a:buNone/>
            </a:pPr>
            <a:r>
              <a:rPr b="1" i="0" lang="en-US" sz="2000" u="none" cap="none" strike="noStrike">
                <a:solidFill>
                  <a:srgbClr val="4C4C4C"/>
                </a:solidFill>
                <a:latin typeface="Proxima Nova"/>
                <a:ea typeface="Proxima Nova"/>
                <a:cs typeface="Proxima Nova"/>
                <a:sym typeface="Proxima Nova"/>
              </a:rPr>
              <a:t>Start state = </a:t>
            </a:r>
            <a:r>
              <a:rPr b="1" i="0" lang="en-US" sz="2000" u="none" cap="none" strike="noStrike">
                <a:solidFill>
                  <a:schemeClr val="accent3"/>
                </a:solidFill>
                <a:latin typeface="Proxima Nova"/>
                <a:ea typeface="Proxima Nova"/>
                <a:cs typeface="Proxima Nova"/>
                <a:sym typeface="Proxima Nova"/>
              </a:rPr>
              <a:t>{0,1,2,5,7,8}</a:t>
            </a:r>
            <a:endParaRPr b="1" i="0" sz="2000" u="none" cap="none" strike="noStrike">
              <a:solidFill>
                <a:schemeClr val="accent3"/>
              </a:solidFill>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2</a:t>
            </a:r>
            <a:r>
              <a:rPr lang="en-US" cap="none"/>
              <a:t> cont.</a:t>
            </a:r>
            <a:endParaRPr b="1"/>
          </a:p>
        </p:txBody>
      </p:sp>
      <p:sp>
        <p:nvSpPr>
          <p:cNvPr id="231" name="Google Shape;231;p22"/>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400"/>
              <a:t>2- convert from NFA to DFA using subset construction method.</a:t>
            </a:r>
            <a:endParaRPr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p:txBody>
      </p:sp>
      <p:pic>
        <p:nvPicPr>
          <p:cNvPr id="232" name="Google Shape;232;p22"/>
          <p:cNvPicPr preferRelativeResize="0"/>
          <p:nvPr/>
        </p:nvPicPr>
        <p:blipFill rotWithShape="1">
          <a:blip r:embed="rId3">
            <a:alphaModFix/>
          </a:blip>
          <a:srcRect b="0" l="0" r="0" t="0"/>
          <a:stretch/>
        </p:blipFill>
        <p:spPr>
          <a:xfrm>
            <a:off x="3685322" y="1736251"/>
            <a:ext cx="4949788" cy="3228122"/>
          </a:xfrm>
          <a:prstGeom prst="rect">
            <a:avLst/>
          </a:prstGeom>
          <a:noFill/>
          <a:ln>
            <a:noFill/>
          </a:ln>
        </p:spPr>
      </p:pic>
      <p:graphicFrame>
        <p:nvGraphicFramePr>
          <p:cNvPr id="233" name="Google Shape;233;p22"/>
          <p:cNvGraphicFramePr/>
          <p:nvPr/>
        </p:nvGraphicFramePr>
        <p:xfrm>
          <a:off x="542911" y="2251665"/>
          <a:ext cx="3000000" cy="3000000"/>
        </p:xfrm>
        <a:graphic>
          <a:graphicData uri="http://schemas.openxmlformats.org/drawingml/2006/table">
            <a:tbl>
              <a:tblPr>
                <a:noFill/>
                <a:tableStyleId>{F5B74D66-4877-4BB9-A7D5-F372992069FC}</a:tableStyleId>
              </a:tblPr>
              <a:tblGrid>
                <a:gridCol w="915850"/>
                <a:gridCol w="915850"/>
                <a:gridCol w="915850"/>
              </a:tblGrid>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DFA</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δ(q,a) </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2100" u="none" cap="none" strike="noStrike">
                          <a:solidFill>
                            <a:schemeClr val="dk2"/>
                          </a:solidFill>
                          <a:latin typeface="Arial"/>
                          <a:ea typeface="Arial"/>
                          <a:cs typeface="Arial"/>
                          <a:sym typeface="Arial"/>
                        </a:rPr>
                        <a:t>δ(q,b) </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rPr>
                        <a:t>→</a:t>
                      </a:r>
                      <a:r>
                        <a:rPr lang="en-US" sz="2100" u="none" cap="none" strike="noStrike">
                          <a:solidFill>
                            <a:schemeClr val="dk2"/>
                          </a:solidFill>
                          <a:latin typeface="Arial"/>
                          <a:ea typeface="Arial"/>
                          <a:cs typeface="Arial"/>
                          <a:sym typeface="Arial"/>
                        </a:rPr>
                        <a:t>d0</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d3</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d4</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d3*</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d3</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d4</a:t>
                      </a:r>
                      <a:endParaRPr sz="2100" u="none" cap="none" strike="noStrike">
                        <a:solidFill>
                          <a:schemeClr val="dk2"/>
                        </a:solidFill>
                      </a:endParaRPr>
                    </a:p>
                  </a:txBody>
                  <a:tcPr marT="34300" marB="34300" marR="68600" marL="68600"/>
                </a:tc>
              </a:tr>
              <a:tr h="388625">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d4*</a:t>
                      </a:r>
                      <a:endParaRPr sz="2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d1</a:t>
                      </a:r>
                      <a:endParaRPr sz="21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800"/>
                        <a:buFont typeface="Arial"/>
                        <a:buNone/>
                      </a:pPr>
                      <a:r>
                        <a:rPr lang="en-US" sz="2100" u="none" cap="none" strike="noStrike">
                          <a:solidFill>
                            <a:schemeClr val="dk2"/>
                          </a:solidFill>
                          <a:latin typeface="Arial"/>
                          <a:ea typeface="Arial"/>
                          <a:cs typeface="Arial"/>
                          <a:sym typeface="Arial"/>
                        </a:rPr>
                        <a:t>d2</a:t>
                      </a:r>
                      <a:endParaRPr sz="2100" u="none" cap="none" strike="noStrike">
                        <a:solidFill>
                          <a:schemeClr val="dk2"/>
                        </a:solidFill>
                      </a:endParaRPr>
                    </a:p>
                  </a:txBody>
                  <a:tcPr marT="34300" marB="34300" marR="68600" marL="68600"/>
                </a:tc>
              </a:tr>
            </a:tbl>
          </a:graphicData>
        </a:graphic>
      </p:graphicFrame>
      <p:cxnSp>
        <p:nvCxnSpPr>
          <p:cNvPr id="234" name="Google Shape;234;p22"/>
          <p:cNvCxnSpPr/>
          <p:nvPr/>
        </p:nvCxnSpPr>
        <p:spPr>
          <a:xfrm>
            <a:off x="3434315" y="4710223"/>
            <a:ext cx="329609" cy="0"/>
          </a:xfrm>
          <a:prstGeom prst="straightConnector1">
            <a:avLst/>
          </a:prstGeom>
          <a:noFill/>
          <a:ln cap="flat" cmpd="sng" w="9525">
            <a:solidFill>
              <a:srgbClr val="425761"/>
            </a:solidFill>
            <a:prstDash val="solid"/>
            <a:round/>
            <a:headEnd len="sm" w="sm"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3"/>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2</a:t>
            </a:r>
            <a:r>
              <a:rPr lang="en-US" cap="none"/>
              <a:t> cont.</a:t>
            </a:r>
            <a:endParaRPr/>
          </a:p>
        </p:txBody>
      </p:sp>
      <p:sp>
        <p:nvSpPr>
          <p:cNvPr id="241" name="Google Shape;241;p23"/>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400"/>
              <a:t>3- convert from DFA to Minimized DFA.</a:t>
            </a:r>
            <a:endParaRPr b="1" i="1"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p:txBody>
      </p:sp>
      <p:sp>
        <p:nvSpPr>
          <p:cNvPr id="242" name="Google Shape;242;p23"/>
          <p:cNvSpPr txBox="1"/>
          <p:nvPr/>
        </p:nvSpPr>
        <p:spPr>
          <a:xfrm>
            <a:off x="624386" y="1831961"/>
            <a:ext cx="4759657" cy="900216"/>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0-Equivalence: {d0, d2} {d1, d3, d4}</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1-Equivalence: {d0, d2} {d1, d3} {d4}</a:t>
            </a:r>
            <a:br>
              <a:rPr b="0" i="0" lang="en-US" sz="1800" u="none" cap="none" strike="noStrike">
                <a:solidFill>
                  <a:srgbClr val="2C2C2C"/>
                </a:solidFill>
                <a:latin typeface="Arial"/>
                <a:ea typeface="Arial"/>
                <a:cs typeface="Arial"/>
                <a:sym typeface="Arial"/>
              </a:rPr>
            </a:br>
            <a:r>
              <a:rPr b="0" i="0" lang="en-US" sz="1800" u="none" cap="none" strike="noStrike">
                <a:solidFill>
                  <a:srgbClr val="2C2C2C"/>
                </a:solidFill>
                <a:latin typeface="Arial"/>
                <a:ea typeface="Arial"/>
                <a:cs typeface="Arial"/>
                <a:sym typeface="Arial"/>
              </a:rPr>
              <a:t>2-Equivalence: {d0, d2} {d1, d3} {d4}</a:t>
            </a:r>
            <a:endParaRPr b="0" i="0" sz="1800" u="none" cap="none" strike="noStrike">
              <a:solidFill>
                <a:srgbClr val="000000"/>
              </a:solidFill>
              <a:latin typeface="Arial"/>
              <a:ea typeface="Arial"/>
              <a:cs typeface="Arial"/>
              <a:sym typeface="Arial"/>
            </a:endParaRPr>
          </a:p>
        </p:txBody>
      </p:sp>
      <p:graphicFrame>
        <p:nvGraphicFramePr>
          <p:cNvPr id="243" name="Google Shape;243;p23"/>
          <p:cNvGraphicFramePr/>
          <p:nvPr/>
        </p:nvGraphicFramePr>
        <p:xfrm>
          <a:off x="3843670" y="2988860"/>
          <a:ext cx="3000000" cy="3000000"/>
        </p:xfrm>
        <a:graphic>
          <a:graphicData uri="http://schemas.openxmlformats.org/drawingml/2006/table">
            <a:tbl>
              <a:tblPr>
                <a:noFill/>
                <a:tableStyleId>{F5B74D66-4877-4BB9-A7D5-F372992069FC}</a:tableStyleId>
              </a:tblPr>
              <a:tblGrid>
                <a:gridCol w="1255250"/>
                <a:gridCol w="1255250"/>
                <a:gridCol w="1255250"/>
                <a:gridCol w="1255250"/>
              </a:tblGrid>
              <a:tr h="617225">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Minimized DFA</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DFA</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δ(q,a) </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δ(q,b) </a:t>
                      </a:r>
                      <a:endParaRPr sz="1800" u="none" cap="none" strike="noStrike">
                        <a:solidFill>
                          <a:schemeClr val="dk2"/>
                        </a:solidFill>
                      </a:endParaRPr>
                    </a:p>
                  </a:txBody>
                  <a:tcPr marT="34300" marB="34300" marR="68600" marL="68600"/>
                </a:tc>
              </a:tr>
              <a:tr h="549675">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→d0</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→d0, d2</a:t>
                      </a:r>
                      <a:endParaRPr sz="18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d0</a:t>
                      </a:r>
                      <a:endParaRPr sz="1800" u="none" cap="none" strike="noStrike">
                        <a:solidFill>
                          <a:schemeClr val="dk2"/>
                        </a:solidFill>
                      </a:endParaRPr>
                    </a:p>
                  </a:txBody>
                  <a:tcPr marT="34300" marB="34300" marR="68600" marL="68600"/>
                </a:tc>
              </a:tr>
              <a:tr h="549675">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 d3*</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r>
              <a:tr h="342900">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D4*</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d0</a:t>
                      </a:r>
                      <a:endParaRPr sz="1800" u="none" cap="none" strike="noStrike">
                        <a:solidFill>
                          <a:schemeClr val="dk2"/>
                        </a:solidFill>
                      </a:endParaRPr>
                    </a:p>
                  </a:txBody>
                  <a:tcPr marT="34300" marB="34300" marR="68600" marL="68600"/>
                </a:tc>
              </a:tr>
            </a:tbl>
          </a:graphicData>
        </a:graphic>
      </p:graphicFrame>
      <p:graphicFrame>
        <p:nvGraphicFramePr>
          <p:cNvPr id="244" name="Google Shape;244;p23"/>
          <p:cNvGraphicFramePr/>
          <p:nvPr/>
        </p:nvGraphicFramePr>
        <p:xfrm>
          <a:off x="624386" y="2937902"/>
          <a:ext cx="3000000" cy="3000000"/>
        </p:xfrm>
        <a:graphic>
          <a:graphicData uri="http://schemas.openxmlformats.org/drawingml/2006/table">
            <a:tbl>
              <a:tblPr>
                <a:noFill/>
                <a:tableStyleId>{F5B74D66-4877-4BB9-A7D5-F372992069FC}</a:tableStyleId>
              </a:tblPr>
              <a:tblGrid>
                <a:gridCol w="954850"/>
                <a:gridCol w="954850"/>
                <a:gridCol w="954850"/>
              </a:tblGrid>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DFA</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δ(q,a) </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δ(q,b) </a:t>
                      </a:r>
                      <a:endParaRPr sz="1800" u="none" cap="none" strike="noStrike">
                        <a:solidFill>
                          <a:schemeClr val="dk2"/>
                        </a:solidFill>
                      </a:endParaRPr>
                    </a:p>
                  </a:txBody>
                  <a:tcPr marT="34300" marB="34300" marR="68600" marL="68600"/>
                </a:tc>
              </a:tr>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rPr>
                        <a:t>→</a:t>
                      </a:r>
                      <a:r>
                        <a:rPr lang="en-US" sz="1800" u="none" cap="none" strike="noStrike">
                          <a:solidFill>
                            <a:schemeClr val="dk2"/>
                          </a:solidFill>
                          <a:latin typeface="Arial"/>
                          <a:ea typeface="Arial"/>
                          <a:cs typeface="Arial"/>
                          <a:sym typeface="Arial"/>
                        </a:rPr>
                        <a:t>d0</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r>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d3</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d4</a:t>
                      </a:r>
                      <a:endParaRPr sz="1800" u="none" cap="none" strike="noStrike">
                        <a:solidFill>
                          <a:schemeClr val="dk2"/>
                        </a:solidFill>
                      </a:endParaRPr>
                    </a:p>
                  </a:txBody>
                  <a:tcPr marT="34300" marB="34300" marR="68600" marL="68600"/>
                </a:tc>
              </a:tr>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r>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d3*</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d3</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d4</a:t>
                      </a:r>
                      <a:endParaRPr sz="1800" u="none" cap="none" strike="noStrike">
                        <a:solidFill>
                          <a:schemeClr val="dk2"/>
                        </a:solidFill>
                      </a:endParaRPr>
                    </a:p>
                  </a:txBody>
                  <a:tcPr marT="34300" marB="34300" marR="68600" marL="68600"/>
                </a:tc>
              </a:tr>
              <a:tr h="342900">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d4*</a:t>
                      </a:r>
                      <a:endParaRPr sz="18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d1</a:t>
                      </a:r>
                      <a:endParaRPr sz="18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2400"/>
                        <a:buFont typeface="Arial"/>
                        <a:buNone/>
                      </a:pPr>
                      <a:r>
                        <a:rPr lang="en-US" sz="1800" u="none" cap="none" strike="noStrike">
                          <a:solidFill>
                            <a:schemeClr val="dk2"/>
                          </a:solidFill>
                          <a:latin typeface="Arial"/>
                          <a:ea typeface="Arial"/>
                          <a:cs typeface="Arial"/>
                          <a:sym typeface="Arial"/>
                        </a:rPr>
                        <a:t>d2</a:t>
                      </a:r>
                      <a:endParaRPr sz="1800" u="none" cap="none" strike="noStrike">
                        <a:solidFill>
                          <a:schemeClr val="dk2"/>
                        </a:solidFill>
                      </a:endParaRPr>
                    </a:p>
                  </a:txBody>
                  <a:tcPr marT="34300" marB="34300" marR="68600" marL="6860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4"/>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2</a:t>
            </a:r>
            <a:r>
              <a:rPr lang="en-US" cap="none"/>
              <a:t> cont.</a:t>
            </a:r>
            <a:endParaRPr/>
          </a:p>
        </p:txBody>
      </p:sp>
      <p:sp>
        <p:nvSpPr>
          <p:cNvPr id="251" name="Google Shape;251;p24"/>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2400"/>
              <a:t>3- convert from DFA to Minimized DFA.</a:t>
            </a:r>
            <a:endParaRPr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a:p>
            <a:pPr indent="0" lvl="0" marL="0" rtl="0" algn="l">
              <a:lnSpc>
                <a:spcPct val="115000"/>
              </a:lnSpc>
              <a:spcBef>
                <a:spcPts val="1050"/>
              </a:spcBef>
              <a:spcAft>
                <a:spcPts val="0"/>
              </a:spcAft>
              <a:buSzPts val="2300"/>
              <a:buNone/>
            </a:pPr>
            <a:r>
              <a:t/>
            </a:r>
            <a:endParaRPr b="1" i="1" sz="2400"/>
          </a:p>
        </p:txBody>
      </p:sp>
      <p:pic>
        <p:nvPicPr>
          <p:cNvPr id="252" name="Google Shape;252;p24"/>
          <p:cNvPicPr preferRelativeResize="0"/>
          <p:nvPr/>
        </p:nvPicPr>
        <p:blipFill rotWithShape="1">
          <a:blip r:embed="rId3">
            <a:alphaModFix/>
          </a:blip>
          <a:srcRect b="0" l="0" r="0" t="0"/>
          <a:stretch/>
        </p:blipFill>
        <p:spPr>
          <a:xfrm>
            <a:off x="3939363" y="2902300"/>
            <a:ext cx="5017457" cy="2101664"/>
          </a:xfrm>
          <a:prstGeom prst="rect">
            <a:avLst/>
          </a:prstGeom>
          <a:noFill/>
          <a:ln>
            <a:noFill/>
          </a:ln>
        </p:spPr>
      </p:pic>
      <p:sp>
        <p:nvSpPr>
          <p:cNvPr id="253" name="Google Shape;253;p24"/>
          <p:cNvSpPr txBox="1"/>
          <p:nvPr/>
        </p:nvSpPr>
        <p:spPr>
          <a:xfrm>
            <a:off x="624386" y="2002085"/>
            <a:ext cx="4759657" cy="900216"/>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0-Equivalence: {d0, d2} {d1, d3, d4}</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2C2C2C"/>
                </a:solidFill>
                <a:latin typeface="Arial"/>
                <a:ea typeface="Arial"/>
                <a:cs typeface="Arial"/>
                <a:sym typeface="Arial"/>
              </a:rPr>
              <a:t>1-Equivalence: {d0, d2} {d1, d3} {d4}</a:t>
            </a:r>
            <a:br>
              <a:rPr b="0" i="0" lang="en-US" sz="1800" u="none" cap="none" strike="noStrike">
                <a:solidFill>
                  <a:srgbClr val="2C2C2C"/>
                </a:solidFill>
                <a:latin typeface="Arial"/>
                <a:ea typeface="Arial"/>
                <a:cs typeface="Arial"/>
                <a:sym typeface="Arial"/>
              </a:rPr>
            </a:br>
            <a:r>
              <a:rPr b="0" i="0" lang="en-US" sz="1800" u="none" cap="none" strike="noStrike">
                <a:solidFill>
                  <a:srgbClr val="2C2C2C"/>
                </a:solidFill>
                <a:latin typeface="Arial"/>
                <a:ea typeface="Arial"/>
                <a:cs typeface="Arial"/>
                <a:sym typeface="Arial"/>
              </a:rPr>
              <a:t>2-Equivalence: {d0, d2} {d1, d3} {d4}</a:t>
            </a:r>
            <a:endParaRPr b="0" i="0" sz="1800" u="none" cap="none" strike="noStrike">
              <a:solidFill>
                <a:srgbClr val="000000"/>
              </a:solidFill>
              <a:latin typeface="Arial"/>
              <a:ea typeface="Arial"/>
              <a:cs typeface="Arial"/>
              <a:sym typeface="Arial"/>
            </a:endParaRPr>
          </a:p>
        </p:txBody>
      </p:sp>
      <p:graphicFrame>
        <p:nvGraphicFramePr>
          <p:cNvPr id="254" name="Google Shape;254;p24"/>
          <p:cNvGraphicFramePr/>
          <p:nvPr/>
        </p:nvGraphicFramePr>
        <p:xfrm>
          <a:off x="863919" y="2956422"/>
          <a:ext cx="3000000" cy="3000000"/>
        </p:xfrm>
        <a:graphic>
          <a:graphicData uri="http://schemas.openxmlformats.org/drawingml/2006/table">
            <a:tbl>
              <a:tblPr>
                <a:noFill/>
                <a:tableStyleId>{F5B74D66-4877-4BB9-A7D5-F372992069FC}</a:tableStyleId>
              </a:tblPr>
              <a:tblGrid>
                <a:gridCol w="918150"/>
                <a:gridCol w="918150"/>
                <a:gridCol w="918150"/>
              </a:tblGrid>
              <a:tr h="549675">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DFA</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800" u="none" cap="none" strike="noStrike">
                          <a:solidFill>
                            <a:schemeClr val="dk2"/>
                          </a:solidFill>
                          <a:latin typeface="Arial"/>
                          <a:ea typeface="Arial"/>
                          <a:cs typeface="Arial"/>
                          <a:sym typeface="Arial"/>
                        </a:rPr>
                        <a:t>δ(q,a) </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800" u="none" cap="none" strike="noStrike">
                          <a:solidFill>
                            <a:schemeClr val="dk2"/>
                          </a:solidFill>
                          <a:latin typeface="Arial"/>
                          <a:ea typeface="Arial"/>
                          <a:cs typeface="Arial"/>
                          <a:sym typeface="Arial"/>
                        </a:rPr>
                        <a:t>δ(q,b) </a:t>
                      </a:r>
                      <a:endParaRPr sz="1600" u="none" cap="none" strike="noStrike">
                        <a:solidFill>
                          <a:schemeClr val="dk2"/>
                        </a:solidFill>
                      </a:endParaRPr>
                    </a:p>
                  </a:txBody>
                  <a:tcPr marT="34300" marB="34300" marR="68600" marL="68600"/>
                </a:tc>
              </a:tr>
              <a:tr h="549675">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r>
              <a:tr h="549675">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2000" u="none" cap="none" strike="noStrike">
                          <a:solidFill>
                            <a:schemeClr val="dk2"/>
                          </a:solidFill>
                          <a:latin typeface="Arial"/>
                          <a:ea typeface="Arial"/>
                          <a:cs typeface="Arial"/>
                          <a:sym typeface="Arial"/>
                        </a:rPr>
                        <a:t>d2</a:t>
                      </a:r>
                      <a:endParaRPr sz="1600" u="none" cap="none" strike="noStrike">
                        <a:solidFill>
                          <a:schemeClr val="dk2"/>
                        </a:solidFill>
                      </a:endParaRPr>
                    </a:p>
                  </a:txBody>
                  <a:tcPr marT="34300" marB="34300" marR="68600" marL="68600"/>
                </a:tc>
              </a:tr>
              <a:tr h="318475">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d2*</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d1</a:t>
                      </a:r>
                      <a:endParaRPr sz="16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2000" u="none" cap="none" strike="noStrike">
                          <a:solidFill>
                            <a:schemeClr val="dk2"/>
                          </a:solidFill>
                          <a:latin typeface="Arial"/>
                          <a:ea typeface="Arial"/>
                          <a:cs typeface="Arial"/>
                          <a:sym typeface="Arial"/>
                        </a:rPr>
                        <a:t>d0</a:t>
                      </a:r>
                      <a:endParaRPr sz="1600" u="none" cap="none" strike="noStrike">
                        <a:solidFill>
                          <a:schemeClr val="dk2"/>
                        </a:solidFill>
                      </a:endParaRPr>
                    </a:p>
                  </a:txBody>
                  <a:tcPr marT="34300" marB="34300" marR="68600" marL="68600"/>
                </a:tc>
              </a:tr>
            </a:tbl>
          </a:graphicData>
        </a:graphic>
      </p:graphicFrame>
      <p:cxnSp>
        <p:nvCxnSpPr>
          <p:cNvPr id="255" name="Google Shape;255;p24"/>
          <p:cNvCxnSpPr/>
          <p:nvPr/>
        </p:nvCxnSpPr>
        <p:spPr>
          <a:xfrm>
            <a:off x="3785191" y="4136065"/>
            <a:ext cx="287079" cy="0"/>
          </a:xfrm>
          <a:prstGeom prst="straightConnector1">
            <a:avLst/>
          </a:prstGeom>
          <a:noFill/>
          <a:ln cap="flat" cmpd="sng" w="9525">
            <a:solidFill>
              <a:srgbClr val="425761"/>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5"/>
          <p:cNvSpPr txBox="1"/>
          <p:nvPr>
            <p:ph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dk1"/>
              </a:buClr>
              <a:buSzPts val="11000"/>
              <a:buNone/>
            </a:pPr>
            <a:r>
              <a:rPr lang="en-US" sz="8000">
                <a:solidFill>
                  <a:schemeClr val="accent3"/>
                </a:solidFill>
              </a:rPr>
              <a:t>Questions?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265500" y="1375599"/>
            <a:ext cx="4045200" cy="1551900"/>
          </a:xfrm>
          <a:prstGeom prst="rect">
            <a:avLst/>
          </a:prstGeom>
          <a:noFill/>
          <a:ln>
            <a:noFill/>
          </a:ln>
        </p:spPr>
        <p:txBody>
          <a:bodyPr anchorCtr="0" anchor="ctr" bIns="34275" lIns="68550" spcFirstLastPara="1" rIns="68550" wrap="square" tIns="34275">
            <a:normAutofit/>
          </a:bodyPr>
          <a:lstStyle/>
          <a:p>
            <a:pPr indent="0" lvl="0" marL="0" rtl="0" algn="ctr">
              <a:lnSpc>
                <a:spcPct val="80000"/>
              </a:lnSpc>
              <a:spcBef>
                <a:spcPts val="0"/>
              </a:spcBef>
              <a:spcAft>
                <a:spcPts val="0"/>
              </a:spcAft>
              <a:buClr>
                <a:schemeClr val="lt2"/>
              </a:buClr>
              <a:buSzPts val="6000"/>
              <a:buNone/>
            </a:pPr>
            <a:r>
              <a:rPr lang="en-US">
                <a:latin typeface="Alfa Slab One"/>
                <a:ea typeface="Alfa Slab One"/>
                <a:cs typeface="Alfa Slab One"/>
                <a:sym typeface="Alfa Slab One"/>
              </a:rPr>
              <a:t>Additional Example</a:t>
            </a:r>
            <a:br>
              <a:rPr lang="en-US">
                <a:latin typeface="Alfa Slab One"/>
                <a:ea typeface="Alfa Slab One"/>
                <a:cs typeface="Alfa Slab One"/>
                <a:sym typeface="Alfa Slab One"/>
              </a:rPr>
            </a:br>
            <a:r>
              <a:rPr lang="en-US">
                <a:latin typeface="Alfa Slab One"/>
                <a:ea typeface="Alfa Slab One"/>
                <a:cs typeface="Alfa Slab One"/>
                <a:sym typeface="Alfa Slab One"/>
              </a:rPr>
              <a:t>(Self Study)</a:t>
            </a:r>
            <a:endParaRPr>
              <a:latin typeface="Alfa Slab One"/>
              <a:ea typeface="Alfa Slab One"/>
              <a:cs typeface="Alfa Slab One"/>
              <a:sym typeface="Alfa Slab On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3</a:t>
            </a:r>
            <a:endParaRPr b="1"/>
          </a:p>
        </p:txBody>
      </p:sp>
      <p:sp>
        <p:nvSpPr>
          <p:cNvPr id="271" name="Google Shape;271;p27"/>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400"/>
              <a:buNone/>
            </a:pPr>
            <a:r>
              <a:rPr b="1" lang="en-US" sz="2100">
                <a:solidFill>
                  <a:schemeClr val="dk2"/>
                </a:solidFill>
              </a:rPr>
              <a:t>Convert the following regular expression to an NFA then to DFA.</a:t>
            </a:r>
            <a:endParaRPr sz="2100">
              <a:solidFill>
                <a:schemeClr val="dk2"/>
              </a:solidFill>
            </a:endParaRPr>
          </a:p>
          <a:p>
            <a:pPr indent="0" lvl="0" marL="0" rtl="0" algn="ctr">
              <a:lnSpc>
                <a:spcPct val="115000"/>
              </a:lnSpc>
              <a:spcBef>
                <a:spcPts val="1050"/>
              </a:spcBef>
              <a:spcAft>
                <a:spcPts val="0"/>
              </a:spcAft>
              <a:buSzPts val="2300"/>
              <a:buNone/>
            </a:pPr>
            <a:r>
              <a:rPr b="1" i="1" lang="en-US" sz="2100">
                <a:solidFill>
                  <a:srgbClr val="606060"/>
                </a:solidFill>
              </a:rPr>
              <a:t>RE= </a:t>
            </a:r>
            <a:r>
              <a:rPr b="1" i="1" lang="en-US" sz="2100">
                <a:solidFill>
                  <a:srgbClr val="FF0000"/>
                </a:solidFill>
              </a:rPr>
              <a:t>(ba)+ (a* b* | a*)</a:t>
            </a:r>
            <a:endParaRPr sz="2100"/>
          </a:p>
          <a:p>
            <a:pPr indent="0" lvl="0" marL="0" rtl="0" algn="l">
              <a:lnSpc>
                <a:spcPct val="115000"/>
              </a:lnSpc>
              <a:spcBef>
                <a:spcPts val="1050"/>
              </a:spcBef>
              <a:spcAft>
                <a:spcPts val="0"/>
              </a:spcAft>
              <a:buSzPts val="2300"/>
              <a:buNone/>
            </a:pPr>
            <a:r>
              <a:t/>
            </a:r>
            <a:endParaRPr b="1" i="1" sz="2100"/>
          </a:p>
        </p:txBody>
      </p:sp>
      <p:pic>
        <p:nvPicPr>
          <p:cNvPr id="272" name="Google Shape;272;p27"/>
          <p:cNvPicPr preferRelativeResize="0"/>
          <p:nvPr/>
        </p:nvPicPr>
        <p:blipFill rotWithShape="1">
          <a:blip r:embed="rId3">
            <a:alphaModFix/>
          </a:blip>
          <a:srcRect b="0" l="0" r="0" t="0"/>
          <a:stretch/>
        </p:blipFill>
        <p:spPr>
          <a:xfrm>
            <a:off x="85303" y="2273259"/>
            <a:ext cx="8973380" cy="278323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3</a:t>
            </a:r>
            <a:endParaRPr b="1"/>
          </a:p>
        </p:txBody>
      </p:sp>
      <p:sp>
        <p:nvSpPr>
          <p:cNvPr id="278" name="Google Shape;278;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Solution:</a:t>
            </a:r>
            <a:endParaRPr/>
          </a:p>
        </p:txBody>
      </p:sp>
      <p:pic>
        <p:nvPicPr>
          <p:cNvPr id="279" name="Google Shape;279;p28"/>
          <p:cNvPicPr preferRelativeResize="0"/>
          <p:nvPr/>
        </p:nvPicPr>
        <p:blipFill rotWithShape="1">
          <a:blip r:embed="rId3">
            <a:alphaModFix/>
          </a:blip>
          <a:srcRect b="0" l="0" r="0" t="0"/>
          <a:stretch/>
        </p:blipFill>
        <p:spPr>
          <a:xfrm>
            <a:off x="2923953" y="398095"/>
            <a:ext cx="6037289" cy="2272622"/>
          </a:xfrm>
          <a:prstGeom prst="rect">
            <a:avLst/>
          </a:prstGeom>
          <a:noFill/>
          <a:ln>
            <a:noFill/>
          </a:ln>
        </p:spPr>
      </p:pic>
      <p:graphicFrame>
        <p:nvGraphicFramePr>
          <p:cNvPr id="280" name="Google Shape;280;p28"/>
          <p:cNvGraphicFramePr/>
          <p:nvPr/>
        </p:nvGraphicFramePr>
        <p:xfrm>
          <a:off x="21266" y="2670717"/>
          <a:ext cx="3000000" cy="3000000"/>
        </p:xfrm>
        <a:graphic>
          <a:graphicData uri="http://schemas.openxmlformats.org/drawingml/2006/table">
            <a:tbl>
              <a:tblPr>
                <a:noFill/>
                <a:tableStyleId>{F5B74D66-4877-4BB9-A7D5-F372992069FC}</a:tableStyleId>
              </a:tblPr>
              <a:tblGrid>
                <a:gridCol w="648525"/>
                <a:gridCol w="2894675"/>
                <a:gridCol w="3258475"/>
                <a:gridCol w="2267225"/>
              </a:tblGrid>
              <a:tr h="228600">
                <a:tc>
                  <a:txBody>
                    <a:bodyPr/>
                    <a:lstStyle/>
                    <a:p>
                      <a:pPr indent="0" lvl="0" marL="0" marR="0" rtl="0" algn="ctr">
                        <a:lnSpc>
                          <a:spcPct val="100000"/>
                        </a:lnSpc>
                        <a:spcBef>
                          <a:spcPts val="0"/>
                        </a:spcBef>
                        <a:spcAft>
                          <a:spcPts val="0"/>
                        </a:spcAft>
                        <a:buClr>
                          <a:srgbClr val="000000"/>
                        </a:buClr>
                        <a:buSzPts val="1700"/>
                        <a:buFont typeface="Arial"/>
                        <a:buNone/>
                      </a:pPr>
                      <a:r>
                        <a:rPr lang="en-US" sz="1300" u="none" cap="none" strike="noStrike">
                          <a:solidFill>
                            <a:schemeClr val="dk2"/>
                          </a:solidFill>
                          <a:latin typeface="Arial"/>
                          <a:ea typeface="Arial"/>
                          <a:cs typeface="Arial"/>
                          <a:sym typeface="Arial"/>
                        </a:rPr>
                        <a:t>DFA</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300" u="none" cap="none" strike="noStrike">
                          <a:solidFill>
                            <a:schemeClr val="dk2"/>
                          </a:solidFill>
                          <a:latin typeface="Arial"/>
                          <a:ea typeface="Arial"/>
                          <a:cs typeface="Arial"/>
                          <a:sym typeface="Arial"/>
                        </a:rPr>
                        <a:t>NFA</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300" u="none" cap="none" strike="noStrike">
                          <a:solidFill>
                            <a:schemeClr val="dk2"/>
                          </a:solidFill>
                          <a:latin typeface="Arial"/>
                          <a:ea typeface="Arial"/>
                          <a:cs typeface="Arial"/>
                          <a:sym typeface="Arial"/>
                        </a:rPr>
                        <a:t>δ(q,a) </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300" u="none" cap="none" strike="noStrike">
                          <a:solidFill>
                            <a:schemeClr val="dk2"/>
                          </a:solidFill>
                          <a:latin typeface="Arial"/>
                          <a:ea typeface="Arial"/>
                          <a:cs typeface="Arial"/>
                          <a:sym typeface="Arial"/>
                        </a:rPr>
                        <a:t>δ(q,b)</a:t>
                      </a:r>
                      <a:endParaRPr sz="1100" u="none" cap="none" strike="noStrike">
                        <a:solidFill>
                          <a:schemeClr val="dk2"/>
                        </a:solidFill>
                      </a:endParaRPr>
                    </a:p>
                  </a:txBody>
                  <a:tcPr marT="34300" marB="34300" marR="68600" marL="68600"/>
                </a:tc>
              </a:tr>
              <a:tr h="241675">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rPr>
                        <a:t>→</a:t>
                      </a:r>
                      <a:r>
                        <a:rPr lang="en-US" sz="1400" u="none" cap="none" strike="noStrike">
                          <a:solidFill>
                            <a:schemeClr val="dk2"/>
                          </a:solidFill>
                          <a:latin typeface="Arial"/>
                          <a:ea typeface="Arial"/>
                          <a:cs typeface="Arial"/>
                          <a:sym typeface="Arial"/>
                        </a:rPr>
                        <a:t>d0</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rPr>
                        <a:t>→</a:t>
                      </a:r>
                      <a:r>
                        <a:rPr lang="en-US" sz="1400" u="none" cap="none" strike="noStrike">
                          <a:solidFill>
                            <a:schemeClr val="dk2"/>
                          </a:solidFill>
                          <a:latin typeface="Arial"/>
                          <a:ea typeface="Arial"/>
                          <a:cs typeface="Arial"/>
                          <a:sym typeface="Arial"/>
                        </a:rPr>
                        <a:t>{0, 1}</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 {2,3}</a:t>
                      </a:r>
                      <a:endParaRPr sz="1400" u="none" cap="none" strike="noStrike">
                        <a:solidFill>
                          <a:schemeClr val="dk2"/>
                        </a:solidFill>
                      </a:endParaRPr>
                    </a:p>
                  </a:txBody>
                  <a:tcPr marT="34300" marB="34300" marR="68600" marL="68600"/>
                </a:tc>
              </a:tr>
              <a:tr h="241675">
                <a:tc>
                  <a:txBody>
                    <a:bodyPr/>
                    <a:lstStyle/>
                    <a:p>
                      <a:pPr indent="0" lvl="0" marL="0" marR="0" rtl="0" algn="l">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241675">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d1</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 {2,3}</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{1,4,5,6,7,9,10,11,13,14,15,17,18}*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241675">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{1,4,5,6,7,9,10,11,13,14,15,17,18}*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{7,8,9,10,11,13,15,16,17, 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{2,3,11,12, 13,18}*</a:t>
                      </a:r>
                      <a:endParaRPr sz="1400" u="none" cap="none" strike="noStrike">
                        <a:solidFill>
                          <a:schemeClr val="dk2"/>
                        </a:solidFill>
                      </a:endParaRPr>
                    </a:p>
                  </a:txBody>
                  <a:tcPr marT="34300" marB="34300" marR="68600" marL="68600"/>
                </a:tc>
              </a:tr>
              <a:tr h="241675">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{7,8,9,10,11,13,15,16,17, 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{7,8,9,10,11,13,15,16,17,18}*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{11,12,13,18}*</a:t>
                      </a:r>
                      <a:endParaRPr sz="1400" u="none" cap="none" strike="noStrike">
                        <a:solidFill>
                          <a:schemeClr val="dk2"/>
                        </a:solidFill>
                      </a:endParaRPr>
                    </a:p>
                  </a:txBody>
                  <a:tcPr marT="34300" marB="34300" marR="68600" marL="68600"/>
                </a:tc>
              </a:tr>
              <a:tr h="424550">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d4*</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{2,3,11,12, 13,18}*</a:t>
                      </a:r>
                      <a:endParaRPr sz="1400" u="none" cap="none" strike="noStrike">
                        <a:solidFill>
                          <a:schemeClr val="dk2"/>
                        </a:solidFill>
                      </a:endParaRPr>
                    </a:p>
                    <a:p>
                      <a:pPr indent="0" lvl="0" marL="0" marR="0" rtl="0" algn="l">
                        <a:lnSpc>
                          <a:spcPct val="100000"/>
                        </a:lnSpc>
                        <a:spcBef>
                          <a:spcPts val="0"/>
                        </a:spcBef>
                        <a:spcAft>
                          <a:spcPts val="0"/>
                        </a:spcAft>
                        <a:buClr>
                          <a:schemeClr val="dk1"/>
                        </a:buClr>
                        <a:buSzPts val="1800"/>
                        <a:buFont typeface="Corbel"/>
                        <a:buNone/>
                      </a:pPr>
                      <a:r>
                        <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{1,4,5,6,7,9,10,11,13,14,15,17,18}*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{11,12,13,18}*</a:t>
                      </a:r>
                      <a:endParaRPr sz="1400" u="none" cap="none" strike="noStrike">
                        <a:solidFill>
                          <a:schemeClr val="dk2"/>
                        </a:solidFill>
                      </a:endParaRPr>
                    </a:p>
                  </a:txBody>
                  <a:tcPr marT="34300" marB="34300" marR="68600" marL="68600"/>
                </a:tc>
              </a:tr>
              <a:tr h="241675">
                <a:tc>
                  <a:txBody>
                    <a:bodyPr/>
                    <a:lstStyle/>
                    <a:p>
                      <a:pPr indent="0" lvl="0" marL="0" marR="0" rtl="0" algn="l">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{11,12,13,18}*</a:t>
                      </a:r>
                      <a:endParaRPr sz="1400" u="none" cap="none" strike="noStrike">
                        <a:solidFill>
                          <a:schemeClr val="dk2"/>
                        </a:solidFil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l">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{11,12,13,18}*</a:t>
                      </a:r>
                      <a:endParaRPr sz="1400" u="none" cap="none" strike="noStrike">
                        <a:solidFill>
                          <a:schemeClr val="dk2"/>
                        </a:solidFill>
                      </a:endParaRPr>
                    </a:p>
                  </a:txBody>
                  <a:tcPr marT="34300" marB="34300" marR="68600" marL="6860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9"/>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3</a:t>
            </a:r>
            <a:r>
              <a:rPr lang="en-US" cap="none"/>
              <a:t> cont.</a:t>
            </a:r>
            <a:endParaRPr b="1"/>
          </a:p>
        </p:txBody>
      </p:sp>
      <p:sp>
        <p:nvSpPr>
          <p:cNvPr id="286" name="Google Shape;286;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Solution:</a:t>
            </a:r>
            <a:endParaRPr/>
          </a:p>
        </p:txBody>
      </p:sp>
      <p:graphicFrame>
        <p:nvGraphicFramePr>
          <p:cNvPr id="287" name="Google Shape;287;p29"/>
          <p:cNvGraphicFramePr/>
          <p:nvPr/>
        </p:nvGraphicFramePr>
        <p:xfrm>
          <a:off x="326408" y="1588478"/>
          <a:ext cx="3000000" cy="3000000"/>
        </p:xfrm>
        <a:graphic>
          <a:graphicData uri="http://schemas.openxmlformats.org/drawingml/2006/table">
            <a:tbl>
              <a:tblPr>
                <a:noFill/>
                <a:tableStyleId>{F5B74D66-4877-4BB9-A7D5-F372992069FC}</a:tableStyleId>
              </a:tblPr>
              <a:tblGrid>
                <a:gridCol w="1218450"/>
                <a:gridCol w="1218450"/>
                <a:gridCol w="1218450"/>
              </a:tblGrid>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DFA</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300" u="none" cap="none" strike="noStrike">
                          <a:solidFill>
                            <a:schemeClr val="dk2"/>
                          </a:solidFill>
                          <a:latin typeface="Arial"/>
                          <a:ea typeface="Arial"/>
                          <a:cs typeface="Arial"/>
                          <a:sym typeface="Arial"/>
                        </a:rPr>
                        <a:t>δ(q,a) </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300" u="none" cap="none" strike="noStrike">
                          <a:solidFill>
                            <a:schemeClr val="dk2"/>
                          </a:solidFill>
                          <a:latin typeface="Arial"/>
                          <a:ea typeface="Arial"/>
                          <a:cs typeface="Arial"/>
                          <a:sym typeface="Arial"/>
                        </a:rPr>
                        <a:t>δ(q,b) </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a:t>
                      </a:r>
                      <a:r>
                        <a:rPr lang="en-US" sz="1400" u="none" cap="none" strike="noStrike">
                          <a:solidFill>
                            <a:schemeClr val="dk2"/>
                          </a:solidFill>
                          <a:latin typeface="Arial"/>
                          <a:ea typeface="Arial"/>
                          <a:cs typeface="Arial"/>
                          <a:sym typeface="Arial"/>
                        </a:rPr>
                        <a:t>d0</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d1</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d1</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d4</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d4*</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bl>
          </a:graphicData>
        </a:graphic>
      </p:graphicFrame>
      <p:pic>
        <p:nvPicPr>
          <p:cNvPr id="288" name="Google Shape;288;p29"/>
          <p:cNvPicPr preferRelativeResize="0"/>
          <p:nvPr/>
        </p:nvPicPr>
        <p:blipFill rotWithShape="1">
          <a:blip r:embed="rId3">
            <a:alphaModFix/>
          </a:blip>
          <a:srcRect b="0" l="0" r="0" t="0"/>
          <a:stretch/>
        </p:blipFill>
        <p:spPr>
          <a:xfrm>
            <a:off x="4073179" y="1988628"/>
            <a:ext cx="4988920" cy="2433246"/>
          </a:xfrm>
          <a:prstGeom prst="rect">
            <a:avLst/>
          </a:prstGeom>
          <a:noFill/>
          <a:ln>
            <a:noFill/>
          </a:ln>
        </p:spPr>
      </p:pic>
      <p:cxnSp>
        <p:nvCxnSpPr>
          <p:cNvPr id="289" name="Google Shape;289;p29"/>
          <p:cNvCxnSpPr/>
          <p:nvPr/>
        </p:nvCxnSpPr>
        <p:spPr>
          <a:xfrm>
            <a:off x="4073179" y="3785191"/>
            <a:ext cx="147947" cy="180753"/>
          </a:xfrm>
          <a:prstGeom prst="straightConnector1">
            <a:avLst/>
          </a:prstGeom>
          <a:noFill/>
          <a:ln cap="flat" cmpd="sng" w="9525">
            <a:solidFill>
              <a:srgbClr val="425761"/>
            </a:solidFill>
            <a:prstDash val="solid"/>
            <a:round/>
            <a:headEnd len="sm" w="sm" type="none"/>
            <a:tailEnd len="med" w="med" type="triangl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ph type="title"/>
          </p:nvPr>
        </p:nvSpPr>
        <p:spPr>
          <a:xfrm>
            <a:off x="311700" y="445025"/>
            <a:ext cx="8520600" cy="572700"/>
          </a:xfrm>
          <a:prstGeom prst="rect">
            <a:avLst/>
          </a:prstGeom>
          <a:noFill/>
          <a:ln>
            <a:noFill/>
          </a:ln>
        </p:spPr>
        <p:txBody>
          <a:bodyPr anchorCtr="0" anchor="ctr" bIns="34275" lIns="68550" spcFirstLastPara="1" rIns="68550" wrap="square" tIns="34275">
            <a:normAutofit/>
          </a:bodyPr>
          <a:lstStyle/>
          <a:p>
            <a:pPr indent="0" lvl="0" marL="0" rtl="0" algn="l">
              <a:lnSpc>
                <a:spcPct val="100000"/>
              </a:lnSpc>
              <a:spcBef>
                <a:spcPts val="0"/>
              </a:spcBef>
              <a:spcAft>
                <a:spcPts val="0"/>
              </a:spcAft>
              <a:buSzPts val="4000"/>
              <a:buNone/>
            </a:pPr>
            <a:r>
              <a:rPr b="1" lang="en-US" cap="none"/>
              <a:t>Example 3</a:t>
            </a:r>
            <a:r>
              <a:rPr lang="en-US" cap="none"/>
              <a:t> cont.</a:t>
            </a:r>
            <a:endParaRPr b="1"/>
          </a:p>
        </p:txBody>
      </p:sp>
      <p:sp>
        <p:nvSpPr>
          <p:cNvPr id="296" name="Google Shape;296;p30"/>
          <p:cNvSpPr txBox="1"/>
          <p:nvPr>
            <p:ph idx="1" type="body"/>
          </p:nvPr>
        </p:nvSpPr>
        <p:spPr>
          <a:xfrm>
            <a:off x="311700" y="1152475"/>
            <a:ext cx="8520600" cy="3416400"/>
          </a:xfrm>
          <a:prstGeom prst="rect">
            <a:avLst/>
          </a:prstGeom>
          <a:noFill/>
          <a:ln>
            <a:noFill/>
          </a:ln>
        </p:spPr>
        <p:txBody>
          <a:bodyPr anchorCtr="0" anchor="t" bIns="34275" lIns="68550" spcFirstLastPara="1" rIns="68550" wrap="square" tIns="34275">
            <a:normAutofit/>
          </a:bodyPr>
          <a:lstStyle/>
          <a:p>
            <a:pPr indent="0" lvl="0" marL="0" rtl="0" algn="l">
              <a:lnSpc>
                <a:spcPct val="115000"/>
              </a:lnSpc>
              <a:spcBef>
                <a:spcPts val="0"/>
              </a:spcBef>
              <a:spcAft>
                <a:spcPts val="0"/>
              </a:spcAft>
              <a:buSzPts val="2300"/>
              <a:buNone/>
            </a:pPr>
            <a:r>
              <a:rPr b="1" i="1" lang="en-US" sz="1725"/>
              <a:t>3- convert from DFA to Minimized DFA.</a:t>
            </a:r>
            <a:endParaRPr/>
          </a:p>
          <a:p>
            <a:pPr indent="0" lvl="0" marL="0" rtl="0" algn="l">
              <a:lnSpc>
                <a:spcPct val="115000"/>
              </a:lnSpc>
              <a:spcBef>
                <a:spcPts val="1050"/>
              </a:spcBef>
              <a:spcAft>
                <a:spcPts val="0"/>
              </a:spcAft>
              <a:buSzPts val="2300"/>
              <a:buNone/>
            </a:pPr>
            <a:r>
              <a:t/>
            </a:r>
            <a:endParaRPr b="1" i="1" sz="1725"/>
          </a:p>
          <a:p>
            <a:pPr indent="0" lvl="0" marL="0" rtl="0" algn="l">
              <a:lnSpc>
                <a:spcPct val="115000"/>
              </a:lnSpc>
              <a:spcBef>
                <a:spcPts val="1050"/>
              </a:spcBef>
              <a:spcAft>
                <a:spcPts val="0"/>
              </a:spcAft>
              <a:buSzPts val="2300"/>
              <a:buNone/>
            </a:pPr>
            <a:r>
              <a:t/>
            </a:r>
            <a:endParaRPr b="1" i="1" sz="1725"/>
          </a:p>
          <a:p>
            <a:pPr indent="0" lvl="0" marL="0" rtl="0" algn="l">
              <a:lnSpc>
                <a:spcPct val="115000"/>
              </a:lnSpc>
              <a:spcBef>
                <a:spcPts val="1050"/>
              </a:spcBef>
              <a:spcAft>
                <a:spcPts val="0"/>
              </a:spcAft>
              <a:buSzPts val="2300"/>
              <a:buNone/>
            </a:pPr>
            <a:r>
              <a:t/>
            </a:r>
            <a:endParaRPr b="1" i="1" sz="1725"/>
          </a:p>
        </p:txBody>
      </p:sp>
      <p:sp>
        <p:nvSpPr>
          <p:cNvPr id="297" name="Google Shape;297;p30"/>
          <p:cNvSpPr txBox="1"/>
          <p:nvPr/>
        </p:nvSpPr>
        <p:spPr>
          <a:xfrm>
            <a:off x="4165979" y="1892053"/>
            <a:ext cx="4759657" cy="992549"/>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0" i="0" lang="en-US" sz="1500" u="none" cap="none" strike="noStrike">
                <a:solidFill>
                  <a:srgbClr val="2C2C2C"/>
                </a:solidFill>
                <a:latin typeface="Arial"/>
                <a:ea typeface="Arial"/>
                <a:cs typeface="Arial"/>
                <a:sym typeface="Arial"/>
              </a:rPr>
              <a:t>0-Equivalence: {d0, d1, </a:t>
            </a:r>
            <a:r>
              <a:rPr b="0" i="0" lang="en-US" sz="1500" u="none" cap="none" strike="noStrike">
                <a:solidFill>
                  <a:srgbClr val="2C2C2C"/>
                </a:solidFill>
                <a:latin typeface="Corbel"/>
                <a:ea typeface="Corbel"/>
                <a:cs typeface="Corbel"/>
                <a:sym typeface="Corbel"/>
              </a:rPr>
              <a:t>Φ</a:t>
            </a:r>
            <a:r>
              <a:rPr b="0" i="0" lang="en-US" sz="1500" u="none" cap="none" strike="noStrike">
                <a:solidFill>
                  <a:srgbClr val="2C2C2C"/>
                </a:solidFill>
                <a:latin typeface="Arial"/>
                <a:ea typeface="Arial"/>
                <a:cs typeface="Arial"/>
                <a:sym typeface="Arial"/>
              </a:rPr>
              <a:t>} {d2, d3, d4, d5}</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2C2C2C"/>
                </a:solidFill>
                <a:latin typeface="Arial"/>
                <a:ea typeface="Arial"/>
                <a:cs typeface="Arial"/>
                <a:sym typeface="Arial"/>
              </a:rPr>
              <a:t>1-Equivalence: {d0, </a:t>
            </a:r>
            <a:r>
              <a:rPr b="0" i="0" lang="en-US" sz="1500" u="none" cap="none" strike="noStrike">
                <a:solidFill>
                  <a:srgbClr val="2C2C2C"/>
                </a:solidFill>
                <a:latin typeface="Corbel"/>
                <a:ea typeface="Corbel"/>
                <a:cs typeface="Corbel"/>
                <a:sym typeface="Corbel"/>
              </a:rPr>
              <a:t>Φ</a:t>
            </a:r>
            <a:r>
              <a:rPr b="0" i="0" lang="en-US" sz="1500" u="none" cap="none" strike="noStrike">
                <a:solidFill>
                  <a:srgbClr val="2C2C2C"/>
                </a:solidFill>
                <a:latin typeface="Arial"/>
                <a:ea typeface="Arial"/>
                <a:cs typeface="Arial"/>
                <a:sym typeface="Arial"/>
              </a:rPr>
              <a:t>} {d1} {d2, d3, d4} {d5}</a:t>
            </a:r>
            <a:br>
              <a:rPr b="0" i="0" lang="en-US" sz="1500" u="none" cap="none" strike="noStrike">
                <a:solidFill>
                  <a:srgbClr val="2C2C2C"/>
                </a:solidFill>
                <a:latin typeface="Arial"/>
                <a:ea typeface="Arial"/>
                <a:cs typeface="Arial"/>
                <a:sym typeface="Arial"/>
              </a:rPr>
            </a:br>
            <a:r>
              <a:rPr b="0" i="0" lang="en-US" sz="1500" u="none" cap="none" strike="noStrike">
                <a:solidFill>
                  <a:srgbClr val="2C2C2C"/>
                </a:solidFill>
                <a:latin typeface="Arial"/>
                <a:ea typeface="Arial"/>
                <a:cs typeface="Arial"/>
                <a:sym typeface="Arial"/>
              </a:rPr>
              <a:t>2-Equivalence: {d0} {</a:t>
            </a:r>
            <a:r>
              <a:rPr b="0" i="0" lang="en-US" sz="1500" u="none" cap="none" strike="noStrike">
                <a:solidFill>
                  <a:srgbClr val="2C2C2C"/>
                </a:solidFill>
                <a:latin typeface="Corbel"/>
                <a:ea typeface="Corbel"/>
                <a:cs typeface="Corbel"/>
                <a:sym typeface="Corbel"/>
              </a:rPr>
              <a:t>Φ</a:t>
            </a:r>
            <a:r>
              <a:rPr b="0" i="0" lang="en-US" sz="1500" u="none" cap="none" strike="noStrike">
                <a:solidFill>
                  <a:srgbClr val="2C2C2C"/>
                </a:solidFill>
                <a:latin typeface="Arial"/>
                <a:ea typeface="Arial"/>
                <a:cs typeface="Arial"/>
                <a:sym typeface="Arial"/>
              </a:rPr>
              <a:t>} {d1} {d2} {d3, d4} {d5}</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500" u="none" cap="none" strike="noStrike">
                <a:solidFill>
                  <a:srgbClr val="2C2C2C"/>
                </a:solidFill>
                <a:latin typeface="Arial"/>
                <a:ea typeface="Arial"/>
                <a:cs typeface="Arial"/>
                <a:sym typeface="Arial"/>
              </a:rPr>
              <a:t>3-Equivalence: {d0} {</a:t>
            </a:r>
            <a:r>
              <a:rPr b="0" i="0" lang="en-US" sz="1500" u="none" cap="none" strike="noStrike">
                <a:solidFill>
                  <a:srgbClr val="2C2C2C"/>
                </a:solidFill>
                <a:latin typeface="Corbel"/>
                <a:ea typeface="Corbel"/>
                <a:cs typeface="Corbel"/>
                <a:sym typeface="Corbel"/>
              </a:rPr>
              <a:t>Φ</a:t>
            </a:r>
            <a:r>
              <a:rPr b="0" i="0" lang="en-US" sz="1500" u="none" cap="none" strike="noStrike">
                <a:solidFill>
                  <a:srgbClr val="2C2C2C"/>
                </a:solidFill>
                <a:latin typeface="Arial"/>
                <a:ea typeface="Arial"/>
                <a:cs typeface="Arial"/>
                <a:sym typeface="Arial"/>
              </a:rPr>
              <a:t>} {d1} {d2} {d3} {d4} {d5}</a:t>
            </a:r>
            <a:endParaRPr b="0" i="0" sz="1500" u="none" cap="none" strike="noStrike">
              <a:solidFill>
                <a:srgbClr val="000000"/>
              </a:solidFill>
              <a:latin typeface="Arial"/>
              <a:ea typeface="Arial"/>
              <a:cs typeface="Arial"/>
              <a:sym typeface="Arial"/>
            </a:endParaRPr>
          </a:p>
        </p:txBody>
      </p:sp>
      <p:graphicFrame>
        <p:nvGraphicFramePr>
          <p:cNvPr id="298" name="Google Shape;298;p30"/>
          <p:cNvGraphicFramePr/>
          <p:nvPr/>
        </p:nvGraphicFramePr>
        <p:xfrm>
          <a:off x="310487" y="1803401"/>
          <a:ext cx="3000000" cy="3000000"/>
        </p:xfrm>
        <a:graphic>
          <a:graphicData uri="http://schemas.openxmlformats.org/drawingml/2006/table">
            <a:tbl>
              <a:tblPr>
                <a:noFill/>
                <a:tableStyleId>{F5B74D66-4877-4BB9-A7D5-F372992069FC}</a:tableStyleId>
              </a:tblPr>
              <a:tblGrid>
                <a:gridCol w="1218450"/>
                <a:gridCol w="1218450"/>
                <a:gridCol w="1218450"/>
              </a:tblGrid>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DFA</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700"/>
                        <a:buFont typeface="Arial"/>
                        <a:buNone/>
                      </a:pPr>
                      <a:r>
                        <a:rPr lang="en-US" sz="1300" u="none" cap="none" strike="noStrike">
                          <a:solidFill>
                            <a:schemeClr val="dk2"/>
                          </a:solidFill>
                          <a:latin typeface="Arial"/>
                          <a:ea typeface="Arial"/>
                          <a:cs typeface="Arial"/>
                          <a:sym typeface="Arial"/>
                        </a:rPr>
                        <a:t>δ(q,a) </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700"/>
                        <a:buFont typeface="Arial"/>
                        <a:buNone/>
                      </a:pPr>
                      <a:r>
                        <a:rPr lang="en-US" sz="1300" u="none" cap="none" strike="noStrike">
                          <a:solidFill>
                            <a:schemeClr val="dk2"/>
                          </a:solidFill>
                          <a:latin typeface="Arial"/>
                          <a:ea typeface="Arial"/>
                          <a:cs typeface="Arial"/>
                          <a:sym typeface="Arial"/>
                        </a:rPr>
                        <a:t>δ(q,b) </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a:t>
                      </a:r>
                      <a:r>
                        <a:rPr lang="en-US" sz="1400" u="none" cap="none" strike="noStrike">
                          <a:solidFill>
                            <a:schemeClr val="dk2"/>
                          </a:solidFill>
                          <a:latin typeface="Arial"/>
                          <a:ea typeface="Arial"/>
                          <a:cs typeface="Arial"/>
                          <a:sym typeface="Arial"/>
                        </a:rPr>
                        <a:t>d0</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d1</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Corbe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d1</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d4</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d3</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d4*</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d2</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r h="393600">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c>
                  <a:txBody>
                    <a:bodyPr/>
                    <a:lstStyle/>
                    <a:p>
                      <a:pPr indent="0" lvl="0" marL="0" marR="0" rtl="0" algn="ctr">
                        <a:lnSpc>
                          <a:spcPct val="100000"/>
                        </a:lnSpc>
                        <a:spcBef>
                          <a:spcPts val="0"/>
                        </a:spcBef>
                        <a:spcAft>
                          <a:spcPts val="0"/>
                        </a:spcAft>
                        <a:buClr>
                          <a:srgbClr val="000000"/>
                        </a:buClr>
                        <a:buSzPts val="1800"/>
                        <a:buFont typeface="Arial"/>
                        <a:buNone/>
                      </a:pPr>
                      <a:r>
                        <a:rPr lang="en-US" sz="1400" u="none" cap="none" strike="noStrike">
                          <a:solidFill>
                            <a:schemeClr val="dk2"/>
                          </a:solidFill>
                        </a:rPr>
                        <a:t>Φ</a:t>
                      </a:r>
                      <a:endParaRPr sz="1400" u="none" cap="none" strike="noStrike">
                        <a:solidFill>
                          <a:schemeClr val="dk2"/>
                        </a:solidFill>
                        <a:latin typeface="Arial"/>
                        <a:ea typeface="Arial"/>
                        <a:cs typeface="Arial"/>
                        <a:sym typeface="Arial"/>
                      </a:endParaRPr>
                    </a:p>
                  </a:txBody>
                  <a:tcPr marT="34300" marB="34300" marR="68600" marL="68600"/>
                </a:tc>
                <a:tc>
                  <a:txBody>
                    <a:bodyPr/>
                    <a:lstStyle/>
                    <a:p>
                      <a:pPr indent="0" lvl="0" marL="0" marR="0" rtl="0" algn="ctr">
                        <a:lnSpc>
                          <a:spcPct val="100000"/>
                        </a:lnSpc>
                        <a:spcBef>
                          <a:spcPts val="0"/>
                        </a:spcBef>
                        <a:spcAft>
                          <a:spcPts val="0"/>
                        </a:spcAft>
                        <a:buClr>
                          <a:schemeClr val="dk1"/>
                        </a:buClr>
                        <a:buSzPts val="1800"/>
                        <a:buFont typeface="Arial"/>
                        <a:buNone/>
                      </a:pPr>
                      <a:r>
                        <a:rPr lang="en-US" sz="1400" u="none" cap="none" strike="noStrike">
                          <a:solidFill>
                            <a:schemeClr val="dk2"/>
                          </a:solidFill>
                          <a:latin typeface="Arial"/>
                          <a:ea typeface="Arial"/>
                          <a:cs typeface="Arial"/>
                          <a:sym typeface="Arial"/>
                        </a:rPr>
                        <a:t>d5</a:t>
                      </a:r>
                      <a:endParaRPr sz="1100" u="none" cap="none" strike="noStrike">
                        <a:solidFill>
                          <a:schemeClr val="dk2"/>
                        </a:solidFill>
                      </a:endParaRPr>
                    </a:p>
                  </a:txBody>
                  <a:tcPr marT="34300" marB="34300" marR="68600" marL="68600"/>
                </a:tc>
              </a:tr>
            </a:tbl>
          </a:graphicData>
        </a:graphic>
      </p:graphicFrame>
      <p:sp>
        <p:nvSpPr>
          <p:cNvPr id="299" name="Google Shape;299;p30"/>
          <p:cNvSpPr txBox="1"/>
          <p:nvPr/>
        </p:nvSpPr>
        <p:spPr>
          <a:xfrm>
            <a:off x="4165979" y="3377822"/>
            <a:ext cx="4667535" cy="530884"/>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None/>
            </a:pPr>
            <a:r>
              <a:rPr b="1" i="0" lang="en-US" sz="1500" u="none" cap="none" strike="noStrike">
                <a:solidFill>
                  <a:srgbClr val="FF0000"/>
                </a:solidFill>
                <a:latin typeface="Corbel"/>
                <a:ea typeface="Corbel"/>
                <a:cs typeface="Corbel"/>
                <a:sym typeface="Corbel"/>
              </a:rPr>
              <a:t>There is no two states at least that are combined together in a set, so the DFA will remain the same.</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